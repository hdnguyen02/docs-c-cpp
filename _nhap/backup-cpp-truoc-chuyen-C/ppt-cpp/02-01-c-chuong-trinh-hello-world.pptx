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Chương Trình Hello World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Chương trình Hello World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Chương Trình Hello World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10055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Chương trình đơn giản nhất khi học một ngôn ngữ mới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Giúp hiểu </a:t>
            </a:r>
            <a:r>
              <a:rPr sz="2000" b="1">
                <a:solidFill>
                  <a:srgbClr val="222B38"/>
                </a:solidFill>
                <a:latin typeface="Calibri"/>
              </a:rPr>
              <a:t>cấu trúc</a:t>
            </a:r>
            <a:r>
              <a:rPr sz="2000" b="0">
                <a:solidFill>
                  <a:srgbClr val="222B38"/>
                </a:solidFill>
                <a:latin typeface="Calibri"/>
              </a:rPr>
              <a:t> cơ bản của chương trình C++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864815"/>
            <a:ext cx="10765231" cy="325120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11119"/>
            <a:ext cx="10362895" cy="2958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#include "iostream"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using namespace std;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main(){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"Hello World !\n";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"codelab tutorial !" &lt;&lt; endl;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Hello World !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codelab tutorial 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3 phần chính của chương trình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Chương Trình Hello World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0009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Thư viện</a:t>
            </a:r>
            <a:r>
              <a:rPr sz="1800" b="0">
                <a:solidFill>
                  <a:srgbClr val="222B38"/>
                </a:solidFill>
                <a:latin typeface="Calibri"/>
              </a:rPr>
              <a:t>: </a:t>
            </a:r>
            <a:r>
              <a:rPr sz="1709" b="0">
                <a:solidFill>
                  <a:srgbClr val="3598DB"/>
                </a:solidFill>
                <a:latin typeface="Consolas"/>
              </a:rPr>
              <a:t>#include "iostream"</a:t>
            </a:r>
            <a:r>
              <a:rPr sz="1800" b="0">
                <a:solidFill>
                  <a:srgbClr val="222B38"/>
                </a:solidFill>
                <a:latin typeface="Calibri"/>
              </a:rPr>
              <a:t> nạp công cụ nhập/xuất có sẵn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Namespace</a:t>
            </a:r>
            <a:r>
              <a:rPr sz="1800" b="0">
                <a:solidFill>
                  <a:srgbClr val="222B38"/>
                </a:solidFill>
                <a:latin typeface="Calibri"/>
              </a:rPr>
              <a:t>: không gian định danh chứa </a:t>
            </a:r>
            <a:r>
              <a:rPr sz="1709" b="0">
                <a:solidFill>
                  <a:srgbClr val="3598DB"/>
                </a:solidFill>
                <a:latin typeface="Consolas"/>
              </a:rPr>
              <a:t>cout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cin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endl</a:t>
            </a:r>
            <a:r>
              <a:rPr sz="1800" b="0">
                <a:solidFill>
                  <a:srgbClr val="222B38"/>
                </a:solidFill>
                <a:latin typeface="Calibri"/>
              </a:rPr>
              <a:t>...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using namespace std;</a:t>
            </a:r>
            <a:r>
              <a:rPr sz="1800" b="0">
                <a:solidFill>
                  <a:srgbClr val="222B38"/>
                </a:solidFill>
                <a:latin typeface="Calibri"/>
              </a:rPr>
              <a:t> cho phép dùng </a:t>
            </a:r>
            <a:r>
              <a:rPr sz="1709" b="0">
                <a:solidFill>
                  <a:srgbClr val="3598DB"/>
                </a:solidFill>
                <a:latin typeface="Consolas"/>
              </a:rPr>
              <a:t>cout</a:t>
            </a:r>
            <a:r>
              <a:rPr sz="1800" b="0">
                <a:solidFill>
                  <a:srgbClr val="222B38"/>
                </a:solidFill>
                <a:latin typeface="Calibri"/>
              </a:rPr>
              <a:t> thay vì </a:t>
            </a:r>
            <a:r>
              <a:rPr sz="1709" b="0">
                <a:solidFill>
                  <a:srgbClr val="3598DB"/>
                </a:solidFill>
                <a:latin typeface="Consolas"/>
              </a:rPr>
              <a:t>std::cout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Hàm main</a:t>
            </a:r>
            <a:r>
              <a:rPr sz="1800" b="0">
                <a:solidFill>
                  <a:srgbClr val="222B38"/>
                </a:solidFill>
                <a:latin typeface="Calibri"/>
              </a:rPr>
              <a:t>: nơi chương trình bắt đầu chạy, thiếu là không chạy được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748938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95242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Không dùng namespace std thì phải viết đầy đủ: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#include "iostream"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main(){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std::cout &lt;&lt; "Hello codelab !\n";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std::cout &lt;&lt; "C++ tutorial" &lt;&lt; std::endl;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Cout: in nội dung ra màn hình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Chương Trình Hello World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3542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Đi kèm toán tử chèn </a:t>
            </a:r>
            <a:r>
              <a:rPr sz="1900" b="0">
                <a:solidFill>
                  <a:srgbClr val="3598DB"/>
                </a:solidFill>
                <a:latin typeface="Consolas"/>
              </a:rPr>
              <a:t>&lt;&lt;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Ký tự </a:t>
            </a:r>
            <a:r>
              <a:rPr sz="1900" b="0">
                <a:solidFill>
                  <a:srgbClr val="3598DB"/>
                </a:solidFill>
                <a:latin typeface="Consolas"/>
              </a:rPr>
              <a:t>\n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để xuống dòng trong chuỗi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Một </a:t>
            </a:r>
            <a:r>
              <a:rPr sz="1900" b="0">
                <a:solidFill>
                  <a:srgbClr val="3598DB"/>
                </a:solidFill>
                <a:latin typeface="Consolas"/>
              </a:rPr>
              <a:t>cout</a:t>
            </a:r>
            <a:r>
              <a:rPr sz="2000" b="0">
                <a:solidFill>
                  <a:srgbClr val="222B38"/>
                </a:solidFill>
                <a:latin typeface="Calibri"/>
              </a:rPr>
              <a:t> có thể nối nhiều </a:t>
            </a:r>
            <a:r>
              <a:rPr sz="1900" b="0">
                <a:solidFill>
                  <a:srgbClr val="3598DB"/>
                </a:solidFill>
                <a:latin typeface="Consolas"/>
              </a:rPr>
              <a:t>&lt;&lt;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để in nhiều đoạn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703269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49573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"Hello\nWorld !\n";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"codelab\ntutorial !\nC++\nJava\n";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"Text1" &lt;&lt; " @ " &lt;&lt; "Text 2" &lt;&lt; "-" &lt;&lt; "Text3" &lt;&lt; "." &lt;&lt; "codelab!\n";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Text1 @ Text 2-Text3.codelab!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Endl: xuống dòng thay cho \n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Chương Trình Hello World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1401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endl</a:t>
            </a:r>
            <a:r>
              <a:rPr sz="2000" b="0">
                <a:solidFill>
                  <a:srgbClr val="222B38"/>
                </a:solidFill>
                <a:latin typeface="Calibri"/>
              </a:rPr>
              <a:t> kết thúc dòng hiện tại, in tiếp ở dòng mới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Cần có thư viện </a:t>
            </a:r>
            <a:r>
              <a:rPr sz="1900" b="0">
                <a:solidFill>
                  <a:srgbClr val="3598DB"/>
                </a:solidFill>
                <a:latin typeface="Consolas"/>
              </a:rPr>
              <a:t>iostream</a:t>
            </a:r>
            <a:r>
              <a:rPr sz="2000" b="0">
                <a:solidFill>
                  <a:srgbClr val="222B38"/>
                </a:solidFill>
                <a:latin typeface="Calibri"/>
              </a:rPr>
              <a:t> và namespace </a:t>
            </a:r>
            <a:r>
              <a:rPr sz="1900" b="0">
                <a:solidFill>
                  <a:srgbClr val="3598DB"/>
                </a:solidFill>
                <a:latin typeface="Consolas"/>
              </a:rPr>
              <a:t>std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để dùng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68776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15080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"Hello" &lt;&lt; endl &lt;&lt; "codelab" &lt;&lt; endl;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"@" &lt;&lt; endl &lt;&lt; "C++ tutorial" &lt;&lt; endl;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Hello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codelab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@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C++ tutorial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Câu lệnh return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Chương Trình Hello World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0009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Đặt cuối hàm </a:t>
            </a:r>
            <a:r>
              <a:rPr sz="1709" b="0">
                <a:solidFill>
                  <a:srgbClr val="3598DB"/>
                </a:solidFill>
                <a:latin typeface="Consolas"/>
              </a:rPr>
              <a:t>main</a:t>
            </a:r>
            <a:r>
              <a:rPr sz="1800" b="0">
                <a:solidFill>
                  <a:srgbClr val="222B38"/>
                </a:solidFill>
                <a:latin typeface="Calibri"/>
              </a:rPr>
              <a:t>, là giá trị trả về khi chạy xong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return 0</a:t>
            </a:r>
            <a:r>
              <a:rPr sz="1800" b="0">
                <a:solidFill>
                  <a:srgbClr val="222B38"/>
                </a:solidFill>
                <a:latin typeface="Calibri"/>
              </a:rPr>
              <a:t> nghĩa là chương trình chạy đúng, không lỗi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Chương trình </a:t>
            </a:r>
            <a:r>
              <a:rPr sz="1800" b="1">
                <a:solidFill>
                  <a:srgbClr val="222B38"/>
                </a:solidFill>
                <a:latin typeface="Calibri"/>
              </a:rPr>
              <a:t>kết thúc ngay</a:t>
            </a:r>
            <a:r>
              <a:rPr sz="1800" b="0">
                <a:solidFill>
                  <a:srgbClr val="222B38"/>
                </a:solidFill>
                <a:latin typeface="Calibri"/>
              </a:rPr>
              <a:t> khi gặp </a:t>
            </a:r>
            <a:r>
              <a:rPr sz="1709" b="0">
                <a:solidFill>
                  <a:srgbClr val="3598DB"/>
                </a:solidFill>
                <a:latin typeface="Consolas"/>
              </a:rPr>
              <a:t>return</a:t>
            </a:r>
            <a:r>
              <a:rPr sz="1800" b="0">
                <a:solidFill>
                  <a:srgbClr val="222B38"/>
                </a:solidFill>
                <a:latin typeface="Calibri"/>
              </a:rPr>
              <a:t>, lệnh sau không chạy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Giá trị trả về khác 0 thường báo hiệu có lỗi runtime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748938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95242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main(){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"hello codelab !\n";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"C++ tutorial !\n";  // không bao giờ chạy tới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Output: hello codelab 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Chương Trình Hello World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Chương trình C++ gồm </a:t>
            </a:r>
            <a:r>
              <a:rPr sz="1800" b="1">
                <a:solidFill>
                  <a:srgbClr val="222B38"/>
                </a:solidFill>
                <a:latin typeface="Calibri"/>
              </a:rPr>
              <a:t>thư viện, namespace, hàm main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cout</a:t>
            </a:r>
            <a:r>
              <a:rPr sz="1800" b="0">
                <a:solidFill>
                  <a:srgbClr val="222B38"/>
                </a:solidFill>
                <a:latin typeface="Calibri"/>
              </a:rPr>
              <a:t> + </a:t>
            </a:r>
            <a:r>
              <a:rPr sz="1709" b="0">
                <a:solidFill>
                  <a:srgbClr val="3598DB"/>
                </a:solidFill>
                <a:latin typeface="Consolas"/>
              </a:rPr>
              <a:t>&lt;&lt;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để in, </a:t>
            </a:r>
            <a:r>
              <a:rPr sz="1709" b="0">
                <a:solidFill>
                  <a:srgbClr val="3598DB"/>
                </a:solidFill>
                <a:latin typeface="Consolas"/>
              </a:rPr>
              <a:t>\n</a:t>
            </a:r>
            <a:r>
              <a:rPr sz="1800" b="0">
                <a:solidFill>
                  <a:srgbClr val="222B38"/>
                </a:solidFill>
                <a:latin typeface="Calibri"/>
              </a:rPr>
              <a:t> hoặc </a:t>
            </a:r>
            <a:r>
              <a:rPr sz="1709" b="0">
                <a:solidFill>
                  <a:srgbClr val="3598DB"/>
                </a:solidFill>
                <a:latin typeface="Consolas"/>
              </a:rPr>
              <a:t>endl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để xuống dòng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return 0;</a:t>
            </a:r>
            <a:r>
              <a:rPr sz="1800" b="0">
                <a:solidFill>
                  <a:srgbClr val="222B38"/>
                </a:solidFill>
                <a:latin typeface="Calibri"/>
              </a:rPr>
              <a:t> kết thúc </a:t>
            </a:r>
            <a:r>
              <a:rPr sz="1709" b="0">
                <a:solidFill>
                  <a:srgbClr val="3598DB"/>
                </a:solidFill>
                <a:latin typeface="Consolas"/>
              </a:rPr>
              <a:t>main</a:t>
            </a:r>
            <a:r>
              <a:rPr sz="1800" b="0">
                <a:solidFill>
                  <a:srgbClr val="222B38"/>
                </a:solidFill>
                <a:latin typeface="Calibri"/>
              </a:rPr>
              <a:t> ngay lập tức, code sau bị bỏ qua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Thiếu hàm </a:t>
            </a:r>
            <a:r>
              <a:rPr sz="1709" b="0">
                <a:solidFill>
                  <a:srgbClr val="3598DB"/>
                </a:solidFill>
                <a:latin typeface="Consolas"/>
              </a:rPr>
              <a:t>main</a:t>
            </a:r>
            <a:r>
              <a:rPr sz="1800" b="0">
                <a:solidFill>
                  <a:srgbClr val="222B38"/>
                </a:solidFill>
                <a:latin typeface="Calibri"/>
              </a:rPr>
              <a:t> thì chương trình không thể chạy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