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Hàm binary_search, lower_bound, upper_bound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3 hàm tìm kiếm có sẵn trong </a:t>
            </a:r>
            <a:r>
              <a:rPr sz="2565" b="1">
                <a:solidFill>
                  <a:srgbClr val="3598DB"/>
                </a:solidFill>
                <a:latin typeface="Consolas"/>
              </a:rP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binary_search, lower_bound, upper_bound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Áp dụng trên mảng/vector/string đã </a:t>
            </a:r>
            <a:r>
              <a:rPr sz="1700" b="1">
                <a:solidFill>
                  <a:srgbClr val="222B38"/>
                </a:solidFill>
                <a:latin typeface="Calibri"/>
              </a:rPr>
              <a:t>sắp tăng dần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binary_search</a:t>
            </a:r>
            <a:r>
              <a:rPr sz="1700" b="0">
                <a:solidFill>
                  <a:srgbClr val="222B38"/>
                </a:solidFill>
                <a:latin typeface="Calibri"/>
              </a:rPr>
              <a:t>: có tồn tại X hay không (true/false)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lower_bound</a:t>
            </a:r>
            <a:r>
              <a:rPr sz="1700" b="0">
                <a:solidFill>
                  <a:srgbClr val="222B38"/>
                </a:solidFill>
                <a:latin typeface="Calibri"/>
              </a:rPr>
              <a:t>: vị trí nhỏ nhất </a:t>
            </a:r>
            <a:r>
              <a:rPr sz="1700" b="1">
                <a:solidFill>
                  <a:srgbClr val="222B38"/>
                </a:solidFill>
                <a:latin typeface="Calibri"/>
              </a:rPr>
              <a:t>≥ X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upper_bound</a:t>
            </a:r>
            <a:r>
              <a:rPr sz="1700" b="0">
                <a:solidFill>
                  <a:srgbClr val="222B38"/>
                </a:solidFill>
                <a:latin typeface="Calibri"/>
              </a:rPr>
              <a:t>: vị trí nhỏ nhất </a:t>
            </a:r>
            <a:r>
              <a:rPr sz="1700" b="1">
                <a:solidFill>
                  <a:srgbClr val="222B38"/>
                </a:solidFill>
                <a:latin typeface="Calibri"/>
              </a:rPr>
              <a:t>&gt; X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Độ phức tạp cả 3: </a:t>
            </a:r>
            <a:r>
              <a:rPr sz="1700" b="1">
                <a:solidFill>
                  <a:srgbClr val="222B38"/>
                </a:solidFill>
                <a:latin typeface="Calibri"/>
              </a:rPr>
              <a:t>O(logN)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binary_search()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binary_search, lower_bound, upper_bound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Trả </a:t>
            </a:r>
            <a:r>
              <a:rPr sz="1800" b="1">
                <a:solidFill>
                  <a:srgbClr val="222B38"/>
                </a:solidFill>
                <a:latin typeface="Calibri"/>
              </a:rPr>
              <a:t>true</a:t>
            </a:r>
            <a:r>
              <a:rPr sz="1800" b="0">
                <a:solidFill>
                  <a:srgbClr val="222B38"/>
                </a:solidFill>
                <a:latin typeface="Calibri"/>
              </a:rPr>
              <a:t> nếu X có trong đoạn tìm kiếm, ngược lại </a:t>
            </a:r>
            <a:r>
              <a:rPr sz="1800" b="1">
                <a:solidFill>
                  <a:srgbClr val="222B38"/>
                </a:solidFill>
                <a:latin typeface="Calibri"/>
              </a:rPr>
              <a:t>false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binary_search(a, a+n, x)</a:t>
            </a:r>
            <a:r>
              <a:rPr sz="1800" b="0">
                <a:solidFill>
                  <a:srgbClr val="222B38"/>
                </a:solidFill>
                <a:latin typeface="Calibri"/>
              </a:rPr>
              <a:t>; vector/string: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binary_search(v.begin(), v.end(), x)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156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{1,2,3,5,5,6,8,9,14,21};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binary_search(a, a+10, 5);  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binary_search(a, a+10, 4);   // false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binary_search() trên đoạn [L, 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binary_search, lower_bound, upper_bound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thể giới hạn tìm kiếm trong 1 đoạn chỉ số của mảng/vector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tim X=5 trong doan chi so [5,7]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binary_search(a + 5, a + 8, 5);   // false, doan nay khong co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tim X=5 trong doan chi so [2,6]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binary_search(v.begin()+2, v.begin()+7, 5);  //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lower_bound()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binary_search, lower_bound, upper_bound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Tìm giá trị </a:t>
            </a:r>
            <a:r>
              <a:rPr sz="2000" b="1">
                <a:solidFill>
                  <a:srgbClr val="222B38"/>
                </a:solidFill>
                <a:latin typeface="Calibri"/>
              </a:rPr>
              <a:t>nhỏ nhất ≥ X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mảng/vector 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con trỏ/iterator</a:t>
            </a:r>
            <a:r>
              <a:rPr sz="2000" b="0">
                <a:solidFill>
                  <a:srgbClr val="222B38"/>
                </a:solidFill>
                <a:latin typeface="Calibri"/>
              </a:rPr>
              <a:t> tới vị trí đó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tìm thấy → trả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a + n</a:t>
            </a:r>
            <a:r>
              <a:rPr sz="2000" b="0">
                <a:solidFill>
                  <a:srgbClr val="222B38"/>
                </a:solidFill>
                <a:latin typeface="Calibri"/>
              </a:rPr>
              <a:t> (mảng) hoặc </a:t>
            </a:r>
            <a:r>
              <a:rPr sz="1900" b="0">
                <a:solidFill>
                  <a:srgbClr val="3598DB"/>
                </a:solidFill>
                <a:latin typeface="Consolas"/>
              </a:rPr>
              <a:t>end()</a:t>
            </a:r>
            <a:r>
              <a:rPr sz="2000" b="0">
                <a:solidFill>
                  <a:srgbClr val="222B38"/>
                </a:solidFill>
                <a:latin typeface="Calibri"/>
              </a:rPr>
              <a:t> (vector)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lower_bound() với số cụ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binary_search, lower_bound, upper_bound Trong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{1,2,3,5,5,5,8,9,14,21};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*it = lower_bound(a, a+10, 5);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*it = 5, chi so = it-a = 3  (gia tri nho nhat &gt;= 5)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*it2 = lower_bound(a, a+10, 22);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it2 == a+10  -&gt; khong tim thay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upper_bound()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binary_search, lower_bound, upper_bound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Tìm giá trị </a:t>
            </a:r>
            <a:r>
              <a:rPr sz="2000" b="1">
                <a:solidFill>
                  <a:srgbClr val="222B38"/>
                </a:solidFill>
                <a:latin typeface="Calibri"/>
              </a:rPr>
              <a:t>nhỏ nhất &gt; X</a:t>
            </a:r>
            <a:r>
              <a:rPr sz="2000" b="0">
                <a:solidFill>
                  <a:srgbClr val="222B38"/>
                </a:solidFill>
                <a:latin typeface="Calibri"/>
              </a:rPr>
              <a:t> (khác </a:t>
            </a:r>
            <a:r>
              <a:rPr sz="1900" b="0">
                <a:solidFill>
                  <a:srgbClr val="3598DB"/>
                </a:solidFill>
                <a:latin typeface="Consolas"/>
              </a:rPr>
              <a:t>lower_bound</a:t>
            </a:r>
            <a:r>
              <a:rPr sz="2000" b="0">
                <a:solidFill>
                  <a:srgbClr val="222B38"/>
                </a:solidFill>
                <a:latin typeface="Calibri"/>
              </a:rPr>
              <a:t> ở dấu </a:t>
            </a:r>
            <a:r>
              <a:rPr sz="1900" b="0">
                <a:solidFill>
                  <a:srgbClr val="3598DB"/>
                </a:solidFill>
                <a:latin typeface="Consolas"/>
              </a:rPr>
              <a:t>&gt;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vì </a:t>
            </a:r>
            <a:r>
              <a:rPr sz="1900" b="0">
                <a:solidFill>
                  <a:srgbClr val="3598DB"/>
                </a:solidFill>
                <a:latin typeface="Consolas"/>
              </a:rPr>
              <a:t>&gt;=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pháp, giá trị trả về, độ phức tạp giống hệt </a:t>
            </a:r>
            <a:r>
              <a:rPr sz="1900" b="0">
                <a:solidFill>
                  <a:srgbClr val="3598DB"/>
                </a:solidFill>
                <a:latin typeface="Consolas"/>
              </a:rPr>
              <a:t>lower_bound()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upper_bound() với số cụ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binary_search, lower_bound, upper_bound Trong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{1,2,3,5,5,5,8,9,14,21};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*it = upper_bound(a, a+10, 5);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*it = 8, chi so = it-a = 6  (gia tri nho nhat &gt; 5)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so sanh voi cung mang, cung X=5: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lower_bound -&gt; *it=5 (chi so 3)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upper_bound -&gt; *it=8 (chi so 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binary_search, lower_bound, upper_bound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Cả 3 hàm chỉ dùng đúng khi mảng đã </a:t>
            </a:r>
            <a:r>
              <a:rPr sz="1800" b="1">
                <a:solidFill>
                  <a:srgbClr val="222B38"/>
                </a:solidFill>
                <a:latin typeface="Calibri"/>
              </a:rPr>
              <a:t>sắp 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binary_search</a:t>
            </a:r>
            <a:r>
              <a:rPr sz="1800" b="0">
                <a:solidFill>
                  <a:srgbClr val="222B38"/>
                </a:solidFill>
                <a:latin typeface="Calibri"/>
              </a:rPr>
              <a:t>: có/không tồn tại X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lower_bound</a:t>
            </a:r>
            <a:r>
              <a:rPr sz="1800" b="0">
                <a:solidFill>
                  <a:srgbClr val="222B38"/>
                </a:solidFill>
                <a:latin typeface="Calibri"/>
              </a:rPr>
              <a:t>: vị trí nhỏ nhất </a:t>
            </a:r>
            <a:r>
              <a:rPr sz="1800" b="1">
                <a:solidFill>
                  <a:srgbClr val="222B38"/>
                </a:solidFill>
                <a:latin typeface="Calibri"/>
              </a:rPr>
              <a:t>≥ X</a:t>
            </a:r>
            <a:r>
              <a:rPr sz="1800" b="0">
                <a:solidFill>
                  <a:srgbClr val="222B38"/>
                </a:solidFill>
                <a:latin typeface="Calibri"/>
              </a:rPr>
              <a:t>; </a:t>
            </a:r>
            <a:r>
              <a:rPr sz="1709" b="0">
                <a:solidFill>
                  <a:srgbClr val="3598DB"/>
                </a:solidFill>
                <a:latin typeface="Consolas"/>
              </a:rPr>
              <a:t>upper_bound</a:t>
            </a:r>
            <a:r>
              <a:rPr sz="1800" b="0">
                <a:solidFill>
                  <a:srgbClr val="222B38"/>
                </a:solidFill>
                <a:latin typeface="Calibri"/>
              </a:rPr>
              <a:t>: vị trí nhỏ nhất </a:t>
            </a:r>
            <a:r>
              <a:rPr sz="1800" b="1">
                <a:solidFill>
                  <a:srgbClr val="222B38"/>
                </a:solidFill>
                <a:latin typeface="Calibri"/>
              </a:rPr>
              <a:t>&gt; X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tìm thấy: trả về </a:t>
            </a:r>
            <a:r>
              <a:rPr sz="1709" b="0">
                <a:solidFill>
                  <a:srgbClr val="3598DB"/>
                </a:solidFill>
                <a:latin typeface="Consolas"/>
              </a:rPr>
              <a:t>a + n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709" b="0">
                <a:solidFill>
                  <a:srgbClr val="3598DB"/>
                </a:solidFill>
                <a:latin typeface="Consolas"/>
              </a:rPr>
              <a:t>end()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