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Vòng Lặp While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While giải quyết vấn đề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Vòng Lặp While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Lặp lại khối lệnh khi </a:t>
            </a:r>
            <a:r>
              <a:rPr sz="2000" b="1">
                <a:solidFill>
                  <a:srgbClr val="222B38"/>
                </a:solidFill>
                <a:latin typeface="Calibri"/>
              </a:rPr>
              <a:t>chưa biết trước số lần lặp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Kiểm tra </a:t>
            </a:r>
            <a:r>
              <a:rPr sz="2000" b="1">
                <a:solidFill>
                  <a:srgbClr val="222B38"/>
                </a:solidFill>
                <a:latin typeface="Calibri"/>
              </a:rPr>
              <a:t>điều kiện trước</a:t>
            </a:r>
            <a:r>
              <a:rPr sz="2000" b="0">
                <a:solidFill>
                  <a:srgbClr val="222B38"/>
                </a:solidFill>
                <a:latin typeface="Calibri"/>
              </a:rPr>
              <a:t>, đúng mới chạy thân vòng lặp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Có thể </a:t>
            </a:r>
            <a:r>
              <a:rPr sz="2000" b="1">
                <a:solidFill>
                  <a:srgbClr val="222B38"/>
                </a:solidFill>
                <a:latin typeface="Calibri"/>
              </a:rPr>
              <a:t>không chạy lần nào</a:t>
            </a:r>
            <a:r>
              <a:rPr sz="2000" b="0">
                <a:solidFill>
                  <a:srgbClr val="222B38"/>
                </a:solidFill>
                <a:latin typeface="Calibri"/>
              </a:rPr>
              <a:t> nếu điều kiện sai ngay từ đầu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Cú pháp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Vòng Lặp While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212848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while(condition){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// code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Luồng chạy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Vòng Lặp While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Kiểm tra </a:t>
            </a:r>
            <a:r>
              <a:rPr sz="1709" b="0">
                <a:solidFill>
                  <a:srgbClr val="3598DB"/>
                </a:solidFill>
                <a:latin typeface="Consolas"/>
              </a:rPr>
              <a:t>condition</a:t>
            </a:r>
            <a:r>
              <a:rPr sz="1800" b="0">
                <a:solidFill>
                  <a:srgbClr val="222B38"/>
                </a:solidFill>
                <a:latin typeface="Calibri"/>
              </a:rPr>
              <a:t>, sai thì kết thúc ngay, không chạy thân vòng lặp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Đúng thì chạy khối lệnh, xong quay lại kiểm tra tiếp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Lặp lại đến khi điều kiện sai mới dừng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Quên cập nhật biến điều kiện → lặp </a:t>
            </a:r>
            <a:r>
              <a:rPr sz="1800" b="1">
                <a:solidFill>
                  <a:srgbClr val="222B38"/>
                </a:solidFill>
                <a:latin typeface="Calibri"/>
              </a:rPr>
              <a:t>vô hạn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Ví dụ: in số từ 1 đến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Vòng Lặp While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212848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 = 4, i =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while(i &lt;=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cout &lt;&lt; i &lt;&lt; " 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++i;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1 2 3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Ví dụ: đếm và tính tổng chữ số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Vòng Lặp While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Mẫu chung: lấy chữ số cuối bằng n % 10, bỏ đi bằng n /=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995881"/>
            <a:ext cx="10765231" cy="411683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2185"/>
            <a:ext cx="10362895" cy="38242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 = 12345, dem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while(n != 0){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++dem;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 /= 10;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dem = 5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n2 = 12345, tong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while(n2 != 0){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tong += n2 % 10;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n2 /= 10;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tong =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Vòng lặp vô hạn có điều kiện thoát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Vòng Lặp While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1401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while(1)</a:t>
            </a:r>
            <a:r>
              <a:rPr sz="2000" b="0">
                <a:solidFill>
                  <a:srgbClr val="222B38"/>
                </a:solidFill>
                <a:latin typeface="Calibri"/>
              </a:rPr>
              <a:t> tạo vòng lặp </a:t>
            </a:r>
            <a:r>
              <a:rPr sz="2000" b="1">
                <a:solidFill>
                  <a:srgbClr val="222B38"/>
                </a:solidFill>
                <a:latin typeface="Calibri"/>
              </a:rPr>
              <a:t>vô hạn</a:t>
            </a:r>
            <a:r>
              <a:rPr sz="2000" b="0">
                <a:solidFill>
                  <a:srgbClr val="222B38"/>
                </a:solidFill>
                <a:latin typeface="Calibri"/>
              </a:rPr>
              <a:t>, phải tự thoát bên trong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Nhập số tới khi gặp </a:t>
            </a:r>
            <a:r>
              <a:rPr sz="1900" b="0">
                <a:solidFill>
                  <a:srgbClr val="3598DB"/>
                </a:solidFill>
                <a:latin typeface="Consolas"/>
              </a:rPr>
              <a:t>28</a:t>
            </a:r>
            <a:r>
              <a:rPr sz="2000" b="0">
                <a:solidFill>
                  <a:srgbClr val="222B38"/>
                </a:solidFill>
                <a:latin typeface="Calibri"/>
              </a:rPr>
              <a:t> thì dừng (dùng </a:t>
            </a:r>
            <a:r>
              <a:rPr sz="1900" b="0">
                <a:solidFill>
                  <a:srgbClr val="3598DB"/>
                </a:solidFill>
                <a:latin typeface="Consolas"/>
              </a:rPr>
              <a:t>goto</a:t>
            </a:r>
            <a:r>
              <a:rPr sz="2000" b="0">
                <a:solidFill>
                  <a:srgbClr val="222B38"/>
                </a:solidFill>
                <a:latin typeface="Calibri"/>
              </a:rPr>
              <a:t> khi chưa học </a:t>
            </a:r>
            <a:r>
              <a:rPr sz="1900" b="0">
                <a:solidFill>
                  <a:srgbClr val="3598DB"/>
                </a:solidFill>
                <a:latin typeface="Consolas"/>
              </a:rPr>
              <a:t>break</a:t>
            </a:r>
            <a:r>
              <a:rPr sz="2000" b="0">
                <a:solidFill>
                  <a:srgbClr val="222B38"/>
                </a:solidFill>
                <a:latin typeface="Calibri"/>
              </a:rPr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68776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15080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while(1){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cin &gt;&gt; 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if(n == 28) goto end;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else cout &lt;&lt; "Nhap lai\n";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end: 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Vòng Lặp While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While kiểm tra điều kiện </a:t>
            </a:r>
            <a:r>
              <a:rPr sz="1800" b="1">
                <a:solidFill>
                  <a:srgbClr val="222B38"/>
                </a:solidFill>
                <a:latin typeface="Calibri"/>
              </a:rPr>
              <a:t>trước</a:t>
            </a:r>
            <a:r>
              <a:rPr sz="1800" b="0">
                <a:solidFill>
                  <a:srgbClr val="222B38"/>
                </a:solidFill>
                <a:latin typeface="Calibri"/>
              </a:rPr>
              <a:t> mỗi lần lặp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Khác </a:t>
            </a:r>
            <a:r>
              <a:rPr sz="1709" b="0">
                <a:solidFill>
                  <a:srgbClr val="3598DB"/>
                </a:solidFill>
                <a:latin typeface="Consolas"/>
              </a:rPr>
              <a:t>do-while</a:t>
            </a:r>
            <a:r>
              <a:rPr sz="1800" b="0">
                <a:solidFill>
                  <a:srgbClr val="222B38"/>
                </a:solidFill>
                <a:latin typeface="Calibri"/>
              </a:rPr>
              <a:t>: </a:t>
            </a:r>
            <a:r>
              <a:rPr sz="1709" b="0">
                <a:solidFill>
                  <a:srgbClr val="3598DB"/>
                </a:solidFill>
                <a:latin typeface="Consolas"/>
              </a:rPr>
              <a:t>do-while</a:t>
            </a:r>
            <a:r>
              <a:rPr sz="1800" b="0">
                <a:solidFill>
                  <a:srgbClr val="222B38"/>
                </a:solidFill>
                <a:latin typeface="Calibri"/>
              </a:rPr>
              <a:t> kiểm tra điều kiện </a:t>
            </a:r>
            <a:r>
              <a:rPr sz="1800" b="1">
                <a:solidFill>
                  <a:srgbClr val="222B38"/>
                </a:solidFill>
                <a:latin typeface="Calibri"/>
              </a:rPr>
              <a:t>sau</a:t>
            </a:r>
            <a:r>
              <a:rPr sz="1800" b="0">
                <a:solidFill>
                  <a:srgbClr val="222B38"/>
                </a:solidFill>
                <a:latin typeface="Calibri"/>
              </a:rPr>
              <a:t>, luôn chạy ít nhất 1 lần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Hợp với bài toán </a:t>
            </a:r>
            <a:r>
              <a:rPr sz="1800" b="1">
                <a:solidFill>
                  <a:srgbClr val="222B38"/>
                </a:solidFill>
                <a:latin typeface="Calibri"/>
              </a:rPr>
              <a:t>chưa biết trước số lần lặp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Nhớ cập nhật biến điều kiện để tránh lặp vô hạn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