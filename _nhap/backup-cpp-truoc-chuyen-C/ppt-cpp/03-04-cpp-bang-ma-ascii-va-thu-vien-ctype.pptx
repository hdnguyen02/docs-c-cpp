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Bảng Mã ASCII Và Thư Viện ctype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Bảng mã ASCII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256 ký tự đánh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0 đến 255</a:t>
            </a:r>
            <a:r>
              <a:rPr sz="2000" b="0">
                <a:solidFill>
                  <a:srgbClr val="222B38"/>
                </a:solidFill>
                <a:latin typeface="Calibri"/>
              </a:rPr>
              <a:t>: chữ cái, chữ số, ký tự đặc biệt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C++ thực chất lưu một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nguyên</a:t>
            </a:r>
            <a:r>
              <a:rPr sz="2000" b="0">
                <a:solidFill>
                  <a:srgbClr val="222B38"/>
                </a:solidFill>
                <a:latin typeface="Calibri"/>
              </a:rPr>
              <a:t> (mã ASCII)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Ép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(int)ch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xem mã ASCII của một ký tự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mốc ASCII cần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Chỉ cần nhớ 3 mốc này là đủ dùng, không cần thuộc cả bảng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 - z    : 97  -&gt; 122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 - Z    : 65  -&gt; 90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'0'-'9'  : 48  -&gt; 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char trong phép toán số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tính toán,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tự động dùng </a:t>
            </a:r>
            <a:r>
              <a:rPr sz="2000" b="1">
                <a:solidFill>
                  <a:srgbClr val="222B38"/>
                </a:solidFill>
                <a:latin typeface="Calibri"/>
              </a:rPr>
              <a:t>mã ASCII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++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--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di chuyển sang ký tự liền trước/sau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kitu1 = 'A';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(int)kitu1;      // 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kitu1;           // n = 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kitu1 + 100;     // 165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++kitu1;                 // 'A' -&gt; 'B'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(int)kitu1;      //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Kiểm tra loại ký tự thủ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trực tiếp bằng ký tự hoặc bằng số ASCII đều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cái = nằm trong khoảng in hoa </a:t>
            </a:r>
            <a:r>
              <a:rPr sz="2000" b="1">
                <a:solidFill>
                  <a:srgbClr val="222B38"/>
                </a:solidFill>
                <a:latin typeface="Calibri"/>
              </a:rPr>
              <a:t>hoặc</a:t>
            </a:r>
            <a:r>
              <a:rPr sz="2000" b="0">
                <a:solidFill>
                  <a:srgbClr val="222B38"/>
                </a:solidFill>
                <a:latin typeface="Calibri"/>
              </a:rPr>
              <a:t> in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số nằm trong khoảng </a:t>
            </a:r>
            <a:r>
              <a:rPr sz="1900" b="0">
                <a:solidFill>
                  <a:srgbClr val="3598DB"/>
                </a:solidFill>
                <a:latin typeface="Consolas"/>
              </a:rPr>
              <a:t>'0'</a:t>
            </a:r>
            <a:r>
              <a:rPr sz="2000" b="0">
                <a:solidFill>
                  <a:srgbClr val="222B38"/>
                </a:solidFill>
                <a:latin typeface="Calibri"/>
              </a:rPr>
              <a:t> đến </a:t>
            </a:r>
            <a:r>
              <a:rPr sz="1900" b="0">
                <a:solidFill>
                  <a:srgbClr val="3598DB"/>
                </a:solidFill>
                <a:latin typeface="Consolas"/>
              </a:rPr>
              <a:t>'9'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 &gt;= 'a' &amp;&amp; c &lt;= 'z')  // in thường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 &gt;= 'A' &amp;&amp; c &lt;= 'Z')  // in hoa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if((c&gt;='A'&amp;&amp;c&lt;='Z') || (c&gt;='a'&amp;&amp;c&lt;='z'))  // chữ cái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 &gt;= '0' &amp;&amp; c &lt;= '9')  // chữ số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Chuyển đổi hoa - thường thủ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hoa cách in thường tương ứng đúng </a:t>
            </a:r>
            <a:r>
              <a:rPr sz="2000" b="1">
                <a:solidFill>
                  <a:srgbClr val="222B38"/>
                </a:solidFill>
                <a:latin typeface="Calibri"/>
              </a:rPr>
              <a:t>32</a:t>
            </a:r>
            <a:r>
              <a:rPr sz="2000" b="0">
                <a:solidFill>
                  <a:srgbClr val="222B38"/>
                </a:solidFill>
                <a:latin typeface="Calibri"/>
              </a:rPr>
              <a:t> đơn vị mã ASCII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Hoa </a:t>
            </a:r>
            <a:r>
              <a:rPr sz="2000" b="1">
                <a:solidFill>
                  <a:srgbClr val="222B38"/>
                </a:solidFill>
                <a:latin typeface="Calibri"/>
              </a:rPr>
              <a:t>→</a:t>
            </a:r>
            <a:r>
              <a:rPr sz="2000" b="0">
                <a:solidFill>
                  <a:srgbClr val="222B38"/>
                </a:solidFill>
                <a:latin typeface="Calibri"/>
              </a:rPr>
              <a:t> thường: cộng 32; thường </a:t>
            </a:r>
            <a:r>
              <a:rPr sz="2000" b="1">
                <a:solidFill>
                  <a:srgbClr val="222B38"/>
                </a:solidFill>
                <a:latin typeface="Calibri"/>
              </a:rPr>
              <a:t>→</a:t>
            </a:r>
            <a:r>
              <a:rPr sz="2000" b="0">
                <a:solidFill>
                  <a:srgbClr val="222B38"/>
                </a:solidFill>
                <a:latin typeface="Calibri"/>
              </a:rPr>
              <a:t> hoa: trừ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c = 'A';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 += 32;      // 'A' -&gt;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kitu = 'z';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kitu -= 32;   // 'z' -&gt; 'Z'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Thư viện ctype.h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 (true) /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(false), trừ </a:t>
            </a:r>
            <a:r>
              <a:rPr sz="1900" b="0">
                <a:solidFill>
                  <a:srgbClr val="3598DB"/>
                </a:solidFill>
                <a:latin typeface="Consolas"/>
              </a:rPr>
              <a:t>tolower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toupper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tolower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toupper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mã ASCII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ký tự đã đổi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islower(c)   // c là chữ in thường?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isupper(c)   // c là chữ in hoa?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isalpha(c)   // c là chữ cái?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isdigit(c)   // c là chữ số?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isalnum(c)   // c là chữ số hoặc chữ cái?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tolower(c)   // -&gt; mã ASCII chữ thường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toupper(c)   // -&gt; mã ASCII chữ hoa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dùng hàm có sẵn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if(isupper(c))  cout &lt;&lt; "YES\n"; else cout &lt;&lt; "NO\n";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if(islower(d))  cout &lt;&lt; "YES\n"; else cout &lt;&lt; "NO\n";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 = tolower(c);   // 'A' -&gt;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 = toupper(d);   // 'z' -&gt; 'Z'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 lưu số nguyên là mã ASCII, ép kiểu </a:t>
            </a:r>
            <a:r>
              <a:rPr sz="1709" b="0">
                <a:solidFill>
                  <a:srgbClr val="3598DB"/>
                </a:solidFill>
                <a:latin typeface="Consolas"/>
              </a:rPr>
              <a:t>(int)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xem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mốc cần nhớ: </a:t>
            </a:r>
            <a:r>
              <a:rPr sz="1709" b="0">
                <a:solidFill>
                  <a:srgbClr val="3598DB"/>
                </a:solidFill>
                <a:latin typeface="Consolas"/>
              </a:rPr>
              <a:t>a-z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A-Z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0-9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Hoa/thường lệch nhau đúng </a:t>
            </a:r>
            <a:r>
              <a:rPr sz="1800" b="1">
                <a:solidFill>
                  <a:srgbClr val="222B38"/>
                </a:solidFill>
                <a:latin typeface="Calibri"/>
              </a:rPr>
              <a:t>32</a:t>
            </a:r>
            <a:r>
              <a:rPr sz="1800" b="0">
                <a:solidFill>
                  <a:srgbClr val="222B38"/>
                </a:solidFill>
                <a:latin typeface="Calibri"/>
              </a:rPr>
              <a:t> đơn vị mã ASCII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ctype.h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sẵn hàm kiểm tra/chuyển đổi, nên hiểu bản chất trước khi dùng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