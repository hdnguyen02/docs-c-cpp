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 Trận Và Mảng 2 Chiều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Bảng số gồm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hàng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, ký hiệu ma trận cỡ n×m là A(n×m)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trong C++ bằng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2 chiều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</a:t>
            </a:r>
            <a:r>
              <a:rPr sz="2000" b="1">
                <a:solidFill>
                  <a:srgbClr val="222B38"/>
                </a:solidFill>
                <a:latin typeface="Calibri"/>
              </a:rPr>
              <a:t>vuông</a:t>
            </a:r>
            <a:r>
              <a:rPr sz="2000" b="0">
                <a:solidFill>
                  <a:srgbClr val="222B38"/>
                </a:solidFill>
                <a:latin typeface="Calibri"/>
              </a:rPr>
              <a:t>: số hàng bằng số cột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a[i][j]: i = hàng (0..2), j = cột (0..2)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Đường chéo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Gồm các phần tử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số hàng = chỉ số 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a[i][i]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xét được trên ma trận </a:t>
            </a:r>
            <a:r>
              <a:rPr sz="2000" b="1">
                <a:solidFill>
                  <a:srgbClr val="222B38"/>
                </a:solidFill>
                <a:latin typeface="Calibri"/>
              </a:rPr>
              <a:t>vuông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5 nằm trên đường chéo chính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đường chéo chính: a[0][0]=1  a[1][1]=5  a[2][2]=9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(nt(a[i][i])) cout &lt;&lt; a[i][i] &lt;&lt; " ";   // lọc số nguyên tố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Đường chéo phụ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Gồm các phần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a[i][n-i-1]</a:t>
            </a:r>
            <a:r>
              <a:rPr sz="2000" b="0">
                <a:solidFill>
                  <a:srgbClr val="222B38"/>
                </a:solidFill>
                <a:latin typeface="Calibri"/>
              </a:rPr>
              <a:t> — hàng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cột đối xứng qua tâm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n = 3: đó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a[0][2]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a[1][1]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a[2][0]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a[3][3]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3},   // 3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5, 6},   // 5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{7, 8, 9}    // 7 nằm trên đường chéo phụ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(nt(a[i][n - i - 1])) cout &lt;&lt; a[i][n - i - 1] &lt;&lt; " ";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Tam giác dưới, tam giác trên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Tam giác dưới</a:t>
            </a:r>
            <a:r>
              <a:rPr sz="2000" b="0">
                <a:solidFill>
                  <a:srgbClr val="222B38"/>
                </a:solidFill>
                <a:latin typeface="Calibri"/>
              </a:rPr>
              <a:t>: từ đường chéo chính đổ xuống, 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j &lt;=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Tam giác trên</a:t>
            </a:r>
            <a:r>
              <a:rPr sz="2000" b="0">
                <a:solidFill>
                  <a:srgbClr val="222B38"/>
                </a:solidFill>
                <a:latin typeface="Calibri"/>
              </a:rPr>
              <a:t>: từ đường chéo chính đổ lên, điều kiện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j &gt;= 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Tam giác dưới: j chạy từ 0 đến 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&lt;= i; j++) tong += a[i][j];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Tam giác trên: j chạy từ i đến n-1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i; j &lt; n; j++) tong += a[i][j];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chuyển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A(n×m) → chuyển vị AT(m×n)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Hàng của A trở thành cột của AT: </a:t>
            </a:r>
            <a:r>
              <a:rPr sz="1900" b="0">
                <a:solidFill>
                  <a:srgbClr val="3598DB"/>
                </a:solidFill>
                <a:latin typeface="Consolas"/>
              </a:rPr>
              <a:t>b[i][j] = a[j][i]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a[3][4] = { ... };   // n=3 hàng, m=4 cột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b[4][3];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m;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j = 0;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b[i][j] = a[j][i];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Và Mảng 2 Chiều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Ma trận = mảng 2 chiều; ma trận </a:t>
            </a:r>
            <a:r>
              <a:rPr sz="1800" b="1">
                <a:solidFill>
                  <a:srgbClr val="222B38"/>
                </a:solidFill>
                <a:latin typeface="Calibri"/>
              </a:rPr>
              <a:t>vuông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số hàng = 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Đường chéo chính: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a[i][i]</a:t>
            </a:r>
            <a:r>
              <a:rPr sz="1800" b="0">
                <a:solidFill>
                  <a:srgbClr val="222B38"/>
                </a:solidFill>
                <a:latin typeface="Calibri"/>
              </a:rPr>
              <a:t>; đường chéo phụ: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a[i][n-i-1]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Tam giác dưới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j &lt;= i</a:t>
            </a:r>
            <a:r>
              <a:rPr sz="1800" b="0">
                <a:solidFill>
                  <a:srgbClr val="222B38"/>
                </a:solidFill>
                <a:latin typeface="Calibri"/>
              </a:rPr>
              <a:t>, tam giác trên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j &gt;= 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Chuyển vị: đổi vai trò hàng-cột, kích thước mảng kết quả cũng đổi theo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