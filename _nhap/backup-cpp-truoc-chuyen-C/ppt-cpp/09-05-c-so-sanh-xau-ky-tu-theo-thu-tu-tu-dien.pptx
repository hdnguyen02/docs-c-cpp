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So Sánh Xâu Ký Tự Theo Thứ Tự Từ Điển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C++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Thứ tự từ điển là gì?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So Sánh Xâu Ký Tự Theo Thứ Tự Từ Điển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Giống thứ tự abc trong bảng chữ cái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So sánh dựa vào </a:t>
            </a:r>
            <a:r>
              <a:rPr sz="2000" b="1">
                <a:solidFill>
                  <a:srgbClr val="222B38"/>
                </a:solidFill>
                <a:latin typeface="Calibri"/>
              </a:rPr>
              <a:t>ký tự khác nhau đầu tiên</a:t>
            </a:r>
            <a:r>
              <a:rPr sz="2000" b="0">
                <a:solidFill>
                  <a:srgbClr val="222B38"/>
                </a:solidFill>
                <a:latin typeface="Calibri"/>
              </a:rPr>
              <a:t> của 2 xâu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Thứ tự ký tự được quy định bởi mã </a:t>
            </a:r>
            <a:r>
              <a:rPr sz="2000" b="1">
                <a:solidFill>
                  <a:srgbClr val="222B38"/>
                </a:solidFill>
                <a:latin typeface="Calibri"/>
              </a:rPr>
              <a:t>ASCII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Quy tắc so sánh 2 xâu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So Sánh Xâu Ký Tự Theo Thứ Tự Từ Điển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Cùng độ dài, giống mọi ký tự → </a:t>
            </a:r>
            <a:r>
              <a:rPr sz="1800" b="1">
                <a:solidFill>
                  <a:srgbClr val="222B38"/>
                </a:solidFill>
                <a:latin typeface="Calibri"/>
              </a:rPr>
              <a:t>bằng nhau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Ký tự khác nhau đầu tiên quyết định xâu nào lớn hơn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Không có ký tự khác nhau → xâu </a:t>
            </a:r>
            <a:r>
              <a:rPr sz="1800" b="1">
                <a:solidFill>
                  <a:srgbClr val="222B38"/>
                </a:solidFill>
                <a:latin typeface="Calibri"/>
              </a:rPr>
              <a:t>dài hơn</a:t>
            </a:r>
            <a:r>
              <a:rPr sz="1800" b="0">
                <a:solidFill>
                  <a:srgbClr val="222B38"/>
                </a:solidFill>
                <a:latin typeface="Calibri"/>
              </a:rPr>
              <a:t> lớn hơn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Chữ hoa và chữ thường có thứ tự từ điển khác nhau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Ví dụ minh hoạ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So Sánh Xâu Ký Tự Theo Thứ Tự Từ Điển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212848"/>
            <a:ext cx="10765231" cy="151993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59152"/>
            <a:ext cx="10362895" cy="1227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"codelab" &gt; "codelabzzz"        // 't' thuong &gt; 'T' hoa (ASCII)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"lan" &lt; "lan di hoc lap trinh"  // la tien to, ngan hon nen nho hon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"codelab" &gt; "27tech"            // '8' &gt; '7' tai vi tri thu 2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"codelab java" &lt; "codelab@"      // ' ' (32) &lt; '@' (64)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So sánh bằng toán tử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So Sánh Xâu Ký Tự Theo Thứ Tự Từ Điển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695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Dùng trực tiếp </a:t>
            </a:r>
            <a:r>
              <a:rPr sz="1900" b="0">
                <a:solidFill>
                  <a:srgbClr val="3598DB"/>
                </a:solidFill>
                <a:latin typeface="Consolas"/>
              </a:rPr>
              <a:t>==</a:t>
            </a:r>
            <a:r>
              <a:rPr sz="2000" b="0">
                <a:solidFill>
                  <a:srgbClr val="222B38"/>
                </a:solidFill>
                <a:latin typeface="Calibri"/>
              </a:rPr>
              <a:t>, </a:t>
            </a:r>
            <a:r>
              <a:rPr sz="1900" b="0">
                <a:solidFill>
                  <a:srgbClr val="3598DB"/>
                </a:solidFill>
                <a:latin typeface="Consolas"/>
              </a:rPr>
              <a:t>!=</a:t>
            </a:r>
            <a:r>
              <a:rPr sz="2000" b="0">
                <a:solidFill>
                  <a:srgbClr val="222B38"/>
                </a:solidFill>
                <a:latin typeface="Calibri"/>
              </a:rPr>
              <a:t>, </a:t>
            </a:r>
            <a:r>
              <a:rPr sz="1900" b="0">
                <a:solidFill>
                  <a:srgbClr val="3598DB"/>
                </a:solidFill>
                <a:latin typeface="Consolas"/>
              </a:rPr>
              <a:t>&lt;</a:t>
            </a:r>
            <a:r>
              <a:rPr sz="2000" b="0">
                <a:solidFill>
                  <a:srgbClr val="222B38"/>
                </a:solidFill>
                <a:latin typeface="Calibri"/>
              </a:rPr>
              <a:t>, </a:t>
            </a:r>
            <a:r>
              <a:rPr sz="1900" b="0">
                <a:solidFill>
                  <a:srgbClr val="3598DB"/>
                </a:solidFill>
                <a:latin typeface="Consolas"/>
              </a:rPr>
              <a:t>&gt;</a:t>
            </a:r>
            <a:r>
              <a:rPr sz="2000" b="0">
                <a:solidFill>
                  <a:srgbClr val="222B38"/>
                </a:solidFill>
                <a:latin typeface="Calibri"/>
              </a:rPr>
              <a:t> như so sánh số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954527"/>
            <a:ext cx="10765231" cy="1231392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100831"/>
            <a:ext cx="10362895" cy="9387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("codelab" == "codelab")       // true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("codelababc" &lt; "codelabza")   // true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("codelab" &lt; "codelab")        // true, hoa &lt; thuong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Hàm </a:t>
            </a:r>
            <a:r>
              <a:rPr sz="2565" b="1">
                <a:solidFill>
                  <a:srgbClr val="3598DB"/>
                </a:solidFill>
                <a:latin typeface="Consolas"/>
              </a:rPr>
              <a:t>compare()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So Sánh Xâu Ký Tự Theo Thứ Tự Từ Điển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036419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s.compare(t)</a:t>
            </a:r>
            <a:r>
              <a:rPr sz="2000" b="0">
                <a:solidFill>
                  <a:srgbClr val="222B38"/>
                </a:solidFill>
                <a:latin typeface="Calibri"/>
              </a:rPr>
              <a:t> trả về </a:t>
            </a:r>
            <a:r>
              <a:rPr sz="2000" b="1">
                <a:solidFill>
                  <a:srgbClr val="222B38"/>
                </a:solidFill>
                <a:latin typeface="Calibri"/>
              </a:rPr>
              <a:t>0</a:t>
            </a:r>
            <a:r>
              <a:rPr sz="2000" b="0">
                <a:solidFill>
                  <a:srgbClr val="222B38"/>
                </a:solidFill>
                <a:latin typeface="Calibri"/>
              </a:rPr>
              <a:t> nếu 2 xâu bằng nhau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Trả </a:t>
            </a:r>
            <a:r>
              <a:rPr sz="2000" b="1">
                <a:solidFill>
                  <a:srgbClr val="222B38"/>
                </a:solidFill>
                <a:latin typeface="Calibri"/>
              </a:rPr>
              <a:t>dương</a:t>
            </a:r>
            <a:r>
              <a:rPr sz="2000" b="0">
                <a:solidFill>
                  <a:srgbClr val="222B38"/>
                </a:solidFill>
                <a:latin typeface="Calibri"/>
              </a:rPr>
              <a:t> nếu </a:t>
            </a:r>
            <a:r>
              <a:rPr sz="1900" b="0">
                <a:solidFill>
                  <a:srgbClr val="3598DB"/>
                </a:solidFill>
                <a:latin typeface="Consolas"/>
              </a:rPr>
              <a:t>s</a:t>
            </a:r>
            <a:r>
              <a:rPr sz="2000" b="0">
                <a:solidFill>
                  <a:srgbClr val="222B38"/>
                </a:solidFill>
                <a:latin typeface="Calibri"/>
              </a:rPr>
              <a:t> lớn hơn </a:t>
            </a:r>
            <a:r>
              <a:rPr sz="1900" b="0">
                <a:solidFill>
                  <a:srgbClr val="3598DB"/>
                </a:solidFill>
                <a:latin typeface="Consolas"/>
              </a:rPr>
              <a:t>t</a:t>
            </a:r>
            <a:r>
              <a:rPr sz="2000" b="0">
                <a:solidFill>
                  <a:srgbClr val="222B38"/>
                </a:solidFill>
                <a:latin typeface="Calibri"/>
              </a:rPr>
              <a:t> theo từ điển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Trả </a:t>
            </a:r>
            <a:r>
              <a:rPr sz="2000" b="1">
                <a:solidFill>
                  <a:srgbClr val="222B38"/>
                </a:solidFill>
                <a:latin typeface="Calibri"/>
              </a:rPr>
              <a:t>âm</a:t>
            </a:r>
            <a:r>
              <a:rPr sz="2000" b="0">
                <a:solidFill>
                  <a:srgbClr val="222B38"/>
                </a:solidFill>
                <a:latin typeface="Calibri"/>
              </a:rPr>
              <a:t> nếu </a:t>
            </a:r>
            <a:r>
              <a:rPr sz="1900" b="0">
                <a:solidFill>
                  <a:srgbClr val="3598DB"/>
                </a:solidFill>
                <a:latin typeface="Consolas"/>
              </a:rPr>
              <a:t>s</a:t>
            </a:r>
            <a:r>
              <a:rPr sz="2000" b="0">
                <a:solidFill>
                  <a:srgbClr val="222B38"/>
                </a:solidFill>
                <a:latin typeface="Calibri"/>
              </a:rPr>
              <a:t> nhỏ hơn </a:t>
            </a:r>
            <a:r>
              <a:rPr sz="1900" b="0">
                <a:solidFill>
                  <a:srgbClr val="3598DB"/>
                </a:solidFill>
                <a:latin typeface="Consolas"/>
              </a:rPr>
              <a:t>t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804259"/>
            <a:ext cx="10765231" cy="151993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50563"/>
            <a:ext cx="10362895" cy="1227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string s = "codelab", t = "codelab", p = "codelab";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s.compare(p);  // 0  (bang nhau)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s.compare(t);  // 1  (s &gt; t)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t.compare(p);  // -1 (t &lt; p)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So Sánh Xâu Ký Tự Theo Thứ Tự Từ Điển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So sánh xâu dựa vào </a:t>
            </a:r>
            <a:r>
              <a:rPr sz="1800" b="1">
                <a:solidFill>
                  <a:srgbClr val="222B38"/>
                </a:solidFill>
                <a:latin typeface="Calibri"/>
              </a:rPr>
              <a:t>ký tự khác nhau đầu tiên</a:t>
            </a:r>
            <a:r>
              <a:rPr sz="1800" b="0">
                <a:solidFill>
                  <a:srgbClr val="222B38"/>
                </a:solidFill>
                <a:latin typeface="Calibri"/>
              </a:rPr>
              <a:t>, không phải độ dài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Không có ký tự khác nhau thì xâu </a:t>
            </a:r>
            <a:r>
              <a:rPr sz="1800" b="1">
                <a:solidFill>
                  <a:srgbClr val="222B38"/>
                </a:solidFill>
                <a:latin typeface="Calibri"/>
              </a:rPr>
              <a:t>dài hơn</a:t>
            </a:r>
            <a:r>
              <a:rPr sz="1800" b="0">
                <a:solidFill>
                  <a:srgbClr val="222B38"/>
                </a:solidFill>
                <a:latin typeface="Calibri"/>
              </a:rPr>
              <a:t> sẽ lớn hơn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Hoa và thường khác thứ tự từ điển theo </a:t>
            </a:r>
            <a:r>
              <a:rPr sz="1800" b="1">
                <a:solidFill>
                  <a:srgbClr val="222B38"/>
                </a:solidFill>
                <a:latin typeface="Calibri"/>
              </a:rPr>
              <a:t>ASCII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Dùng toán tử so sánh trực tiếp hoặc hàm </a:t>
            </a:r>
            <a:r>
              <a:rPr sz="1709" b="0">
                <a:solidFill>
                  <a:srgbClr val="3598DB"/>
                </a:solidFill>
                <a:latin typeface="Consolas"/>
              </a:rPr>
              <a:t>compare()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