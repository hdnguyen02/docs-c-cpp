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Range-based for loop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Range-based for loop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Range-based for loop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thể </a:t>
            </a:r>
            <a:r>
              <a:rPr sz="1800" b="1">
                <a:solidFill>
                  <a:srgbClr val="222B38"/>
                </a:solidFill>
                <a:latin typeface="Calibri"/>
              </a:rPr>
              <a:t>ngắn gọn hơn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for</a:t>
            </a:r>
            <a:r>
              <a:rPr sz="1800" b="0">
                <a:solidFill>
                  <a:srgbClr val="222B38"/>
                </a:solidFill>
                <a:latin typeface="Calibri"/>
              </a:rPr>
              <a:t> truyền thống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tuần tự phần tử trong mảng hoặc container (</a:t>
            </a:r>
            <a:r>
              <a:rPr sz="1709" b="0">
                <a:solidFill>
                  <a:srgbClr val="3598DB"/>
                </a:solidFill>
                <a:latin typeface="Consolas"/>
              </a:rPr>
              <a:t>vector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set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map</a:t>
            </a:r>
            <a:r>
              <a:rPr sz="1800" b="0">
                <a:solidFill>
                  <a:srgbClr val="222B38"/>
                </a:solidFill>
                <a:latin typeface="Calibri"/>
              </a:rPr>
              <a:t>...)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biên dịch chuẩn </a:t>
            </a:r>
            <a:r>
              <a:rPr sz="1800" b="1">
                <a:solidFill>
                  <a:srgbClr val="222B38"/>
                </a:solidFill>
                <a:latin typeface="Calibri"/>
              </a:rPr>
              <a:t>C++11</a:t>
            </a:r>
            <a:r>
              <a:rPr sz="1800" b="0">
                <a:solidFill>
                  <a:srgbClr val="222B38"/>
                </a:solidFill>
                <a:latin typeface="Calibri"/>
              </a:rPr>
              <a:t> trở lên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 và các thành phần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Range-based for loop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range_declaration</a:t>
            </a:r>
            <a:r>
              <a:rPr sz="2000" b="0">
                <a:solidFill>
                  <a:srgbClr val="222B38"/>
                </a:solidFill>
                <a:latin typeface="Calibri"/>
              </a:rPr>
              <a:t>: biến tạm nhận giá trị mỗi phần tử mỗi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range_expression</a:t>
            </a:r>
            <a:r>
              <a:rPr sz="2000" b="0">
                <a:solidFill>
                  <a:srgbClr val="222B38"/>
                </a:solidFill>
                <a:latin typeface="Calibri"/>
              </a:rPr>
              <a:t>: mảng/container cần duyệt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code</a:t>
            </a:r>
            <a:r>
              <a:rPr sz="2000" b="0">
                <a:solidFill>
                  <a:srgbClr val="222B38"/>
                </a:solidFill>
                <a:latin typeface="Calibri"/>
              </a:rPr>
              <a:t>: thân lệnh chạy mỗi lần lặp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(range_declaration : range_expression)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Duyệt mảng bằng range-based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Range-based for loop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5150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được với mảng kiểu cơ bản (</a:t>
            </a:r>
            <a:r>
              <a:rPr sz="1709" b="0">
                <a:solidFill>
                  <a:srgbClr val="3598DB"/>
                </a:solidFill>
                <a:latin typeface="Consolas"/>
              </a:rPr>
              <a:t>int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</a:t>
            </a:r>
            <a:r>
              <a:rPr sz="1800" b="0">
                <a:solidFill>
                  <a:srgbClr val="222B38"/>
                </a:solidFill>
                <a:latin typeface="Calibri"/>
              </a:rPr>
              <a:t>) hoặc kiểu phức tạp (</a:t>
            </a:r>
            <a:r>
              <a:rPr sz="1709" b="0">
                <a:solidFill>
                  <a:srgbClr val="3598DB"/>
                </a:solidFill>
                <a:latin typeface="Consolas"/>
              </a:rPr>
              <a:t>pair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cần quản lý chỉ số như </a:t>
            </a:r>
            <a:r>
              <a:rPr sz="1709" b="0">
                <a:solidFill>
                  <a:srgbClr val="3598DB"/>
                </a:solidFill>
                <a:latin typeface="Consolas"/>
              </a:rPr>
              <a:t>for</a:t>
            </a:r>
            <a:r>
              <a:rPr sz="1800" b="0">
                <a:solidFill>
                  <a:srgbClr val="222B38"/>
                </a:solidFill>
                <a:latin typeface="Calibri"/>
              </a:rPr>
              <a:t> truyền thống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23870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70174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a[5] = {10, 20, 30, 40, 50};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x : a) cout &lt;&lt; x &lt;&lt; "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10 20 30 40 50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pair&lt;int, int&gt; c[3] = {{1, 2}, {2, 3}, {3, 4}};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(pair&lt;int, int&gt; it : c)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it.first &lt;&lt; " " &lt;&lt; it.second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Duyệt container bằng range-based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Range-based for loop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Áp dụng tương tự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vector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các container khác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Cú pháp không đổi dù kiểu dữ liệu chứa bên trong khác nhau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v1 = {1, 2, 3, 4, 5};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x : v1) cout &lt;&lt; x &lt;&lt; "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 2 3 4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tạm chỉ là bản sao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Range-based for loop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Biến trong </a:t>
            </a:r>
            <a:r>
              <a:rPr sz="1900" b="0">
                <a:solidFill>
                  <a:srgbClr val="3598DB"/>
                </a:solidFill>
                <a:latin typeface="Consolas"/>
              </a:rPr>
              <a:t>range_declaration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bản sao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phần tử mỗi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Sửa biến tạm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</a:t>
            </a:r>
            <a:r>
              <a:rPr sz="2000" b="0">
                <a:solidFill>
                  <a:srgbClr val="222B38"/>
                </a:solidFill>
                <a:latin typeface="Calibri"/>
              </a:rPr>
              <a:t> làm thay đổi phần tử gốc trong mảng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a[6] = {'2','8','t','e','c','h'};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(char x : a)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x = '@';   // chi doi ban sao x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mang a khong doi: 2 8 t e c 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Dùng tham chiếu để sửa được phần tử gốc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Range-based for loop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Thêm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biến tạm để nó </a:t>
            </a:r>
            <a:r>
              <a:rPr sz="2000" b="1">
                <a:solidFill>
                  <a:srgbClr val="222B38"/>
                </a:solidFill>
                <a:latin typeface="Calibri"/>
              </a:rPr>
              <a:t>tham chiếu</a:t>
            </a:r>
            <a:r>
              <a:rPr sz="2000" b="0">
                <a:solidFill>
                  <a:srgbClr val="222B38"/>
                </a:solidFill>
                <a:latin typeface="Calibri"/>
              </a:rPr>
              <a:t> tới phần tử thật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Khi đó thay đổi biến tạm sẽ thay đổi luôn phần tử trong mảng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a[6] = {'2','8','t','e','c','h'};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(char &amp;x : a)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x = '@';   // sua truc tiep phan tu that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mang a doi thanh: @ @ @ @ @ @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Range-based for loop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Range-based for gọn hơn </a:t>
            </a:r>
            <a:r>
              <a:rPr sz="1709" b="0">
                <a:solidFill>
                  <a:srgbClr val="3598DB"/>
                </a:solidFill>
                <a:latin typeface="Consolas"/>
              </a:rPr>
              <a:t>for</a:t>
            </a:r>
            <a:r>
              <a:rPr sz="1800" b="0">
                <a:solidFill>
                  <a:srgbClr val="222B38"/>
                </a:solidFill>
                <a:latin typeface="Calibri"/>
              </a:rPr>
              <a:t> thường nhưng cần C++11+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có biến </a:t>
            </a:r>
            <a:r>
              <a:rPr sz="1709" b="0">
                <a:solidFill>
                  <a:srgbClr val="3598DB"/>
                </a:solidFill>
                <a:latin typeface="Consolas"/>
              </a:rPr>
              <a:t>&amp;x</a:t>
            </a:r>
            <a:r>
              <a:rPr sz="1800" b="0">
                <a:solidFill>
                  <a:srgbClr val="222B38"/>
                </a:solidFill>
                <a:latin typeface="Calibri"/>
              </a:rPr>
              <a:t> thì chỉ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đọc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</a:t>
            </a:r>
            <a:r>
              <a:rPr sz="1800" b="1">
                <a:solidFill>
                  <a:srgbClr val="222B38"/>
                </a:solidFill>
                <a:latin typeface="Calibri"/>
              </a:rPr>
              <a:t>sửa</a:t>
            </a:r>
            <a:r>
              <a:rPr sz="1800" b="0">
                <a:solidFill>
                  <a:srgbClr val="222B38"/>
                </a:solidFill>
                <a:latin typeface="Calibri"/>
              </a:rPr>
              <a:t> được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Thêm </a:t>
            </a:r>
            <a:r>
              <a:rPr sz="1709" b="0">
                <a:solidFill>
                  <a:srgbClr val="3598DB"/>
                </a:solidFill>
                <a:latin typeface="Consolas"/>
              </a:rPr>
              <a:t>&amp;</a:t>
            </a:r>
            <a:r>
              <a:rPr sz="1800" b="0">
                <a:solidFill>
                  <a:srgbClr val="222B38"/>
                </a:solidFill>
                <a:latin typeface="Calibri"/>
              </a:rPr>
              <a:t> trước biến tạm khi cần thay đổi phần tử gốc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Cũng dùng được 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string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map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set</a:t>
            </a:r>
            <a:r>
              <a:rPr sz="1800" b="0">
                <a:solidFill>
                  <a:srgbClr val="222B38"/>
                </a:solidFill>
                <a:latin typeface="Calibri"/>
              </a:rPr>
              <a:t>... theo cùng cú pháp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