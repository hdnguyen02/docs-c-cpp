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Kiểu Dữ Liệu Suy Luận Auto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Từ khóa auto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 Suy Luận Auto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Từ </a:t>
            </a:r>
            <a:r>
              <a:rPr sz="1800" b="1">
                <a:solidFill>
                  <a:srgbClr val="222B38"/>
                </a:solidFill>
                <a:latin typeface="Calibri"/>
              </a:rPr>
              <a:t>C++11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auto</a:t>
            </a:r>
            <a:r>
              <a:rPr sz="1800" b="0">
                <a:solidFill>
                  <a:srgbClr val="222B38"/>
                </a:solidFill>
                <a:latin typeface="Calibri"/>
              </a:rPr>
              <a:t> tự suy luận kiểu dữ liệu qua giá trị gán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Giống cách khai báo biến ở Python (Dynamically Typed)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Kiểu dữ liệu được xác định lúc </a:t>
            </a:r>
            <a:r>
              <a:rPr sz="1800" b="1">
                <a:solidFill>
                  <a:srgbClr val="222B38"/>
                </a:solidFill>
                <a:latin typeface="Calibri"/>
              </a:rPr>
              <a:t>runtime</a:t>
            </a:r>
            <a:r>
              <a:rPr sz="1800" b="0">
                <a:solidFill>
                  <a:srgbClr val="222B38"/>
                </a:solidFill>
                <a:latin typeface="Calibri"/>
              </a:rPr>
              <a:t> thay vì compile-time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Bắt buộc</a:t>
            </a:r>
            <a:r>
              <a:rPr sz="1800" b="0">
                <a:solidFill>
                  <a:srgbClr val="222B38"/>
                </a:solidFill>
                <a:latin typeface="Calibri"/>
              </a:rPr>
              <a:t> phải khởi tạo giá trị khi khai báo biến </a:t>
            </a:r>
            <a:r>
              <a:rPr sz="1709" b="0">
                <a:solidFill>
                  <a:srgbClr val="3598DB"/>
                </a:solidFill>
                <a:latin typeface="Consolas"/>
              </a:rPr>
              <a:t>auto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suy luận kiểu qua auto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 Suy Luận Auto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typeid(x).name()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biết kiểu dữ liệu thật của biến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biến </a:t>
            </a:r>
            <a:r>
              <a:rPr sz="1900" b="0">
                <a:solidFill>
                  <a:srgbClr val="3598DB"/>
                </a:solidFill>
                <a:latin typeface="Consolas"/>
              </a:rPr>
              <a:t>auto</a:t>
            </a:r>
            <a:r>
              <a:rPr sz="2000" b="0">
                <a:solidFill>
                  <a:srgbClr val="222B38"/>
                </a:solidFill>
                <a:latin typeface="Calibri"/>
              </a:rPr>
              <a:t> nhận kiểu theo giá trị được gán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x = 100;             // 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y = 30.5f;           // float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z = '@';              // char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t = 1000000000000000; // long long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p = make_pair(10, 20); // pair&lt;int,int&gt;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l = 30.5d;            // double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Auto thay cho pair và con trỏ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 Suy Luận Auto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auto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thay các kiểu </a:t>
            </a:r>
            <a:r>
              <a:rPr sz="2000" b="1">
                <a:solidFill>
                  <a:srgbClr val="222B38"/>
                </a:solidFill>
                <a:latin typeface="Calibri"/>
              </a:rPr>
              <a:t>dài dòng</a:t>
            </a:r>
            <a:r>
              <a:rPr sz="2000" b="0">
                <a:solidFill>
                  <a:srgbClr val="222B38"/>
                </a:solidFill>
                <a:latin typeface="Calibri"/>
              </a:rPr>
              <a:t>: pair, iterator, con trỏ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Kiểu con trỏ được suy ra từ biến được tham chiếu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p = make_pair(10, 20);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ptr1 = &amp;n;    // ptr1 la con tro int (Pi)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ptr2 = &amp;ptr1; // ptr2 la con tro cap 2 (PPi)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Auto và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 Suy Luận Auto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8121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auto x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range-based for: </a:t>
            </a:r>
            <a:r>
              <a:rPr sz="1709" b="0">
                <a:solidFill>
                  <a:srgbClr val="3598DB"/>
                </a:solidFill>
                <a:latin typeface="Consolas"/>
              </a:rPr>
              <a:t>x</a:t>
            </a:r>
            <a:r>
              <a:rPr sz="1800" b="0">
                <a:solidFill>
                  <a:srgbClr val="222B38"/>
                </a:solidFill>
                <a:latin typeface="Calibri"/>
              </a:rPr>
              <a:t> mang kiểu phần tử của vector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auto it = v.begin()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</a:t>
            </a:r>
            <a:r>
              <a:rPr sz="1709" b="0">
                <a:solidFill>
                  <a:srgbClr val="3598DB"/>
                </a:solidFill>
                <a:latin typeface="Consolas"/>
              </a:rPr>
              <a:t>it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iterator</a:t>
            </a:r>
            <a:r>
              <a:rPr sz="1800" b="0">
                <a:solidFill>
                  <a:srgbClr val="222B38"/>
                </a:solidFill>
                <a:latin typeface="Calibri"/>
              </a:rPr>
              <a:t>, cần giải tham chiếu </a:t>
            </a:r>
            <a:r>
              <a:rPr sz="1709" b="0">
                <a:solidFill>
                  <a:srgbClr val="3598DB"/>
                </a:solidFill>
                <a:latin typeface="Consolas"/>
              </a:rPr>
              <a:t>*it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26841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3145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 = {1, 2, 3, 4, 5};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(auto x : v) cout &lt;&lt; x &lt;&lt; ' ';         // duyet gia tri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(auto it = v.begin(); it != v.end(); ++it)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*it &lt;&lt; ' ';                     // duyet bang iterator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Auto và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 Suy Luận Auto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auto x</a:t>
            </a:r>
            <a:r>
              <a:rPr sz="2000" b="0">
                <a:solidFill>
                  <a:srgbClr val="222B38"/>
                </a:solidFill>
                <a:latin typeface="Calibri"/>
              </a:rPr>
              <a:t> khi duyệt </a:t>
            </a:r>
            <a:r>
              <a:rPr sz="1900" b="0">
                <a:solidFill>
                  <a:srgbClr val="3598DB"/>
                </a:solidFill>
                <a:latin typeface="Consolas"/>
              </a:rPr>
              <a:t>set&lt;string&gt;</a:t>
            </a:r>
            <a:r>
              <a:rPr sz="2000" b="0">
                <a:solidFill>
                  <a:srgbClr val="222B38"/>
                </a:solidFill>
                <a:latin typeface="Calibri"/>
              </a:rPr>
              <a:t> thì </a:t>
            </a:r>
            <a:r>
              <a:rPr sz="1900" b="0">
                <a:solidFill>
                  <a:srgbClr val="3598DB"/>
                </a:solidFill>
                <a:latin typeface="Consolas"/>
              </a:rPr>
              <a:t>x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kiểu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string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auto pos = se.find(...)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về kiểu </a:t>
            </a:r>
            <a:r>
              <a:rPr sz="1900" b="0">
                <a:solidFill>
                  <a:srgbClr val="3598DB"/>
                </a:solidFill>
                <a:latin typeface="Consolas"/>
              </a:rPr>
              <a:t>set::iterator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set&lt;string&gt; se = {"codelab", "c++", "python", "java"};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(auto x : se) cout &lt;&lt; x &lt;&lt;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pos = se.find("codelab");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(pos == se.end()) cout &lt;&lt; "NOT FOUND";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cout &lt;&lt; "FOUND";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Auto và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 Suy Luận Auto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auto p</a:t>
            </a:r>
            <a:r>
              <a:rPr sz="2000" b="0">
                <a:solidFill>
                  <a:srgbClr val="222B38"/>
                </a:solidFill>
                <a:latin typeface="Calibri"/>
              </a:rPr>
              <a:t> khi duyệt map thì </a:t>
            </a:r>
            <a:r>
              <a:rPr sz="1900" b="0">
                <a:solidFill>
                  <a:srgbClr val="3598DB"/>
                </a:solidFill>
                <a:latin typeface="Consolas"/>
              </a:rPr>
              <a:t>p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kiểu </a:t>
            </a:r>
            <a:r>
              <a:rPr sz="1900" b="0">
                <a:solidFill>
                  <a:srgbClr val="3598DB"/>
                </a:solidFill>
                <a:latin typeface="Consolas"/>
              </a:rPr>
              <a:t>pair&lt;key, value&gt;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auto it = mp.begin()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map::iterator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it-&gt;first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it-&gt;second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map&lt;string, string&gt;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mp.insert({"codelab", "codelab.dev"});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(auto p : mp) cout &lt;&lt; p.first &lt;&lt; ' ' &lt;&lt; p.second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(auto it = mp.begin(); it != mp.end(); ++it)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it-&gt;first &lt;&lt; ' ' &lt;&lt; it-&gt;second &lt;&lt; endl;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 Suy Luận Auto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auto</a:t>
            </a:r>
            <a:r>
              <a:rPr sz="1800" b="0">
                <a:solidFill>
                  <a:srgbClr val="222B38"/>
                </a:solidFill>
                <a:latin typeface="Calibri"/>
              </a:rPr>
              <a:t> tự suy luận kiểu dữ liệu từ giá trị khởi tạo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</a:t>
            </a:r>
            <a:r>
              <a:rPr sz="1709" b="0">
                <a:solidFill>
                  <a:srgbClr val="3598DB"/>
                </a:solidFill>
                <a:latin typeface="Consolas"/>
              </a:rPr>
              <a:t>auto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800" b="1">
                <a:solidFill>
                  <a:srgbClr val="222B38"/>
                </a:solidFill>
                <a:latin typeface="Calibri"/>
              </a:rPr>
              <a:t>phải khởi tạo 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 ngay khi khai báo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auto</a:t>
            </a:r>
            <a:r>
              <a:rPr sz="1800" b="0">
                <a:solidFill>
                  <a:srgbClr val="222B38"/>
                </a:solidFill>
                <a:latin typeface="Calibri"/>
              </a:rPr>
              <a:t> thay cho kiểu dài dòng: </a:t>
            </a:r>
            <a:r>
              <a:rPr sz="1709" b="0">
                <a:solidFill>
                  <a:srgbClr val="3598DB"/>
                </a:solidFill>
                <a:latin typeface="Consolas"/>
              </a:rPr>
              <a:t>pair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iterator</a:t>
            </a:r>
            <a:r>
              <a:rPr sz="1800" b="0">
                <a:solidFill>
                  <a:srgbClr val="222B38"/>
                </a:solidFill>
                <a:latin typeface="Calibri"/>
              </a:rPr>
              <a:t>, con trỏ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Với container (vector/set/map), </a:t>
            </a:r>
            <a:r>
              <a:rPr sz="1709" b="0">
                <a:solidFill>
                  <a:srgbClr val="3598DB"/>
                </a:solidFill>
                <a:latin typeface="Consolas"/>
              </a:rPr>
              <a:t>auto</a:t>
            </a:r>
            <a:r>
              <a:rPr sz="1800" b="0">
                <a:solidFill>
                  <a:srgbClr val="222B38"/>
                </a:solidFill>
                <a:latin typeface="Calibri"/>
              </a:rPr>
              <a:t> giúp duyệt gọn hơn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