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Các Hàm String Xử Lý Xâu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Thêm / xóa ký tự ở cuối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String Xử Lý Xâu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push_back(c)</a:t>
            </a:r>
            <a:r>
              <a:rPr sz="2000" b="0">
                <a:solidFill>
                  <a:srgbClr val="222B38"/>
                </a:solidFill>
                <a:latin typeface="Calibri"/>
              </a:rPr>
              <a:t>: thêm </a:t>
            </a:r>
            <a:r>
              <a:rPr sz="2000" b="1">
                <a:solidFill>
                  <a:srgbClr val="222B38"/>
                </a:solidFill>
                <a:latin typeface="Calibri"/>
              </a:rPr>
              <a:t>1 ký tự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c</a:t>
            </a:r>
            <a:r>
              <a:rPr sz="2000" b="0">
                <a:solidFill>
                  <a:srgbClr val="222B38"/>
                </a:solidFill>
                <a:latin typeface="Calibri"/>
              </a:rPr>
              <a:t> vào cuối xâu — độ phức tạp O(1)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pop_back()</a:t>
            </a:r>
            <a:r>
              <a:rPr sz="2000" b="0">
                <a:solidFill>
                  <a:srgbClr val="222B38"/>
                </a:solidFill>
                <a:latin typeface="Calibri"/>
              </a:rPr>
              <a:t>: xóa ký tự </a:t>
            </a:r>
            <a:r>
              <a:rPr sz="2000" b="1">
                <a:solidFill>
                  <a:srgbClr val="222B38"/>
                </a:solidFill>
                <a:latin typeface="Calibri"/>
              </a:rPr>
              <a:t>cuối cùng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độ phức tạp O(1)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thêm được </a:t>
            </a:r>
            <a:r>
              <a:rPr sz="2000" b="1">
                <a:solidFill>
                  <a:srgbClr val="222B38"/>
                </a:solidFill>
                <a:latin typeface="Calibri"/>
              </a:rPr>
              <a:t>1 ký tự</a:t>
            </a:r>
            <a:r>
              <a:rPr sz="2000" b="0">
                <a:solidFill>
                  <a:srgbClr val="222B38"/>
                </a:solidFill>
                <a:latin typeface="Calibri"/>
              </a:rPr>
              <a:t>, cố truyền cả chuỗi sẽ gây lỗi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 = "codelab";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s.push_back('@');   // codelab@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s.push_back('#');   // codelab@#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s.pop_back();       // codelab@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Nối xâu: append() và +=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String Xử Lý Xâu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s.append(t)</a:t>
            </a:r>
            <a:r>
              <a:rPr sz="2000" b="0">
                <a:solidFill>
                  <a:srgbClr val="222B38"/>
                </a:solidFill>
                <a:latin typeface="Calibri"/>
              </a:rPr>
              <a:t>: nối toàn bộ xâu </a:t>
            </a:r>
            <a:r>
              <a:rPr sz="1900" b="0">
                <a:solidFill>
                  <a:srgbClr val="3598DB"/>
                </a:solidFill>
                <a:latin typeface="Consolas"/>
              </a:rPr>
              <a:t>t</a:t>
            </a:r>
            <a:r>
              <a:rPr sz="2000" b="0">
                <a:solidFill>
                  <a:srgbClr val="222B38"/>
                </a:solidFill>
                <a:latin typeface="Calibri"/>
              </a:rPr>
              <a:t> vào cuối </a:t>
            </a:r>
            <a:r>
              <a:rPr sz="1900" b="0">
                <a:solidFill>
                  <a:srgbClr val="3598DB"/>
                </a:solidFill>
                <a:latin typeface="Consolas"/>
              </a:rPr>
              <a:t>s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O(N)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s.append(t, pos, n)</a:t>
            </a:r>
            <a:r>
              <a:rPr sz="2000" b="0">
                <a:solidFill>
                  <a:srgbClr val="222B38"/>
                </a:solidFill>
                <a:latin typeface="Calibri"/>
              </a:rPr>
              <a:t>: nối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ký tự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t</a:t>
            </a:r>
            <a:r>
              <a:rPr sz="2000" b="0">
                <a:solidFill>
                  <a:srgbClr val="222B38"/>
                </a:solidFill>
                <a:latin typeface="Calibri"/>
              </a:rPr>
              <a:t> tính từ chỉ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pos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Toán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+=</a:t>
            </a:r>
            <a:r>
              <a:rPr sz="2000" b="0">
                <a:solidFill>
                  <a:srgbClr val="222B38"/>
                </a:solidFill>
                <a:latin typeface="Calibri"/>
              </a:rPr>
              <a:t> cũng dùng để nối xâu hoặc nối 1 ký tự, viết gọn hơn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s.append("blog");     // codelabblog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s.append(t, 1, 5);    // nối 5 ký tự từ chỉ số 1 của 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 += " blog";         // cách viết gọn tương đương append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 += '@';             // nối 1 ký tự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Chèn xâu: insert()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String Xử Lý Xâu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s.insert(index, t)</a:t>
            </a:r>
            <a:r>
              <a:rPr sz="2000" b="0">
                <a:solidFill>
                  <a:srgbClr val="222B38"/>
                </a:solidFill>
                <a:latin typeface="Calibri"/>
              </a:rPr>
              <a:t>: chèn xâu </a:t>
            </a:r>
            <a:r>
              <a:rPr sz="1900" b="0">
                <a:solidFill>
                  <a:srgbClr val="3598DB"/>
                </a:solidFill>
                <a:latin typeface="Consolas"/>
              </a:rPr>
              <a:t>t</a:t>
            </a:r>
            <a:r>
              <a:rPr sz="2000" b="0">
                <a:solidFill>
                  <a:srgbClr val="222B38"/>
                </a:solidFill>
                <a:latin typeface="Calibri"/>
              </a:rPr>
              <a:t> vào vị trí </a:t>
            </a:r>
            <a:r>
              <a:rPr sz="1900" b="0">
                <a:solidFill>
                  <a:srgbClr val="3598DB"/>
                </a:solidFill>
                <a:latin typeface="Consolas"/>
              </a:rPr>
              <a:t>index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s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O(N)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s.insert(2, "####");   // chèn vào chỉ số 2: 28####tech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s.insert(0, "blog ");  // chèn vào đầu xâu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Xóa xâu con: erase()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String Xử Lý Xâu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s.erase(pos)</a:t>
            </a:r>
            <a:r>
              <a:rPr sz="2000" b="0">
                <a:solidFill>
                  <a:srgbClr val="222B38"/>
                </a:solidFill>
                <a:latin typeface="Calibri"/>
              </a:rPr>
              <a:t>: xóa từ chỉ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pos</a:t>
            </a:r>
            <a:r>
              <a:rPr sz="2000" b="0">
                <a:solidFill>
                  <a:srgbClr val="222B38"/>
                </a:solidFill>
                <a:latin typeface="Calibri"/>
              </a:rPr>
              <a:t>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hết xâu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s.erase(pos, n)</a:t>
            </a:r>
            <a:r>
              <a:rPr sz="2000" b="0">
                <a:solidFill>
                  <a:srgbClr val="222B38"/>
                </a:solidFill>
                <a:latin typeface="Calibri"/>
              </a:rPr>
              <a:t>: xóa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ký tự tính từ chỉ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pos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độ phức tạp O(N)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s.erase(6);      // "codelab.dev" -&gt; "codelab"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t.erase(2, 4);   // "codelab.dev" -&gt; "28.com.vn"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Tách xâu con: substr()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String Xử Lý Xâu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s.substr(pos)</a:t>
            </a:r>
            <a:r>
              <a:rPr sz="2000" b="0">
                <a:solidFill>
                  <a:srgbClr val="222B38"/>
                </a:solidFill>
                <a:latin typeface="Calibri"/>
              </a:rPr>
              <a:t>: trả về xâu con từ chỉ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pos</a:t>
            </a:r>
            <a:r>
              <a:rPr sz="2000" b="0">
                <a:solidFill>
                  <a:srgbClr val="222B38"/>
                </a:solidFill>
                <a:latin typeface="Calibri"/>
              </a:rPr>
              <a:t> tới hết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s.substr(pos, n)</a:t>
            </a:r>
            <a:r>
              <a:rPr sz="2000" b="0">
                <a:solidFill>
                  <a:srgbClr val="222B38"/>
                </a:solidFill>
                <a:latin typeface="Calibri"/>
              </a:rPr>
              <a:t>: trả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ký tự tính từ chỉ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pos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sửa xâu gốc,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xâu mới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độ phức tạp O(N)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8068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699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s.substr(2);     // "codelab.dev" -&gt; "tech.com.vn"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s.substr(0, 6);  // "codelab.dev" -&gt; "codelab"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Tìm kiếm xâu con: find()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String Xử Lý Xâu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s.find(t)</a:t>
            </a:r>
            <a:r>
              <a:rPr sz="2000" b="0">
                <a:solidFill>
                  <a:srgbClr val="222B38"/>
                </a:solidFill>
                <a:latin typeface="Calibri"/>
              </a:rPr>
              <a:t>: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chỉ số đầu tiên</a:t>
            </a:r>
            <a:r>
              <a:rPr sz="2000" b="0">
                <a:solidFill>
                  <a:srgbClr val="222B38"/>
                </a:solidFill>
                <a:latin typeface="Calibri"/>
              </a:rPr>
              <a:t> xâu con </a:t>
            </a:r>
            <a:r>
              <a:rPr sz="1900" b="0">
                <a:solidFill>
                  <a:srgbClr val="3598DB"/>
                </a:solidFill>
                <a:latin typeface="Consolas"/>
              </a:rPr>
              <a:t>t</a:t>
            </a:r>
            <a:r>
              <a:rPr sz="2000" b="0">
                <a:solidFill>
                  <a:srgbClr val="222B38"/>
                </a:solidFill>
                <a:latin typeface="Calibri"/>
              </a:rPr>
              <a:t> xuất hiện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tìm thấy → trả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string::npos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độ phức tạp O(N)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(s.find("codelab") == string::npos)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"NOT FOUND";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s.find("codelab");   // vị trí xuất hiện đầu tiên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Các Hàm String Xử Lý Xâu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Thêm/xóa cuối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push_back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pop_back</a:t>
            </a:r>
            <a:r>
              <a:rPr sz="1800" b="0">
                <a:solidFill>
                  <a:srgbClr val="222B38"/>
                </a:solidFill>
                <a:latin typeface="Calibri"/>
              </a:rPr>
              <a:t> — 1 ký tự, O(1)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Nối xâu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append()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709" b="0">
                <a:solidFill>
                  <a:srgbClr val="3598DB"/>
                </a:solidFill>
                <a:latin typeface="Consolas"/>
              </a:rPr>
              <a:t>+=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Chèn/xóa/tách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insert()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erase()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substr()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đều thao tác theo chỉ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tìm thấy trong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find()</a:t>
            </a:r>
            <a:r>
              <a:rPr sz="1800" b="0">
                <a:solidFill>
                  <a:srgbClr val="222B38"/>
                </a:solidFill>
                <a:latin typeface="Calibri"/>
              </a:rPr>
              <a:t> trả về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string::npos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phải 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