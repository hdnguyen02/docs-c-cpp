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Bài Tập Đệ Quy C++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Tổng quan các dạng bài luyện tập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Đệ Quy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623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5 nhóm bài: </a:t>
            </a:r>
            <a:r>
              <a:rPr sz="1800" b="1">
                <a:solidFill>
                  <a:srgbClr val="222B38"/>
                </a:solidFill>
                <a:latin typeface="Calibri"/>
              </a:rPr>
              <a:t>số học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800" b="1">
                <a:solidFill>
                  <a:srgbClr val="222B38"/>
                </a:solidFill>
                <a:latin typeface="Calibri"/>
              </a:rPr>
              <a:t>đổi cơ số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800" b="1">
                <a:solidFill>
                  <a:srgbClr val="222B38"/>
                </a:solidFill>
                <a:latin typeface="Calibri"/>
              </a:rPr>
              <a:t>chữ số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800" b="1">
                <a:solidFill>
                  <a:srgbClr val="222B38"/>
                </a:solidFill>
                <a:latin typeface="Calibri"/>
              </a:rPr>
              <a:t>tổng dãy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800" b="1">
                <a:solidFill>
                  <a:srgbClr val="222B38"/>
                </a:solidFill>
                <a:latin typeface="Calibri"/>
              </a:rPr>
              <a:t>mảng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Mỗi bài cần xác định rõ </a:t>
            </a:r>
            <a:r>
              <a:rPr sz="1800" b="1">
                <a:solidFill>
                  <a:srgbClr val="222B38"/>
                </a:solidFill>
                <a:latin typeface="Calibri"/>
              </a:rPr>
              <a:t>bài toán cơ sở</a:t>
            </a:r>
            <a:r>
              <a:rPr sz="1800" b="0">
                <a:solidFill>
                  <a:srgbClr val="222B38"/>
                </a:solidFill>
                <a:latin typeface="Calibri"/>
              </a:rPr>
              <a:t> và </a:t>
            </a:r>
            <a:r>
              <a:rPr sz="1800" b="1">
                <a:solidFill>
                  <a:srgbClr val="222B38"/>
                </a:solidFill>
                <a:latin typeface="Calibri"/>
              </a:rPr>
              <a:t>công thức truy hồi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Cùng 1 khuôn đệ quy áp dụng cho nhiều bài khác nhau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toán: Số Fibonacci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Đệ Quy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Bài toán cơ sở F(0)=0, F(1)=1; công thức truy hồi Fn = Fn-1 + Fn-2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6562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Ý tưởng: cộng 2 số Fibonacci liền trước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F(12) = 144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3720388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66692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F(int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if(n == 0 || n == 1) return 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F(n - 1) + F(n - 2);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toán: Tổ hợp chập K của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Đệ Quy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Bài toán cơ sở C(n,0)=1, C(n,n)=1; công thức C(n,k)=C(n-1,k-1)+C(n-1,k)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6562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Ý tưởng: chọn hoặc không chọn phần tử thứ 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C(12, 2) = 66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3720388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66692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C(int n, int k){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if(n == k || k == 0) return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C(n - 1, k - 1) + C(n - 1, k);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toán: Đổi thập phân sang nhị phân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Đệ Quy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37 (thập phân) = 100101 (nhị phân)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185771"/>
            <a:ext cx="10765231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Cơ sở: n &lt; 2 thì in luôn 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Truy hồi: gọi đệ quy với n/2 </a:t>
            </a:r>
            <a:r>
              <a:rPr sz="1800" b="1">
                <a:solidFill>
                  <a:srgbClr val="222B38"/>
                </a:solidFill>
                <a:latin typeface="Calibri"/>
              </a:rPr>
              <a:t>trước</a:t>
            </a:r>
            <a:r>
              <a:rPr sz="1800" b="0">
                <a:solidFill>
                  <a:srgbClr val="222B38"/>
                </a:solidFill>
                <a:latin typeface="Calibri"/>
              </a:rPr>
              <a:t>, in n%2 </a:t>
            </a:r>
            <a:r>
              <a:rPr sz="1800" b="1">
                <a:solidFill>
                  <a:srgbClr val="222B38"/>
                </a:solidFill>
                <a:latin typeface="Calibri"/>
              </a:rPr>
              <a:t>sau</a:t>
            </a:r>
            <a:r>
              <a:rPr sz="1800" b="0">
                <a:solidFill>
                  <a:srgbClr val="222B38"/>
                </a:solidFill>
                <a:latin typeface="Calibri"/>
              </a:rPr>
              <a:t> ⇒ số dư ra đúng thứ tự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3374491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20795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dec_to_bin(long long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if(n &lt; 2){ cout &lt;&lt; n;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else{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dec_to_bin(n / 2);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cout &lt;&lt; n % 2;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toán: Đổi thập phân sang thập lục phân (hex)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Đệ Quy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762 (thập phân) = 2FA (hex)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6067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Cùng khuôn với đổi nhị phân nhưng chia cho 16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Số dư 10-15 đổi thành ký tự 'A'-'F' bằng </a:t>
            </a:r>
            <a:r>
              <a:rPr sz="1900" b="0">
                <a:solidFill>
                  <a:srgbClr val="3598DB"/>
                </a:solidFill>
                <a:latin typeface="Consolas"/>
              </a:rPr>
              <a:t>(char)(r + 55)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3215436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61740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dec_to_hex(long long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if(n &lt; 16){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cout &lt;&lt; (n &lt; 10 ? (char)('0'+n) : (char)(n + 55));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 else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dec_to_hex(n / 16);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int r = n % 16;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cout &lt;&lt; (r &lt; 10 ? (char)('0'+r) : (char)(r + 55));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toán: Đếm chữ số &amp; Tổng chữ số của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Đệ Quy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Đếm chữ số D(N): cơ sở N&lt;10 → 1; truy hồi D(N) = 1 + D(N/10)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Tổng chữ số S(N): cơ sở N&lt;10 → N; truy hồi S(N) = N%10 + S(N/10)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67608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3912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D(long long n){ return n &lt; 10 ? 1 : 1 + D(n / 10);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S(long long n){ return n &lt; 10 ? n : n % 10 + S(n / 10);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D(28282828)=8   S(28282828)=40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toán: Tổng chữ số chẵn &amp; Chữ số lớn nhất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Đệ Quy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10055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Tổng chữ số chẵn: cộng dồn N%10 nếu chẵn, bỏ qua nếu lẻ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Chữ số lớn nhất: lấy max giữa N%10 và kết quả đệ quy F(N/10)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864815"/>
            <a:ext cx="10765231" cy="325120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11119"/>
            <a:ext cx="10362895" cy="2958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SumEven(long long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if(n &lt; 10) return n % 2 ? 0 : 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(n % 2 ? 0 : n % 10) + SumEven(n / 10);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MaxDigit(long long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if(n &lt; 10) return 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tmp = MaxDigit(n / 10);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n % 10 &gt; tmp ? n % 10 : tmp;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toán: Tổng các dãy số bằng đệ quy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Đệ Quy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04060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Khuôn chung: </a:t>
            </a:r>
            <a:r>
              <a:rPr sz="1709" b="0">
                <a:solidFill>
                  <a:srgbClr val="3598DB"/>
                </a:solidFill>
                <a:latin typeface="Consolas"/>
              </a:rPr>
              <a:t>S(n) = hạng_tử(n) + S(n-1)</a:t>
            </a:r>
            <a:r>
              <a:rPr sz="1800" b="0">
                <a:solidFill>
                  <a:srgbClr val="222B38"/>
                </a:solidFill>
                <a:latin typeface="Calibri"/>
              </a:rPr>
              <a:t>, cơ sở </a:t>
            </a:r>
            <a:r>
              <a:rPr sz="1709" b="0">
                <a:solidFill>
                  <a:srgbClr val="3598DB"/>
                </a:solidFill>
                <a:latin typeface="Consolas"/>
              </a:rPr>
              <a:t>S(1) = hạng_tử(1)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Tổng tự nhiên 1..n: hạng tử là </a:t>
            </a:r>
            <a:r>
              <a:rPr sz="1709" b="0">
                <a:solidFill>
                  <a:srgbClr val="3598DB"/>
                </a:solidFill>
                <a:latin typeface="Consolas"/>
              </a:rPr>
              <a:t>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Tổng bình phương: hạng tử là </a:t>
            </a:r>
            <a:r>
              <a:rPr sz="1709" b="0">
                <a:solidFill>
                  <a:srgbClr val="3598DB"/>
                </a:solidFill>
                <a:latin typeface="Consolas"/>
              </a:rPr>
              <a:t>n*n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Tổng nghịch đảo: hạng tử là </a:t>
            </a:r>
            <a:r>
              <a:rPr sz="1709" b="0">
                <a:solidFill>
                  <a:srgbClr val="3598DB"/>
                </a:solidFill>
                <a:latin typeface="Consolas"/>
              </a:rPr>
              <a:t>1.0/n</a:t>
            </a:r>
            <a:r>
              <a:rPr sz="1800" b="0">
                <a:solidFill>
                  <a:srgbClr val="222B38"/>
                </a:solidFill>
                <a:latin typeface="Calibri"/>
              </a:rPr>
              <a:t> (ép kiểu double)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4152900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99204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S1(int n){ return n==1 ? 1 : n + S1(n-1);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S2(int n){ return n==1 ? 1 : n*n + S2(n-1);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double S3(int n){ return n==1 ? 1 : (double)1/n + S3(n-1); 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toán: Tổng các số chẵn trong mảng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Đệ Quy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1401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Cơ sở: mảng rỗng (n=0) → tổng = 0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Truy hồi: cộng </a:t>
            </a:r>
            <a:r>
              <a:rPr sz="1900" b="0">
                <a:solidFill>
                  <a:srgbClr val="3598DB"/>
                </a:solidFill>
                <a:latin typeface="Consolas"/>
              </a:rPr>
              <a:t>a[n-1]</a:t>
            </a:r>
            <a:r>
              <a:rPr sz="2000" b="0">
                <a:solidFill>
                  <a:srgbClr val="222B38"/>
                </a:solidFill>
                <a:latin typeface="Calibri"/>
              </a:rPr>
              <a:t> nếu chẵn, rồi gọi đệ quy với n-1 phần tử còn lại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68776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15080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even_sum(int a[], int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if(n == 0) return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if(a[n-1] % 2 == 0) return a[n-1] + even_sum(a, n-1);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even_sum(a, n-1);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{1,2,3,4,5,6} -&gt;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toán: Kiểm tra mảng đối xứng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Đệ Quy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15007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Cơ sở: </a:t>
            </a:r>
            <a:r>
              <a:rPr sz="1900" b="0">
                <a:solidFill>
                  <a:srgbClr val="3598DB"/>
                </a:solidFill>
                <a:latin typeface="Consolas"/>
              </a:rPr>
              <a:t>left &gt; right</a:t>
            </a:r>
            <a:r>
              <a:rPr sz="2000" b="0">
                <a:solidFill>
                  <a:srgbClr val="222B38"/>
                </a:solidFill>
                <a:latin typeface="Calibri"/>
              </a:rPr>
              <a:t> → đã xét hết cặp, kết luận đối xứng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Truy hồi: </a:t>
            </a:r>
            <a:r>
              <a:rPr sz="1900" b="0">
                <a:solidFill>
                  <a:srgbClr val="3598DB"/>
                </a:solidFill>
                <a:latin typeface="Consolas"/>
              </a:rPr>
              <a:t>a[left]==a[right]</a:t>
            </a:r>
            <a:r>
              <a:rPr sz="2000" b="0">
                <a:solidFill>
                  <a:srgbClr val="222B38"/>
                </a:solidFill>
                <a:latin typeface="Calibri"/>
              </a:rPr>
              <a:t> thì xét tiếp cặp </a:t>
            </a:r>
            <a:r>
              <a:rPr sz="1900" b="0">
                <a:solidFill>
                  <a:srgbClr val="3598DB"/>
                </a:solidFill>
                <a:latin typeface="Consolas"/>
              </a:rPr>
              <a:t>(left+1, right-1)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369767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16071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bool doixung(int a[], int left, int right){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if(left &gt; right) return true;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if(a[left] != a[right]) return false;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doixung(a, left + 1, right - 1);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toán: In mảng theo 2 chiều bằng đệ quy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Đệ Quy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334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Gọi đệ quy </a:t>
            </a:r>
            <a:r>
              <a:rPr sz="2000" b="1">
                <a:solidFill>
                  <a:srgbClr val="222B38"/>
                </a:solidFill>
                <a:latin typeface="Calibri"/>
              </a:rPr>
              <a:t>trước</a:t>
            </a:r>
            <a:r>
              <a:rPr sz="2000" b="0">
                <a:solidFill>
                  <a:srgbClr val="222B38"/>
                </a:solidFill>
                <a:latin typeface="Calibri"/>
              </a:rPr>
              <a:t> rồi mới in ⇒ in từ </a:t>
            </a:r>
            <a:r>
              <a:rPr sz="2000" b="1">
                <a:solidFill>
                  <a:srgbClr val="222B38"/>
                </a:solidFill>
                <a:latin typeface="Calibri"/>
              </a:rPr>
              <a:t>trái qua phải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In </a:t>
            </a:r>
            <a:r>
              <a:rPr sz="2000" b="1">
                <a:solidFill>
                  <a:srgbClr val="222B38"/>
                </a:solidFill>
                <a:latin typeface="Calibri"/>
              </a:rPr>
              <a:t>trước</a:t>
            </a:r>
            <a:r>
              <a:rPr sz="2000" b="0">
                <a:solidFill>
                  <a:srgbClr val="222B38"/>
                </a:solidFill>
                <a:latin typeface="Calibri"/>
              </a:rPr>
              <a:t> rồi mới gọi đệ quy ⇒ in từ </a:t>
            </a:r>
            <a:r>
              <a:rPr sz="2000" b="1">
                <a:solidFill>
                  <a:srgbClr val="222B38"/>
                </a:solidFill>
                <a:latin typeface="Calibri"/>
              </a:rPr>
              <a:t>phải qua trái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Thứ tự đặt lệnh in quyết định thứ tự xuất hiện trên màn hình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501288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47592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trai_phai(int a[], int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if(n &gt; 0){ trai_phai(a, n-1); cout &lt;&lt; a[n-1] &lt;&lt; " ";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phai_trai(int a[], int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if(n &gt; 0){ cout &lt;&lt; a[n-1] &lt;&lt; " "; phai_trai(a, n-1);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Đệ Quy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Mọi bài đệ quy đều quy về: xác định </a:t>
            </a:r>
            <a:r>
              <a:rPr sz="1800" b="1">
                <a:solidFill>
                  <a:srgbClr val="222B38"/>
                </a:solidFill>
                <a:latin typeface="Calibri"/>
              </a:rPr>
              <a:t>bài toán cơ sở</a:t>
            </a:r>
            <a:r>
              <a:rPr sz="1800" b="0">
                <a:solidFill>
                  <a:srgbClr val="222B38"/>
                </a:solidFill>
                <a:latin typeface="Calibri"/>
              </a:rPr>
              <a:t> + </a:t>
            </a:r>
            <a:r>
              <a:rPr sz="1800" b="1">
                <a:solidFill>
                  <a:srgbClr val="222B38"/>
                </a:solidFill>
                <a:latin typeface="Calibri"/>
              </a:rPr>
              <a:t>công thức truy hồi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Đệ quy trên mảng thường giảm dần biến </a:t>
            </a:r>
            <a:r>
              <a:rPr sz="1709" b="0">
                <a:solidFill>
                  <a:srgbClr val="3598DB"/>
                </a:solidFill>
                <a:latin typeface="Consolas"/>
              </a:rPr>
              <a:t>n</a:t>
            </a:r>
            <a:r>
              <a:rPr sz="1800" b="0">
                <a:solidFill>
                  <a:srgbClr val="222B38"/>
                </a:solidFill>
                <a:latin typeface="Calibri"/>
              </a:rPr>
              <a:t> (số phần tử) cho tới 0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Đệ quy trên số thường giảm dần theo </a:t>
            </a:r>
            <a:r>
              <a:rPr sz="1709" b="0">
                <a:solidFill>
                  <a:srgbClr val="3598DB"/>
                </a:solidFill>
                <a:latin typeface="Consolas"/>
              </a:rPr>
              <a:t>n/10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n/2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n-1</a:t>
            </a:r>
            <a:r>
              <a:rPr sz="1800" b="0">
                <a:solidFill>
                  <a:srgbClr val="222B38"/>
                </a:solidFill>
                <a:latin typeface="Calibri"/>
              </a:rPr>
              <a:t>...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Thứ tự đặt lệnh trước/sau lời gọi đệ quy quyết định thứ tự thực thi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