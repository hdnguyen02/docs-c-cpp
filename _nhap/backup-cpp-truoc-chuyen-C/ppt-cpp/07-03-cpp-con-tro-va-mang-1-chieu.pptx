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Con Trỏ Và Mảng 1 Chiều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Tên mảng chính là một con trỏ hằng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Và 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Giá trị của tên mảng </a:t>
            </a:r>
            <a:r>
              <a:rPr sz="1900" b="0">
                <a:solidFill>
                  <a:srgbClr val="3598DB"/>
                </a:solidFill>
                <a:latin typeface="Consolas"/>
              </a:rPr>
              <a:t>A</a:t>
            </a:r>
            <a:r>
              <a:rPr sz="2000" b="0">
                <a:solidFill>
                  <a:srgbClr val="222B38"/>
                </a:solidFill>
                <a:latin typeface="Calibri"/>
              </a:rPr>
              <a:t> =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 phần tử đầu tiên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A[0]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hằng con trỏ</a:t>
            </a:r>
            <a:r>
              <a:rPr sz="2000" b="0">
                <a:solidFill>
                  <a:srgbClr val="222B38"/>
                </a:solidFill>
                <a:latin typeface="Calibri"/>
              </a:rPr>
              <a:t>: không thể gán lại giá trị cho </a:t>
            </a:r>
            <a:r>
              <a:rPr sz="1900" b="0">
                <a:solidFill>
                  <a:srgbClr val="3598DB"/>
                </a:solidFill>
                <a:latin typeface="Consolas"/>
              </a:rPr>
              <a:t>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Công thức quy đổi con trỏ và chỉ số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Và 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 + i</a:t>
            </a:r>
            <a:r>
              <a:rPr sz="2000" b="0">
                <a:solidFill>
                  <a:srgbClr val="222B38"/>
                </a:solidFill>
                <a:latin typeface="Calibri"/>
              </a:rPr>
              <a:t> tương đương 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&amp;A[i]</a:t>
            </a:r>
            <a:r>
              <a:rPr sz="2000" b="0">
                <a:solidFill>
                  <a:srgbClr val="222B38"/>
                </a:solidFill>
                <a:latin typeface="Calibri"/>
              </a:rPr>
              <a:t> —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2000" b="0">
                <a:solidFill>
                  <a:srgbClr val="222B38"/>
                </a:solidFill>
                <a:latin typeface="Calibri"/>
              </a:rPr>
              <a:t> phần tử thứ 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*(A + i)</a:t>
            </a:r>
            <a:r>
              <a:rPr sz="2000" b="0">
                <a:solidFill>
                  <a:srgbClr val="222B38"/>
                </a:solidFill>
                <a:latin typeface="Calibri"/>
              </a:rPr>
              <a:t> tương đương </a:t>
            </a:r>
            <a:r>
              <a:rPr sz="1900" b="0">
                <a:solidFill>
                  <a:srgbClr val="3598DB"/>
                </a:solidFill>
                <a:latin typeface="Consolas"/>
              </a:rPr>
              <a:t>A[i]</a:t>
            </a:r>
            <a:r>
              <a:rPr sz="2000" b="0">
                <a:solidFill>
                  <a:srgbClr val="222B38"/>
                </a:solidFill>
                <a:latin typeface="Calibri"/>
              </a:rPr>
              <a:t> — </a:t>
            </a:r>
            <a:r>
              <a:rPr sz="2000" b="1">
                <a:solidFill>
                  <a:srgbClr val="222B38"/>
                </a:solidFill>
                <a:latin typeface="Calibri"/>
              </a:rPr>
              <a:t>giá trị</a:t>
            </a:r>
            <a:r>
              <a:rPr sz="2000" b="0">
                <a:solidFill>
                  <a:srgbClr val="222B38"/>
                </a:solidFill>
                <a:latin typeface="Calibri"/>
              </a:rPr>
              <a:t> phần tử thứ 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a[5] = {3, 8, 4, 2, 9};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a         -&gt; dia chi cua a[0]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a + i     -&gt; dia chi cua a[i]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*(a + i)  -&gt; gia tri cua a[i]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5;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*(a + i) &lt;&lt; ' ';   // 3 8 4 2 9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Dùng con trỏ riêng để duyệt và di chuyển trong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Và 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69109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Có thể gán một con trỏ khác trỏ tới phần tử đầu để duyệt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++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--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+=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-=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</a:t>
            </a:r>
            <a:r>
              <a:rPr sz="1800" b="1">
                <a:solidFill>
                  <a:srgbClr val="222B38"/>
                </a:solidFill>
                <a:latin typeface="Calibri"/>
              </a:rPr>
              <a:t>di chuyển con trỏ</a:t>
            </a:r>
            <a:r>
              <a:rPr sz="1800" b="0">
                <a:solidFill>
                  <a:srgbClr val="222B38"/>
                </a:solidFill>
                <a:latin typeface="Calibri"/>
              </a:rPr>
              <a:t> qua các ô nhớ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con trỏ phụ mới di chuyển được,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</a:t>
            </a:r>
            <a:r>
              <a:rPr sz="1800" b="0">
                <a:solidFill>
                  <a:srgbClr val="222B38"/>
                </a:solidFill>
                <a:latin typeface="Calibri"/>
              </a:rPr>
              <a:t> di chuyển được tên mảng gốc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37889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84193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a[5] = {3, 8, 4, 2, 9};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 = &amp;a[0];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++ptr;      // ptr tro toi a[1], gia tri 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ptr += 2;   // ptr tro toi a[3], gia tri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--ptr;      // ptr tro toi a[2], gia tri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Dịch chuyển con trỏ bằng giá trị lấy từ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Và 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Bước dịch có thể lấy từ chính giá trị phần tử trong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Vẫn tuân theo công thức địa chỉ = vị trí ban đầu + số ô dịch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a[10] = {1,2,3,4,5,6,7,8,9,10};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 = &amp;a[3];   // tro toi a[3] = 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ptr += a[2];        // a[2] = 3 =&gt; ptr += 3 =&gt; tro toi a[6] = 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--ptr;              // lui 1 o =&gt; tro toi a[5] =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Và 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 + i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địa chỉ, </a:t>
            </a:r>
            <a:r>
              <a:rPr sz="1709" b="0">
                <a:solidFill>
                  <a:srgbClr val="3598DB"/>
                </a:solidFill>
                <a:latin typeface="Consolas"/>
              </a:rPr>
              <a:t>*(A + i)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giá trị của </a:t>
            </a:r>
            <a:r>
              <a:rPr sz="1709" b="0">
                <a:solidFill>
                  <a:srgbClr val="3598DB"/>
                </a:solidFill>
                <a:latin typeface="Consolas"/>
              </a:rPr>
              <a:t>A[i]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Tên mảng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hằng con trỏ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gán lại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con trỏ phụ (không phải tên mảng) để </a:t>
            </a:r>
            <a:r>
              <a:rPr sz="1709" b="0">
                <a:solidFill>
                  <a:srgbClr val="3598DB"/>
                </a:solidFill>
                <a:latin typeface="Consolas"/>
              </a:rPr>
              <a:t>++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--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+=</a:t>
            </a:r>
            <a:r>
              <a:rPr sz="1800" b="0">
                <a:solidFill>
                  <a:srgbClr val="222B38"/>
                </a:solidFill>
                <a:latin typeface="Calibri"/>
              </a:rPr>
              <a:t> duyệt qua các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Bước dịch con trỏ có thể là hằng số hoặc lấy từ giá trị trong mảng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