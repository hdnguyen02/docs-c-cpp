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If Else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If và If-Else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Kiểm tra một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thực thi khối lệnh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thì chạy, sai thì bỏ qua, không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dùng khi đã có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 phía trước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Giá trị </a:t>
            </a:r>
            <a:r>
              <a:rPr sz="1800" b="1">
                <a:solidFill>
                  <a:srgbClr val="222B38"/>
                </a:solidFill>
                <a:latin typeface="Calibri"/>
              </a:rPr>
              <a:t>khác 0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dùng làm điều kiện được coi là đúng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Cú pháp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đúng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if(điều_kiện){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đúng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code khi sai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Luồng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chạy khối lệnh, sai thì bỏ qua luôn, chạy tiếp lệnh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if else</a:t>
            </a:r>
            <a:r>
              <a:rPr sz="1800" b="0">
                <a:solidFill>
                  <a:srgbClr val="222B38"/>
                </a:solidFill>
                <a:latin typeface="Calibri"/>
              </a:rPr>
              <a:t>: đúng chạy nhánh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if</a:t>
            </a:r>
            <a:r>
              <a:rPr sz="1800" b="0">
                <a:solidFill>
                  <a:srgbClr val="222B38"/>
                </a:solidFill>
                <a:latin typeface="Calibri"/>
              </a:rPr>
              <a:t>, sai chạy nhánh </a:t>
            </a:r>
            <a:r>
              <a:rPr sz="1709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Chỉ </a:t>
            </a:r>
            <a:r>
              <a:rPr sz="1800" b="1">
                <a:solidFill>
                  <a:srgbClr val="222B38"/>
                </a:solidFill>
                <a:latin typeface="Calibri"/>
              </a:rPr>
              <a:t>một trong hai nhánh</a:t>
            </a:r>
            <a:r>
              <a:rPr sz="1800" b="0">
                <a:solidFill>
                  <a:srgbClr val="222B38"/>
                </a:solidFill>
                <a:latin typeface="Calibri"/>
              </a:rPr>
              <a:t> được thực thi, không bao giờ cả hai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thường là phép so sánh kết hợp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||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chẵn lẻ, chia hết, thuộc tập giá trị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28, m = 4;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 % 2 == 0) cout &lt;&lt; "CHAN\n";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"LE\n";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chia hết cho m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 % m == 0) cout &lt;&lt; "Chia het\n";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"Khong chia het\n";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là 1 trong 4 số 2, 3, 5, 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if(n==2 || n==3 || n==5 || n==7) cout &lt;&lt; "YES\n";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Năm nhuận và if-else lồng nhau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93596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Năm nhuận: chia hết cho 400, hoặc chia hết 4 mà không chia hết 100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If else lồng nhau</a:t>
            </a:r>
            <a:r>
              <a:rPr sz="2000" b="0">
                <a:solidFill>
                  <a:srgbClr val="222B38"/>
                </a:solidFill>
                <a:latin typeface="Calibri"/>
              </a:rPr>
              <a:t>: chia nhỏ điều kiện lớn thành nhiều bước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khi gộp hết điều kiện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||</a:t>
            </a:r>
            <a:r>
              <a:rPr sz="2000" b="0">
                <a:solidFill>
                  <a:srgbClr val="222B38"/>
                </a:solidFill>
                <a:latin typeface="Calibri"/>
              </a:rPr>
              <a:t> khó đọc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261436"/>
            <a:ext cx="10765231" cy="307086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07740"/>
            <a:ext cx="10362895" cy="27782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// năm nhuận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if((n % 400 == 0) || (n % 4 == 0 &amp;&amp; n % 100 != 0))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cout &lt;&lt; "YES\n";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else cout &lt;&lt; "NO\n";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// lồng nhau: n trong [20,50] và chia hết 2/3/5/7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if(n &gt;= 20 &amp;&amp; n &lt;= 50){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if(n%2==0 || n%3==0 || n%5==0 || n%7==0)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    cout &lt;&lt; "YES\n";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    else cout &lt;&lt; "NO\n";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}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FF7"/>
                </a:solidFill>
                <a:latin typeface="Consolas"/>
              </a:rPr>
              <a:t>else cout &lt;&lt; "NO\n";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Bài tập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Dạng quen thuộc: kiểm tra 1 điều kiện, in </a:t>
            </a:r>
            <a:r>
              <a:rPr sz="1900" b="0">
                <a:solidFill>
                  <a:srgbClr val="3598DB"/>
                </a:solidFill>
                <a:latin typeface="Consolas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 đúng /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  <a:r>
              <a:rPr sz="2000" b="0">
                <a:solidFill>
                  <a:srgbClr val="222B38"/>
                </a:solidFill>
                <a:latin typeface="Calibri"/>
              </a:rPr>
              <a:t> sai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Kết hợp </a:t>
            </a:r>
            <a:r>
              <a:rPr sz="1900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, </a:t>
            </a:r>
            <a:r>
              <a:rPr sz="1900" b="0">
                <a:solidFill>
                  <a:srgbClr val="3598DB"/>
                </a:solidFill>
                <a:latin typeface="Consolas"/>
              </a:rPr>
              <a:t>||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mô tả điều kiện phức hợp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Tách chữ số cuối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n % 10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kiểm tra riêng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có 2 chữ số và chữ số cuối là số nguyên tố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r = n % 10;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if((n&gt;=10 &amp;&amp; n&lt;=99) &amp;&amp; (r==2||r==3||r==5||r==7))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1 &lt;&lt; endl;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else cout &lt;&lt; 0 &lt;&lt; endl;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If Else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805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if</a:t>
            </a:r>
            <a:r>
              <a:rPr sz="1700" b="0">
                <a:solidFill>
                  <a:srgbClr val="222B38"/>
                </a:solidFill>
                <a:latin typeface="Calibri"/>
              </a:rPr>
              <a:t> chạy khi điều kiện đúng, có thể không cần </a:t>
            </a:r>
            <a:r>
              <a:rPr sz="1614" b="0">
                <a:solidFill>
                  <a:srgbClr val="3598DB"/>
                </a:solidFill>
                <a:latin typeface="Consolas"/>
              </a:rPr>
              <a:t>else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614" b="0">
                <a:solidFill>
                  <a:srgbClr val="3598DB"/>
                </a:solidFill>
                <a:latin typeface="Consolas"/>
              </a:rPr>
              <a:t>else</a:t>
            </a:r>
            <a:r>
              <a:rPr sz="1700" b="0">
                <a:solidFill>
                  <a:srgbClr val="222B38"/>
                </a:solidFill>
                <a:latin typeface="Calibri"/>
              </a:rPr>
              <a:t> luôn phải đi kèm một </a:t>
            </a:r>
            <a:r>
              <a:rPr sz="1614" b="0">
                <a:solidFill>
                  <a:srgbClr val="3598DB"/>
                </a:solidFill>
                <a:latin typeface="Consolas"/>
              </a:rPr>
              <a:t>if</a:t>
            </a:r>
            <a:r>
              <a:rPr sz="1700" b="0">
                <a:solidFill>
                  <a:srgbClr val="222B38"/>
                </a:solidFill>
                <a:latin typeface="Calibri"/>
              </a:rPr>
              <a:t> phía trước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If else lồng nhau giúp chia nhỏ điều kiện phức tạp cho dễ đọc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Giá trị khác 0 được coi là đúng khi dùng làm điều kiện</a:t>
            </a:r>
          </a:p>
          <a:p>
            <a:pPr algn="l" marL="310896" indent="-310896">
              <a:spcAft>
                <a:spcPts val="800"/>
              </a:spcAft>
            </a:pPr>
            <a:r>
              <a:rPr sz="17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0" b="0">
                <a:solidFill>
                  <a:srgbClr val="222B38"/>
                </a:solidFill>
                <a:latin typeface="Calibri"/>
              </a:rPr>
              <a:t>Có thể thay lồng nhau bằng gộp điều kiện </a:t>
            </a:r>
            <a:r>
              <a:rPr sz="1614" b="0">
                <a:solidFill>
                  <a:srgbClr val="3598DB"/>
                </a:solidFill>
                <a:latin typeface="Consolas"/>
              </a:rPr>
              <a:t>&amp;&amp;</a:t>
            </a:r>
            <a:r>
              <a:rPr sz="1700" b="0">
                <a:solidFill>
                  <a:srgbClr val="222B38"/>
                </a:solidFill>
                <a:latin typeface="Calibri"/>
              </a:rPr>
              <a:t>/</a:t>
            </a:r>
            <a:r>
              <a:rPr sz="1614" b="0">
                <a:solidFill>
                  <a:srgbClr val="3598DB"/>
                </a:solidFill>
                <a:latin typeface="Consolas"/>
              </a:rPr>
              <a:t>||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