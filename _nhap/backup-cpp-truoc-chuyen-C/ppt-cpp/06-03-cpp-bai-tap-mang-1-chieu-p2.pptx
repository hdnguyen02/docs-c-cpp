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Tập Mảng 1 Chiều P2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Tổng quan: đếm, liệt kê và tần suất giá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109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3 bài toán: </a:t>
            </a:r>
            <a:r>
              <a:rPr sz="1700" b="1">
                <a:solidFill>
                  <a:srgbClr val="222B38"/>
                </a:solidFill>
                <a:latin typeface="Calibri"/>
              </a:rPr>
              <a:t>đếm giá trị khác nhau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700" b="1">
                <a:solidFill>
                  <a:srgbClr val="222B38"/>
                </a:solidFill>
                <a:latin typeface="Calibri"/>
              </a:rPr>
              <a:t>liệt kê giá trị khác nhau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700" b="1">
                <a:solidFill>
                  <a:srgbClr val="222B38"/>
                </a:solidFill>
                <a:latin typeface="Calibri"/>
              </a:rPr>
              <a:t>tần suất xuất hiện</a:t>
            </a:r>
          </a:p>
          <a:p>
            <a:pPr algn="l" marL="310896" indent="-310896">
              <a:spcAft>
                <a:spcPts val="13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Cả 3 đều dựa trên cùng 1 thao tác cốt lõi: kiểm tra phần tử đã gặp trước đó chưa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số giá trị khác nhau trong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Với mỗi chỉ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, kiểm tra </a:t>
            </a:r>
            <a:r>
              <a:rPr sz="1900" b="0">
                <a:solidFill>
                  <a:srgbClr val="3598DB"/>
                </a:solidFill>
                <a:latin typeface="Consolas"/>
              </a:rPr>
              <a:t>a[i]</a:t>
            </a:r>
            <a:r>
              <a:rPr sz="2000" b="0">
                <a:solidFill>
                  <a:srgbClr val="222B38"/>
                </a:solidFill>
                <a:latin typeface="Calibri"/>
              </a:rPr>
              <a:t> đã xuất hiện ở đoạn </a:t>
            </a:r>
            <a:r>
              <a:rPr sz="1900" b="0">
                <a:solidFill>
                  <a:srgbClr val="3598DB"/>
                </a:solidFill>
                <a:latin typeface="Consolas"/>
              </a:rPr>
              <a:t>[0, i-1]</a:t>
            </a:r>
            <a:r>
              <a:rPr sz="2000" b="0">
                <a:solidFill>
                  <a:srgbClr val="222B38"/>
                </a:solidFill>
                <a:latin typeface="Calibri"/>
              </a:rPr>
              <a:t> chưa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Chưa từng xuất hiện ⇒ tính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1 giá trị khác nhau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res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bool check =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0; j &lt; i;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== a[j]){ check = false; break;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if(check) ++res;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Liệt kê các giá trị khác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đúng thuật toán ở slide trước, thay vì đếm thì </a:t>
            </a:r>
            <a:r>
              <a:rPr sz="2000" b="1">
                <a:solidFill>
                  <a:srgbClr val="222B38"/>
                </a:solidFill>
                <a:latin typeface="Calibri"/>
              </a:rPr>
              <a:t>in ra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quả liệt kê theo </a:t>
            </a:r>
            <a:r>
              <a:rPr sz="2000" b="1">
                <a:solidFill>
                  <a:srgbClr val="222B38"/>
                </a:solidFill>
                <a:latin typeface="Calibri"/>
              </a:rPr>
              <a:t>thứ tự xuất hiện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mảng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liệt kê tăng dần thì phải </a:t>
            </a:r>
            <a:r>
              <a:rPr sz="2000" b="1">
                <a:solidFill>
                  <a:srgbClr val="222B38"/>
                </a:solidFill>
                <a:latin typeface="Calibri"/>
              </a:rPr>
              <a:t>sắp xếp mảng trước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bool check =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0; j &lt; i;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if(a[i] == a[j]){ check = false; break;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if(check) cout &lt;&lt; a[i] &lt;&lt; ' 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Tần suất phần tử - cách 1 (không dùng mảng phụ)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4159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Nếu </a:t>
            </a:r>
            <a:r>
              <a:rPr sz="1709" b="0">
                <a:solidFill>
                  <a:srgbClr val="3598DB"/>
                </a:solidFill>
                <a:latin typeface="Consolas"/>
              </a:rPr>
              <a:t>a[i]</a:t>
            </a:r>
            <a:r>
              <a:rPr sz="1800" b="0">
                <a:solidFill>
                  <a:srgbClr val="222B38"/>
                </a:solidFill>
                <a:latin typeface="Calibri"/>
              </a:rPr>
              <a:t> chưa xuất hiện trước đó, đếm số lần nó xuất hiện từ </a:t>
            </a:r>
            <a:r>
              <a:rPr sz="1709" b="0">
                <a:solidFill>
                  <a:srgbClr val="3598DB"/>
                </a:solidFill>
                <a:latin typeface="Consolas"/>
              </a:rPr>
              <a:t>i+1</a:t>
            </a:r>
            <a:r>
              <a:rPr sz="1800" b="0">
                <a:solidFill>
                  <a:srgbClr val="222B38"/>
                </a:solidFill>
                <a:latin typeface="Calibri"/>
              </a:rPr>
              <a:t> tới cuối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giá trị chỉ được in tần suất </a:t>
            </a:r>
            <a:r>
              <a:rPr sz="1800" b="1">
                <a:solidFill>
                  <a:srgbClr val="222B38"/>
                </a:solidFill>
                <a:latin typeface="Calibri"/>
              </a:rPr>
              <a:t>đúng 1 lần</a:t>
            </a:r>
            <a:r>
              <a:rPr sz="1800" b="0">
                <a:solidFill>
                  <a:srgbClr val="222B38"/>
                </a:solidFill>
                <a:latin typeface="Calibri"/>
              </a:rPr>
              <a:t>, ở lần gặp đầu tiên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22879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9183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bool check =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0; j &lt; i; j++) if(a[i]==a[j]){ check=false; break;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if(check){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dem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for(int j = i+1; j &lt; n; j++) if(a[i]==a[j]) ++dem;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a[i] &lt;&lt; " xuat hien " &lt;&lt; dem &lt;&lt; " lan\n";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Tần suất phần tử - cách 2 (dùng mảng đánh dấu)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6613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phụ </a:t>
            </a:r>
            <a:r>
              <a:rPr sz="1709" b="0">
                <a:solidFill>
                  <a:srgbClr val="3598DB"/>
                </a:solidFill>
                <a:latin typeface="Consolas"/>
              </a:rPr>
              <a:t>b[]</a:t>
            </a:r>
            <a:r>
              <a:rPr sz="1800" b="0">
                <a:solidFill>
                  <a:srgbClr val="222B38"/>
                </a:solidFill>
                <a:latin typeface="Calibri"/>
              </a:rPr>
              <a:t> đánh dấu phần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đã được tính</a:t>
            </a:r>
            <a:r>
              <a:rPr sz="1800" b="0">
                <a:solidFill>
                  <a:srgbClr val="222B38"/>
                </a:solidFill>
                <a:latin typeface="Calibri"/>
              </a:rPr>
              <a:t> tần suất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</a:t>
            </a:r>
            <a:r>
              <a:rPr sz="1709" b="0">
                <a:solidFill>
                  <a:srgbClr val="3598DB"/>
                </a:solidFill>
                <a:latin typeface="Consolas"/>
              </a:rPr>
              <a:t>i</a:t>
            </a:r>
            <a:r>
              <a:rPr sz="1800" b="0">
                <a:solidFill>
                  <a:srgbClr val="222B38"/>
                </a:solidFill>
                <a:latin typeface="Calibri"/>
              </a:rPr>
              <a:t>: nếu </a:t>
            </a:r>
            <a:r>
              <a:rPr sz="1709" b="0">
                <a:solidFill>
                  <a:srgbClr val="3598DB"/>
                </a:solidFill>
                <a:latin typeface="Consolas"/>
              </a:rPr>
              <a:t>b[i]==0</a:t>
            </a:r>
            <a:r>
              <a:rPr sz="1800" b="0">
                <a:solidFill>
                  <a:srgbClr val="222B38"/>
                </a:solidFill>
                <a:latin typeface="Calibri"/>
              </a:rPr>
              <a:t> thì đếm và đánh dấu mọi vị trí trùng giá trị </a:t>
            </a:r>
            <a:r>
              <a:rPr sz="1709" b="0">
                <a:solidFill>
                  <a:srgbClr val="3598DB"/>
                </a:solidFill>
                <a:latin typeface="Consolas"/>
              </a:rPr>
              <a:t>b[j]=1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Tránh việc phải xét lại đoạn </a:t>
            </a:r>
            <a:r>
              <a:rPr sz="1709" b="0">
                <a:solidFill>
                  <a:srgbClr val="3598DB"/>
                </a:solidFill>
                <a:latin typeface="Consolas"/>
              </a:rPr>
              <a:t>[0, i-1]</a:t>
            </a:r>
            <a:r>
              <a:rPr sz="1800" b="0">
                <a:solidFill>
                  <a:srgbClr val="222B38"/>
                </a:solidFill>
                <a:latin typeface="Calibri"/>
              </a:rPr>
              <a:t> như cách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34918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1222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b[100] = {0};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n;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if(b[i] ==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dem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for(int j = i+1; j &lt; n; j++)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if(a[i]==a[j]){ ++dem; b[j] = 1;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a[i] &lt;&lt; " xuat hien " &lt;&lt; dem &lt;&lt; " lan\n";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Tập Mảng 1 Chiều 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Khuôn chung: kiểm tra phần tử đã xuất hiện ở đoạn trước chưa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Đếm khác nhau và liệt kê khác nhau 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cùng 1 thuật toán</a:t>
            </a:r>
            <a:r>
              <a:rPr sz="1800" b="0">
                <a:solidFill>
                  <a:srgbClr val="222B38"/>
                </a:solidFill>
                <a:latin typeface="Calibri"/>
              </a:rPr>
              <a:t>, chỉ khác hành động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đánh dấu giúp tránh so sánh lại phần tử đã tính tần suất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Đây là cách tiếp cận cơ bản, sẽ có set/map/sort tối ưu hơn ở bài sau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