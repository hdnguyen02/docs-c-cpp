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Mảng 1 Chiều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1 chiều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Cấu trúc dữ liệu lưu nhiều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cùng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, nằm liền nhau trong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Kích thước </a:t>
            </a:r>
            <a:r>
              <a:rPr sz="1800" b="1">
                <a:solidFill>
                  <a:srgbClr val="222B38"/>
                </a:solidFill>
                <a:latin typeface="Calibri"/>
              </a:rPr>
              <a:t>cố định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mở rộng hay thu hẹp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Là cấu trúc dữ liệu được sử dụng nhiều nhất trong lập trình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khởi tạo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900" b="0">
                <a:solidFill>
                  <a:srgbClr val="3598DB"/>
                </a:solidFill>
                <a:latin typeface="Consolas"/>
              </a:rPr>
              <a:t>Kiểu_dữ_liệu Tên_mảng[Số_phần_tử];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khởi tạo ⇒ các phần tử có giá trị </a:t>
            </a:r>
            <a:r>
              <a:rPr sz="2000" b="1">
                <a:solidFill>
                  <a:srgbClr val="222B38"/>
                </a:solidFill>
                <a:latin typeface="Calibri"/>
              </a:rPr>
              <a:t>ngẫu nhiên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(rác)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Khởi tạo thiếu phần tử ⇒ các phần tử còn lại mặc định </a:t>
            </a:r>
            <a:r>
              <a:rPr sz="2000" b="1">
                <a:solidFill>
                  <a:srgbClr val="222B38"/>
                </a:solidFill>
                <a:latin typeface="Calibri"/>
              </a:rPr>
              <a:t>bằng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a[100];                 // giá trị ngẫu nhiên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b[6] = {2, 8, 0, 4, 2, 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c[100] = {2, 8, 0};     // 3 phần tử sau =0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Chỉ số và truy cập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Mảng có N phần tử ⇒ chỉ số đánh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N-1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cập / gán giá trị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tên_mảng[chỉ_số]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thuận: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tăng dần; duyệt ngược: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giảm dần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  cout &lt;&lt; a[i];      // duyệt thuận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n-1; i &gt;= 0; i--) cout &lt;&lt; a[i];     // duyệt ngược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 mảng từ bàn phím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91182"/>
            <a:ext cx="10765231" cy="1854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Nhập số lượng phần tử </a:t>
            </a:r>
            <a:r>
              <a:rPr sz="1614" b="0">
                <a:solidFill>
                  <a:srgbClr val="3598DB"/>
                </a:solidFill>
                <a:latin typeface="Consolas"/>
              </a:rPr>
              <a:t>n</a:t>
            </a:r>
            <a:r>
              <a:rPr sz="1700" b="0">
                <a:solidFill>
                  <a:srgbClr val="222B38"/>
                </a:solidFill>
                <a:latin typeface="Calibri"/>
              </a:rPr>
              <a:t> trước, rồi nhập lần lượt từng </a:t>
            </a:r>
            <a:r>
              <a:rPr sz="1614" b="0">
                <a:solidFill>
                  <a:srgbClr val="3598DB"/>
                </a:solidFill>
                <a:latin typeface="Consolas"/>
              </a:rPr>
              <a:t>a[i]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Cách 1 - kích thước cố định: khai dư (vd </a:t>
            </a:r>
            <a:r>
              <a:rPr sz="1614" b="0">
                <a:solidFill>
                  <a:srgbClr val="3598DB"/>
                </a:solidFill>
                <a:latin typeface="Consolas"/>
              </a:rPr>
              <a:t>a[1000]</a:t>
            </a:r>
            <a:r>
              <a:rPr sz="1700" b="0">
                <a:solidFill>
                  <a:srgbClr val="222B38"/>
                </a:solidFill>
                <a:latin typeface="Calibri"/>
              </a:rPr>
              <a:t>), chỉ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n</a:t>
            </a:r>
            <a:r>
              <a:rPr sz="1700" b="0">
                <a:solidFill>
                  <a:srgbClr val="222B38"/>
                </a:solidFill>
                <a:latin typeface="Calibri"/>
              </a:rPr>
              <a:t> phần tử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Cách 2 - kích thước vừa đủ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 a[n]</a:t>
            </a:r>
            <a:r>
              <a:rPr sz="1700" b="0">
                <a:solidFill>
                  <a:srgbClr val="222B38"/>
                </a:solidFill>
                <a:latin typeface="Calibri"/>
              </a:rPr>
              <a:t>: một số trình biên dịch không hỗ trợ nhưng online judge thường chấp nhận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91102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37406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n, a[1000];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cin &gt;&gt; a[i];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làm tham số của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truyền kèm số lượng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hàm biết duyệt tới đâu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phần tử mảng </a:t>
            </a:r>
            <a:r>
              <a:rPr sz="2000" b="1">
                <a:solidFill>
                  <a:srgbClr val="222B38"/>
                </a:solidFill>
                <a:latin typeface="Calibri"/>
              </a:rPr>
              <a:t>bên trong hàm</a:t>
            </a:r>
            <a:r>
              <a:rPr sz="2000" b="0">
                <a:solidFill>
                  <a:srgbClr val="222B38"/>
                </a:solidFill>
                <a:latin typeface="Calibri"/>
              </a:rPr>
              <a:t> làm thay đổi luôn mảng gốc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Khác với tham trị: mảng luôn hoạt động như tham chiếu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 a[i]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gọi change(b, m) -&gt; mảng b gốc cũng đổi thành toàn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Lỗi truy cập chỉ số không hợp lệ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số hợp lệ: 0 → N-1, nhưng C++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cấm</a:t>
            </a:r>
            <a:r>
              <a:rPr sz="1800" b="0">
                <a:solidFill>
                  <a:srgbClr val="222B38"/>
                </a:solidFill>
                <a:latin typeface="Calibri"/>
              </a:rPr>
              <a:t> truy cập ngoài phạm vi này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chỉ số sai (vd -1, N, N+2) ⇒ giá trị rác hoặc lỗi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kiểm soát điều kiện vòng lặp để không vượt biên mảng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Tràn stack khi khai mảng quá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8426"/>
            <a:ext cx="10765231" cy="15735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Mảng lớn khai trong </a:t>
            </a:r>
            <a:r>
              <a:rPr sz="1614" b="0">
                <a:solidFill>
                  <a:srgbClr val="3598DB"/>
                </a:solidFill>
                <a:latin typeface="Consolas"/>
              </a:rPr>
              <a:t>main</a:t>
            </a:r>
            <a:r>
              <a:rPr sz="1700" b="0">
                <a:solidFill>
                  <a:srgbClr val="222B38"/>
                </a:solidFill>
                <a:latin typeface="Calibri"/>
              </a:rPr>
              <a:t> dùng vùng nhớ </a:t>
            </a:r>
            <a:r>
              <a:rPr sz="1700" b="1">
                <a:solidFill>
                  <a:srgbClr val="222B38"/>
                </a:solidFill>
                <a:latin typeface="Calibri"/>
              </a:rPr>
              <a:t>stack</a:t>
            </a:r>
            <a:r>
              <a:rPr sz="1700" b="0">
                <a:solidFill>
                  <a:srgbClr val="222B38"/>
                </a:solidFill>
                <a:latin typeface="Calibri"/>
              </a:rPr>
              <a:t> (khá nhỏ) ⇒ dễ bị tràn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Khai mảng ở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phạm vi toàn cục</a:t>
            </a:r>
            <a:r>
              <a:rPr sz="1700" b="0">
                <a:solidFill>
                  <a:srgbClr val="222B38"/>
                </a:solidFill>
                <a:latin typeface="Calibri"/>
              </a:rPr>
              <a:t> (ngoài main) dùng vùng nhớ lớn hơn (uninitialized data segment)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Cách xử lý mảng cỡ 10^6-10^7 phần tử: khai báo global thay vì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7676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53980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 int a[1000000]; }   // dễ tràn stack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a[1000000];                 // global, an toàn hơn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lưu phần tử cùng kiểu, chỉ số luôn từ 0 tới N-1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mảng cho hàm phải kèm số lượng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Thay đổi mảng bên trong hàm luôn ảnh hưởng mảng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rất lớn nên khai global để tránh tràn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