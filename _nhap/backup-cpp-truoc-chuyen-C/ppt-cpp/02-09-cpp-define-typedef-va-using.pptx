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Define, Typedef Và Using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Typedef: đặt tên mới cho kiểu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Tạo bí danh (alias) cho kiểu dữ liệu có sẵn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được cả tên mới lẫn tên cũ sau khi định nghĩa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900" b="0">
                <a:solidFill>
                  <a:srgbClr val="3598DB"/>
                </a:solidFill>
                <a:latin typeface="Consolas"/>
              </a:rPr>
              <a:t>typedef kiểu_dữ_liệu tên_mới;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int songuyen;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long long 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double sothuc;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pair&lt;int, int&gt; ii;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songuyen a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ll b = 2828282828282;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ii p = {100, 200};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Define: 3 chức năng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Định nghĩa tên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kiểu dữ liệu</a:t>
            </a:r>
            <a:r>
              <a:rPr sz="1800" b="0">
                <a:solidFill>
                  <a:srgbClr val="222B38"/>
                </a:solidFill>
                <a:latin typeface="Calibri"/>
              </a:rPr>
              <a:t> (giống typedef)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Định nghĩa tên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 (hằng số)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Định nghĩa tên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cấu trúc hoặc câu lệnh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709" b="0">
                <a:solidFill>
                  <a:srgbClr val="3598DB"/>
                </a:solidFill>
                <a:latin typeface="Consolas"/>
              </a:rPr>
              <a:t>#define tên_mới giá_trị_hoặc_kiểu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Define đặt tên kiểu và giá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Using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songuyen 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ll long long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ii pair&lt;int, int&gt;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PI 3.14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INF 1000000000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Tech28 "codelab.dev"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songuyen a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fixed &lt;&lt; setprecision(2) &lt;&lt; PI;  // 3.14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Define cho cấu trúc/câu lệnh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nhiều trong lập trình thi đấu để rút gọn code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Người mới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chưa nên dùng</a:t>
            </a:r>
            <a:r>
              <a:rPr sz="2000" b="0">
                <a:solidFill>
                  <a:srgbClr val="222B38"/>
                </a:solidFill>
                <a:latin typeface="Calibri"/>
              </a:rPr>
              <a:t> kiểu này, khó đọc với người khác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nên dùng khi code một mình, không chia sẻ mã nguồn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greet cout &lt;&lt; "codelab.dev\n";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FOR(i, a, b) for(int i = a; i &lt;= b;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findMax(a, b) cout &lt;&lt; (a &gt; b ? a : b)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greet;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findMax(10, 20);   // 20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FOR(i, 1, 5) cout &lt;&lt; i &lt;&lt; " ";  // 1 2 3 4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Define vs Typedef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typedef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đặt tên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kiểu dữ liệu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800" b="0">
                <a:solidFill>
                  <a:srgbClr val="222B38"/>
                </a:solidFill>
                <a:latin typeface="Calibri"/>
              </a:rPr>
              <a:t> đặt tên được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kiểu, giá trị, cấu trúc, câu lệnh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typedef</a:t>
            </a:r>
            <a:r>
              <a:rPr sz="1800" b="0">
                <a:solidFill>
                  <a:srgbClr val="222B38"/>
                </a:solidFill>
                <a:latin typeface="Calibri"/>
              </a:rPr>
              <a:t> kết thúc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;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không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typedef</a:t>
            </a:r>
            <a:r>
              <a:rPr sz="1800" b="0">
                <a:solidFill>
                  <a:srgbClr val="222B38"/>
                </a:solidFill>
                <a:latin typeface="Calibri"/>
              </a:rPr>
              <a:t> xử lý bởi </a:t>
            </a:r>
            <a:r>
              <a:rPr sz="1800" b="1">
                <a:solidFill>
                  <a:srgbClr val="222B38"/>
                </a:solidFill>
                <a:latin typeface="Calibri"/>
              </a:rPr>
              <a:t>compiler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800" b="0">
                <a:solidFill>
                  <a:srgbClr val="222B38"/>
                </a:solidFill>
                <a:latin typeface="Calibri"/>
              </a:rPr>
              <a:t> xử lý bởi </a:t>
            </a:r>
            <a:r>
              <a:rPr sz="1800" b="1">
                <a:solidFill>
                  <a:srgbClr val="222B38"/>
                </a:solidFill>
                <a:latin typeface="Calibri"/>
              </a:rPr>
              <a:t>preprocessor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Từ khóa using (thay cho typedef)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Từ chuẩn </a:t>
            </a:r>
            <a:r>
              <a:rPr sz="2000" b="1">
                <a:solidFill>
                  <a:srgbClr val="222B38"/>
                </a:solidFill>
                <a:latin typeface="Calibri"/>
              </a:rPr>
              <a:t>C++11</a:t>
            </a:r>
            <a:r>
              <a:rPr sz="2000" b="0">
                <a:solidFill>
                  <a:srgbClr val="222B38"/>
                </a:solidFill>
                <a:latin typeface="Calibri"/>
              </a:rPr>
              <a:t> trở lên, </a:t>
            </a:r>
            <a:r>
              <a:rPr sz="1900" b="0">
                <a:solidFill>
                  <a:srgbClr val="3598DB"/>
                </a:solidFill>
                <a:latin typeface="Consolas"/>
              </a:rPr>
              <a:t>using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thể thay </a:t>
            </a:r>
            <a:r>
              <a:rPr sz="1900" b="0">
                <a:solidFill>
                  <a:srgbClr val="3598DB"/>
                </a:solidFill>
                <a:latin typeface="Consolas"/>
              </a:rPr>
              <a:t>typedef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900" b="0">
                <a:solidFill>
                  <a:srgbClr val="3598DB"/>
                </a:solidFill>
                <a:latin typeface="Consolas"/>
              </a:rPr>
              <a:t>using tên_mới = kiểu_dữ_liệu;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using ll = long long;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using ii = pair&lt;int, int&gt;;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using kitu = char;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ll n = 1923919231345;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ii p = {10, 20};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kitu x = '@';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typedef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using</a:t>
            </a:r>
            <a:r>
              <a:rPr sz="1700" b="0">
                <a:solidFill>
                  <a:srgbClr val="222B38"/>
                </a:solidFill>
                <a:latin typeface="Calibri"/>
              </a:rPr>
              <a:t> chỉ đặt tên cho </a:t>
            </a:r>
            <a:r>
              <a:rPr sz="1700" b="1">
                <a:solidFill>
                  <a:srgbClr val="222B38"/>
                </a:solidFill>
                <a:latin typeface="Calibri"/>
              </a:rPr>
              <a:t>kiểu dữ liệu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700" b="0">
                <a:solidFill>
                  <a:srgbClr val="222B38"/>
                </a:solidFill>
                <a:latin typeface="Calibri"/>
              </a:rPr>
              <a:t> linh hoạt hơn: kiểu, hằng số, cả câu lệnh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700" b="0">
                <a:solidFill>
                  <a:srgbClr val="222B38"/>
                </a:solidFill>
                <a:latin typeface="Calibri"/>
              </a:rPr>
              <a:t> được xử lý bởi preprocessor, không cần dấu </a:t>
            </a:r>
            <a:r>
              <a:rPr sz="1614" b="0">
                <a:solidFill>
                  <a:srgbClr val="3598DB"/>
                </a:solidFill>
                <a:latin typeface="Consolas"/>
              </a:rPr>
              <a:t>;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using</a:t>
            </a:r>
            <a:r>
              <a:rPr sz="1700" b="0">
                <a:solidFill>
                  <a:srgbClr val="222B38"/>
                </a:solidFill>
                <a:latin typeface="Calibri"/>
              </a:rPr>
              <a:t> là cách hiện đại (C++11+) thay cho </a:t>
            </a:r>
            <a:r>
              <a:rPr sz="1614" b="0">
                <a:solidFill>
                  <a:srgbClr val="3598DB"/>
                </a:solidFill>
                <a:latin typeface="Consolas"/>
              </a:rPr>
              <a:t>typedef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Tránh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700" b="0">
                <a:solidFill>
                  <a:srgbClr val="222B38"/>
                </a:solidFill>
                <a:latin typeface="Calibri"/>
              </a:rPr>
              <a:t> cho cấu trúc/câu lệnh khi mới học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