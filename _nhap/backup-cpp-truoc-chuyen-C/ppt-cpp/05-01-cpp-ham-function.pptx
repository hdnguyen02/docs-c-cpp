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Hàm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Hàm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Khối lệnh thực hiện </a:t>
            </a:r>
            <a:r>
              <a:rPr sz="2000" b="1">
                <a:solidFill>
                  <a:srgbClr val="222B38"/>
                </a:solidFill>
                <a:latin typeface="Calibri"/>
              </a:rPr>
              <a:t>1 chức năng cụ thể</a:t>
            </a:r>
            <a:r>
              <a:rPr sz="2000" b="0">
                <a:solidFill>
                  <a:srgbClr val="222B38"/>
                </a:solidFill>
                <a:latin typeface="Calibri"/>
              </a:rPr>
              <a:t>, dùng lại được nhiều lần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Tránh code lặp lại, chương trình dễ quản lý hơn khi lớn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Gọi hàm nhiều lần thay vì viết lại toàn bộ logic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 khai báo hàm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data_type</a:t>
            </a:r>
            <a:r>
              <a:rPr sz="2000" b="0">
                <a:solidFill>
                  <a:srgbClr val="222B38"/>
                </a:solidFill>
                <a:latin typeface="Calibri"/>
              </a:rPr>
              <a:t>: kiểu trả về (</a:t>
            </a:r>
            <a:r>
              <a:rPr sz="1900" b="0">
                <a:solidFill>
                  <a:srgbClr val="3598DB"/>
                </a:solidFill>
                <a:latin typeface="Consolas"/>
              </a:rPr>
              <a:t>int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void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long long</a:t>
            </a:r>
            <a:r>
              <a:rPr sz="2000" b="0">
                <a:solidFill>
                  <a:srgbClr val="222B38"/>
                </a:solidFill>
                <a:latin typeface="Calibri"/>
              </a:rPr>
              <a:t>,...)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function_name</a:t>
            </a:r>
            <a:r>
              <a:rPr sz="2000" b="0">
                <a:solidFill>
                  <a:srgbClr val="222B38"/>
                </a:solidFill>
                <a:latin typeface="Calibri"/>
              </a:rPr>
              <a:t>: đặt tên theo quy tắc như tên biến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parameter</a:t>
            </a:r>
            <a:r>
              <a:rPr sz="2000" b="0">
                <a:solidFill>
                  <a:srgbClr val="222B38"/>
                </a:solidFill>
                <a:latin typeface="Calibri"/>
              </a:rPr>
              <a:t>: đầu vào của hàm, số lượng và kiểu tùy ý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data_type function_name(type1 param1, type2 param2){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code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tong(int a, int b, int c){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a + b + c;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Lời gọi hàm — luồng chạy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93596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Gọi hàm trong </a:t>
            </a:r>
            <a:r>
              <a:rPr sz="1900" b="0">
                <a:solidFill>
                  <a:srgbClr val="3598DB"/>
                </a:solidFill>
                <a:latin typeface="Consolas"/>
              </a:rPr>
              <a:t>main</a:t>
            </a:r>
            <a:r>
              <a:rPr sz="2000" b="0">
                <a:solidFill>
                  <a:srgbClr val="222B38"/>
                </a:solidFill>
                <a:latin typeface="Calibri"/>
              </a:rPr>
              <a:t> (hoặc hàm khác) để nó thực thi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Chương trình </a:t>
            </a:r>
            <a:r>
              <a:rPr sz="2000" b="1">
                <a:solidFill>
                  <a:srgbClr val="222B38"/>
                </a:solidFill>
                <a:latin typeface="Calibri"/>
              </a:rPr>
              <a:t>nhảy vào</a:t>
            </a:r>
            <a:r>
              <a:rPr sz="2000" b="0">
                <a:solidFill>
                  <a:srgbClr val="222B38"/>
                </a:solidFill>
                <a:latin typeface="Calibri"/>
              </a:rPr>
              <a:t> thân hàm, chạy hết lệnh rồi </a:t>
            </a:r>
            <a:r>
              <a:rPr sz="2000" b="1">
                <a:solidFill>
                  <a:srgbClr val="222B38"/>
                </a:solidFill>
                <a:latin typeface="Calibri"/>
              </a:rPr>
              <a:t>quay lại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Mỗi lần gọi, các câu lệnh trong hàm chạy lại từ đầu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1436"/>
            <a:ext cx="10765231" cy="307086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07740"/>
            <a:ext cx="10362895" cy="2778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void greet(){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cout &lt;&lt; "Hello codelab C++!\n";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int main(){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cout &lt;&lt; "Before\n";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greet();          // nhảy vào thân hàm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cout &lt;&lt; "After\n";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// Before / Hello codelab C++! / After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Tham số và đối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Tham số</a:t>
            </a:r>
            <a:r>
              <a:rPr sz="1800" b="0">
                <a:solidFill>
                  <a:srgbClr val="222B38"/>
                </a:solidFill>
                <a:latin typeface="Calibri"/>
              </a:rPr>
              <a:t> (parameter): khai báo trong định nghĩa hàm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Đối số</a:t>
            </a:r>
            <a:r>
              <a:rPr sz="1800" b="0">
                <a:solidFill>
                  <a:srgbClr val="222B38"/>
                </a:solidFill>
                <a:latin typeface="Calibri"/>
              </a:rPr>
              <a:t> (argument): giá trị truyền vào khi gọi hàm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Đối số gán cho tham số theo </a:t>
            </a:r>
            <a:r>
              <a:rPr sz="1800" b="1">
                <a:solidFill>
                  <a:srgbClr val="222B38"/>
                </a:solidFill>
                <a:latin typeface="Calibri"/>
              </a:rPr>
              <a:t>đúng thứ tự</a:t>
            </a:r>
            <a:r>
              <a:rPr sz="1800" b="0">
                <a:solidFill>
                  <a:srgbClr val="222B38"/>
                </a:solidFill>
                <a:latin typeface="Calibri"/>
              </a:rPr>
              <a:t> khai báo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Kiểu đối số nên trùng hoặc nhỏ hơn kiểu tham số, tránh mất dữ liệu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Tham số truyền theo giá trị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9633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Thay đổi tham số </a:t>
            </a:r>
            <a:r>
              <a:rPr sz="2000" b="1">
                <a:solidFill>
                  <a:srgbClr val="222B38"/>
                </a:solidFill>
                <a:latin typeface="Calibri"/>
              </a:rPr>
              <a:t>bên trong hàm không ảnh hưởng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đối số bên ngoài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531313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77617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thaydoi(int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 += 28;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n &lt;&lt; endl;      // 128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main(){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a = 100;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thaydoi(a);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a &lt;&lt; endl;      // vẫn là 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Câu lệnh return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93596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Trả </a:t>
            </a:r>
            <a:r>
              <a:rPr sz="2000" b="1">
                <a:solidFill>
                  <a:srgbClr val="222B38"/>
                </a:solidFill>
                <a:latin typeface="Calibri"/>
              </a:rPr>
              <a:t>giá trị</a:t>
            </a:r>
            <a:r>
              <a:rPr sz="2000" b="0">
                <a:solidFill>
                  <a:srgbClr val="222B38"/>
                </a:solidFill>
                <a:latin typeface="Calibri"/>
              </a:rPr>
              <a:t> cho nơi gọi hàm, hàm kết thúc </a:t>
            </a:r>
            <a:r>
              <a:rPr sz="2000" b="1">
                <a:solidFill>
                  <a:srgbClr val="222B38"/>
                </a:solidFill>
                <a:latin typeface="Calibri"/>
              </a:rPr>
              <a:t>ngay khi gặp return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Kiểu giá trị </a:t>
            </a:r>
            <a:r>
              <a:rPr sz="1900" b="0">
                <a:solidFill>
                  <a:srgbClr val="3598DB"/>
                </a:solidFill>
                <a:latin typeface="Consolas"/>
              </a:rPr>
              <a:t>return</a:t>
            </a:r>
            <a:r>
              <a:rPr sz="2000" b="0">
                <a:solidFill>
                  <a:srgbClr val="222B38"/>
                </a:solidFill>
                <a:latin typeface="Calibri"/>
              </a:rPr>
              <a:t> nên khớp kiểu trả về của hàm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</a:t>
            </a:r>
            <a:r>
              <a:rPr sz="1900" b="0">
                <a:solidFill>
                  <a:srgbClr val="3598DB"/>
                </a:solidFill>
                <a:latin typeface="Consolas"/>
              </a:rPr>
              <a:t>void</a:t>
            </a:r>
            <a:r>
              <a:rPr sz="2000" b="0">
                <a:solidFill>
                  <a:srgbClr val="222B38"/>
                </a:solidFill>
                <a:latin typeface="Calibri"/>
              </a:rPr>
              <a:t>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return;</a:t>
            </a:r>
            <a:r>
              <a:rPr sz="2000" b="0">
                <a:solidFill>
                  <a:srgbClr val="222B38"/>
                </a:solidFill>
                <a:latin typeface="Calibri"/>
              </a:rPr>
              <a:t> (không kèm giá trị) để thoát sớm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1436"/>
            <a:ext cx="10765231" cy="307086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07740"/>
            <a:ext cx="10362895" cy="2778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int tong(int a, int b){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return 28;      // kết thúc, trả 28 ngay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return a + b;   // không bao giờ chạy tới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void greet(int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cout &lt;&lt; n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return;         // thoát sớm khỏi hàm void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cout &lt;&lt; "khong chay toi day\n";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hàm có return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150211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96515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tong(int a, int b, int c){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a + b + c;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factorial(int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long long gt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1; i &lt;= n; i++) gt *= 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Xây dựng hàm tổng quát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chỉ nên làm </a:t>
            </a:r>
            <a:r>
              <a:rPr sz="2000" b="1">
                <a:solidFill>
                  <a:srgbClr val="222B38"/>
                </a:solidFill>
                <a:latin typeface="Calibri"/>
              </a:rPr>
              <a:t>1 nhiệm vụ rõ ràng</a:t>
            </a:r>
            <a:r>
              <a:rPr sz="2000" b="0">
                <a:solidFill>
                  <a:srgbClr val="222B38"/>
                </a:solidFill>
                <a:latin typeface="Calibri"/>
              </a:rPr>
              <a:t>, tránh gộp nhập/tính/xuất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Nhập, xuất nên để ở </a:t>
            </a:r>
            <a:r>
              <a:rPr sz="1900" b="0">
                <a:solidFill>
                  <a:srgbClr val="3598DB"/>
                </a:solidFill>
                <a:latin typeface="Consolas"/>
              </a:rPr>
              <a:t>main</a:t>
            </a:r>
            <a:r>
              <a:rPr sz="2000" b="0">
                <a:solidFill>
                  <a:srgbClr val="222B38"/>
                </a:solidFill>
                <a:latin typeface="Calibri"/>
              </a:rPr>
              <a:t>; hàm chỉ xử lý 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return</a:t>
            </a:r>
            <a:r>
              <a:rPr sz="2000" b="0">
                <a:solidFill>
                  <a:srgbClr val="222B38"/>
                </a:solidFill>
                <a:latin typeface="Calibri"/>
              </a:rPr>
              <a:t> kết quả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tổng quát tái sử dụng được cho nhiều bài toán khác nhau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49168"/>
            <a:ext cx="10765231" cy="310591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95472"/>
            <a:ext cx="10362895" cy="2813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// chưa tổng quát: gộp cả nhập và xuất vào hàm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void xuly(){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   int n; cin &gt;&gt;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   int tong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   for(int i=1;i&lt;=n;i++) if(n%i==0) tong+=i;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   cout &lt;&lt; tong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// tổng quát: chỉ tính và trả kết quả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int tonguoc(int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   int tong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   for(int i=1;i&lt;=n;i++) if(n%i==0) tong+=i;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    return tong;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Hàm giúp tái sử dụng code, chương trình dễ quản lý hơn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Tham số truyền theo giá trị: sửa trong hàm không đổi đối số ngoài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return</a:t>
            </a:r>
            <a:r>
              <a:rPr sz="1800" b="0">
                <a:solidFill>
                  <a:srgbClr val="222B38"/>
                </a:solidFill>
                <a:latin typeface="Calibri"/>
              </a:rPr>
              <a:t> giá trị kết thúc hàm ngay lập tức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Hàm nên tổng quát, tách biệt nhập/xuất khỏi phần xử lý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