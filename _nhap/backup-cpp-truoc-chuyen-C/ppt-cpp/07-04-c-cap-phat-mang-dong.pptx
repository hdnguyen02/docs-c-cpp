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Cấp Phát Mảng Động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Cấp phát động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Cấp Phát Mảng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Dynamic memory allocation</a:t>
            </a:r>
            <a:r>
              <a:rPr sz="1800" b="0">
                <a:solidFill>
                  <a:srgbClr val="222B38"/>
                </a:solidFill>
                <a:latin typeface="Calibri"/>
              </a:rPr>
              <a:t>: lập trình viên chủ động xin cấp phát vùng nhớ khi cần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Vùng nhớ dùng khi cấp phát động nằm ở </a:t>
            </a:r>
            <a:r>
              <a:rPr sz="1800" b="1">
                <a:solidFill>
                  <a:srgbClr val="222B38"/>
                </a:solidFill>
                <a:latin typeface="Calibri"/>
              </a:rPr>
              <a:t>heap</a:t>
            </a:r>
            <a:r>
              <a:rPr sz="1800" b="0">
                <a:solidFill>
                  <a:srgbClr val="222B38"/>
                </a:solidFill>
                <a:latin typeface="Calibri"/>
              </a:rPr>
              <a:t> (khác với mảng tĩnh trên stack)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Nền tảng để dựng cấu trúc dữ liệu như danh sách liên kết, cây nhị phân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</a:t>
            </a:r>
            <a:r>
              <a:rPr sz="2565" b="1">
                <a:solidFill>
                  <a:srgbClr val="3598DB"/>
                </a:solidFill>
                <a:latin typeface="Consolas"/>
              </a:rPr>
              <a:t>new</a:t>
            </a:r>
            <a:r>
              <a:rPr sz="2700" b="1">
                <a:solidFill>
                  <a:srgbClr val="142B45"/>
                </a:solidFill>
                <a:latin typeface="Calibri"/>
              </a:rPr>
              <a:t>: xin cấp phát vùng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Cấp Phát Mảng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new data_type</a:t>
            </a:r>
            <a:r>
              <a:rPr sz="2000" b="0">
                <a:solidFill>
                  <a:srgbClr val="222B38"/>
                </a:solidFill>
                <a:latin typeface="Calibri"/>
              </a:rPr>
              <a:t> cấp 1 phần tử; </a:t>
            </a:r>
            <a:r>
              <a:rPr sz="1900" b="0">
                <a:solidFill>
                  <a:srgbClr val="3598DB"/>
                </a:solidFill>
                <a:latin typeface="Consolas"/>
              </a:rPr>
              <a:t>new data_type[n]</a:t>
            </a:r>
            <a:r>
              <a:rPr sz="2000" b="0">
                <a:solidFill>
                  <a:srgbClr val="222B38"/>
                </a:solidFill>
                <a:latin typeface="Calibri"/>
              </a:rPr>
              <a:t> cấp một mảng n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con trỏ</a:t>
            </a:r>
            <a:r>
              <a:rPr sz="2000" b="0">
                <a:solidFill>
                  <a:srgbClr val="222B38"/>
                </a:solidFill>
                <a:latin typeface="Calibri"/>
              </a:rPr>
              <a:t> tới ô nhớ đầu tiên được cấp phát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khi cấp phát, dùng mảng động qua con trỏ y hệt mảng 1 chiều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new int[5];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ptr[0] = 1; ptr[1] = 2; ptr[2] = 3;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ptr[3] = 4; ptr[4] = 5;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5;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ptr[i] &lt;&lt; ' ';  // hoac *(ptr + 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 2 3 4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Khi cấp phát thất bại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Cấp Phát Mảng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Nếu heap không đủ chỗ, </a:t>
            </a:r>
            <a:r>
              <a:rPr sz="1900" b="0">
                <a:solidFill>
                  <a:srgbClr val="3598DB"/>
                </a:solidFill>
                <a:latin typeface="Consolas"/>
              </a:rPr>
              <a:t>new</a:t>
            </a:r>
            <a:r>
              <a:rPr sz="2000" b="0">
                <a:solidFill>
                  <a:srgbClr val="222B38"/>
                </a:solidFill>
                <a:latin typeface="Calibri"/>
              </a:rPr>
              <a:t> mặc định </a:t>
            </a:r>
            <a:r>
              <a:rPr sz="2000" b="1">
                <a:solidFill>
                  <a:srgbClr val="222B38"/>
                </a:solidFill>
                <a:latin typeface="Calibri"/>
              </a:rPr>
              <a:t>ném ngoại lệ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std::bad_alloc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new(nothrow)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không ném ngoại lệ, thay vào đó trả về </a:t>
            </a:r>
            <a:r>
              <a:rPr sz="1900" b="0">
                <a:solidFill>
                  <a:srgbClr val="3598DB"/>
                </a:solidFill>
                <a:latin typeface="Consolas"/>
              </a:rPr>
              <a:t>NULL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Luôn kiểm tra </a:t>
            </a:r>
            <a:r>
              <a:rPr sz="1900" b="0">
                <a:solidFill>
                  <a:srgbClr val="3598DB"/>
                </a:solidFill>
                <a:latin typeface="Consolas"/>
              </a:rPr>
              <a:t>ptr ==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 sau khi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new(nothrow)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new(nothrow) int[10000000000000ll];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(ptr == NULL)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"Khong du bo nho cap phat !\n";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Toán tử </a:t>
            </a:r>
            <a:r>
              <a:rPr sz="2565" b="1">
                <a:solidFill>
                  <a:srgbClr val="3598DB"/>
                </a:solidFill>
                <a:latin typeface="Consolas"/>
              </a:rPr>
              <a:t>delete</a:t>
            </a:r>
            <a:r>
              <a:rPr sz="2700" b="1">
                <a:solidFill>
                  <a:srgbClr val="142B45"/>
                </a:solidFill>
                <a:latin typeface="Calibri"/>
              </a:rPr>
              <a:t>: giải phóng vùng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Cấp Phát Mảng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delete pointer</a:t>
            </a:r>
            <a:r>
              <a:rPr sz="2000" b="0">
                <a:solidFill>
                  <a:srgbClr val="222B38"/>
                </a:solidFill>
                <a:latin typeface="Calibri"/>
              </a:rPr>
              <a:t> giải phóng vùng nhớ cấp cho </a:t>
            </a:r>
            <a:r>
              <a:rPr sz="2000" b="1">
                <a:solidFill>
                  <a:srgbClr val="222B38"/>
                </a:solidFill>
                <a:latin typeface="Calibri"/>
              </a:rPr>
              <a:t>1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delete [] pointer</a:t>
            </a:r>
            <a:r>
              <a:rPr sz="2000" b="0">
                <a:solidFill>
                  <a:srgbClr val="222B38"/>
                </a:solidFill>
                <a:latin typeface="Calibri"/>
              </a:rPr>
              <a:t> giải phóng vùng nhớ cấp cho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Luôn dùng đúng cặp: </a:t>
            </a:r>
            <a:r>
              <a:rPr sz="1900" b="0">
                <a:solidFill>
                  <a:srgbClr val="3598DB"/>
                </a:solidFill>
                <a:latin typeface="Consolas"/>
              </a:rPr>
              <a:t>new int[n]</a:t>
            </a:r>
            <a:r>
              <a:rPr sz="2000" b="0">
                <a:solidFill>
                  <a:srgbClr val="222B38"/>
                </a:solidFill>
                <a:latin typeface="Calibri"/>
              </a:rPr>
              <a:t> đi với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delete [] ptr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new(nothrow) int[n];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(ptr == NULL)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"Khong du bo nho cap phat !\n";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 else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i = 0; i &lt; n; i++) cin &gt;&gt; ptr[i];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i = 0; i &lt; n; i++) cout &lt;&lt; ptr[i] &lt;&lt; ' 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delete [] ptr;   // giai phong sau khi dung xong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Cấp Phát Mảng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Cấp phát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new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new[]</a:t>
            </a:r>
            <a:r>
              <a:rPr sz="1800" b="0">
                <a:solidFill>
                  <a:srgbClr val="222B38"/>
                </a:solidFill>
                <a:latin typeface="Calibri"/>
              </a:rPr>
              <a:t>, giải phóng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delete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delete []</a:t>
            </a:r>
            <a:r>
              <a:rPr sz="1800" b="0">
                <a:solidFill>
                  <a:srgbClr val="222B38"/>
                </a:solidFill>
                <a:latin typeface="Calibri"/>
              </a:rPr>
              <a:t> — </a:t>
            </a:r>
            <a:r>
              <a:rPr sz="1800" b="1">
                <a:solidFill>
                  <a:srgbClr val="222B38"/>
                </a:solidFill>
                <a:latin typeface="Calibri"/>
              </a:rPr>
              <a:t>đúng cặp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Quên </a:t>
            </a:r>
            <a:r>
              <a:rPr sz="1709" b="0">
                <a:solidFill>
                  <a:srgbClr val="3598DB"/>
                </a:solidFill>
                <a:latin typeface="Consolas"/>
              </a:rPr>
              <a:t>delete</a:t>
            </a:r>
            <a:r>
              <a:rPr sz="1800" b="0">
                <a:solidFill>
                  <a:srgbClr val="222B38"/>
                </a:solidFill>
                <a:latin typeface="Calibri"/>
              </a:rPr>
              <a:t> sau khi dùng xong </a:t>
            </a:r>
            <a:r>
              <a:rPr sz="1709" b="0">
                <a:solidFill>
                  <a:srgbClr val="3598DB"/>
                </a:solidFill>
                <a:latin typeface="Consolas"/>
              </a:rPr>
              <a:t>new</a:t>
            </a:r>
            <a:r>
              <a:rPr sz="1800" b="0">
                <a:solidFill>
                  <a:srgbClr val="222B38"/>
                </a:solidFill>
                <a:latin typeface="Calibri"/>
              </a:rPr>
              <a:t> sẽ gây </a:t>
            </a:r>
            <a:r>
              <a:rPr sz="1800" b="1">
                <a:solidFill>
                  <a:srgbClr val="222B38"/>
                </a:solidFill>
                <a:latin typeface="Calibri"/>
              </a:rPr>
              <a:t>rò rỉ bộ nhớ</a:t>
            </a:r>
            <a:r>
              <a:rPr sz="1800" b="0">
                <a:solidFill>
                  <a:srgbClr val="222B38"/>
                </a:solidFill>
                <a:latin typeface="Calibri"/>
              </a:rPr>
              <a:t> (leak memory)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new(nothrow)</a:t>
            </a:r>
            <a:r>
              <a:rPr sz="1800" b="0">
                <a:solidFill>
                  <a:srgbClr val="222B38"/>
                </a:solidFill>
                <a:latin typeface="Calibri"/>
              </a:rPr>
              <a:t> + kiểm tra </a:t>
            </a:r>
            <a:r>
              <a:rPr sz="1709" b="0">
                <a:solidFill>
                  <a:srgbClr val="3598DB"/>
                </a:solidFill>
                <a:latin typeface="Consolas"/>
              </a:rPr>
              <a:t>NULL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tránh chương trình bị crash vì </a:t>
            </a:r>
            <a:r>
              <a:rPr sz="1709" b="0">
                <a:solidFill>
                  <a:srgbClr val="3598DB"/>
                </a:solidFill>
                <a:latin typeface="Consolas"/>
              </a:rPr>
              <a:t>bad_alloc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động nằm ở heap, khác mảng tĩnh khai báo sẵn kích thước ở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