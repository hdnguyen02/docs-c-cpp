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Hàm stable_sort() Trong C++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Tính ổn định (stable)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stable_sort()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6629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Các phần tử </a:t>
            </a:r>
            <a:r>
              <a:rPr sz="1800" b="1">
                <a:solidFill>
                  <a:srgbClr val="222B38"/>
                </a:solidFill>
                <a:latin typeface="Calibri"/>
              </a:rPr>
              <a:t>cùng giá trị sắp xếp</a:t>
            </a:r>
            <a:r>
              <a:rPr sz="1800" b="0">
                <a:solidFill>
                  <a:srgbClr val="222B38"/>
                </a:solidFill>
                <a:latin typeface="Calibri"/>
              </a:rPr>
              <a:t> giữ nguyên </a:t>
            </a:r>
            <a:r>
              <a:rPr sz="1800" b="1">
                <a:solidFill>
                  <a:srgbClr val="222B38"/>
                </a:solidFill>
                <a:latin typeface="Calibri"/>
              </a:rPr>
              <a:t>thứ tự xuất hiện ban đầu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921508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67812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(111, 9, 3000, 18, 81, 1002, 2002) sap theo tong chu so, on dinh: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(111, 3000, 1002, 2002, 9, 18, 81)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111, 3000, 1002 cung tong=3, giu dung thu tu ban dau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Thuật toán ổn định vs không ổn định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stable_sort()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Không ổn định</a:t>
            </a:r>
            <a:r>
              <a:rPr sz="2000" b="0">
                <a:solidFill>
                  <a:srgbClr val="222B38"/>
                </a:solidFill>
                <a:latin typeface="Calibri"/>
              </a:rPr>
              <a:t>: quick sort, heap sort, selection sort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Ổn định</a:t>
            </a:r>
            <a:r>
              <a:rPr sz="2000" b="0">
                <a:solidFill>
                  <a:srgbClr val="222B38"/>
                </a:solidFill>
                <a:latin typeface="Calibri"/>
              </a:rPr>
              <a:t>: merge sort, insertion sort, tim sort, counting sort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Java, Python, JS: hàm sort mặc định đã ổn định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sort() trong C++ không ổn định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stable_sort()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sort()</a:t>
            </a:r>
            <a:r>
              <a:rPr sz="1800" b="0">
                <a:solidFill>
                  <a:srgbClr val="222B38"/>
                </a:solidFill>
                <a:latin typeface="Calibri"/>
              </a:rPr>
              <a:t> cài bằng </a:t>
            </a:r>
            <a:r>
              <a:rPr sz="1800" b="1">
                <a:solidFill>
                  <a:srgbClr val="222B38"/>
                </a:solidFill>
                <a:latin typeface="Calibri"/>
              </a:rPr>
              <a:t>intro-sort</a:t>
            </a:r>
            <a:r>
              <a:rPr sz="1800" b="0">
                <a:solidFill>
                  <a:srgbClr val="222B38"/>
                </a:solidFill>
                <a:latin typeface="Calibri"/>
              </a:rPr>
              <a:t> (quick sort + heap sort) → không ổn định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C++ cung cấp thêm </a:t>
            </a:r>
            <a:r>
              <a:rPr sz="1709" b="0">
                <a:solidFill>
                  <a:srgbClr val="3598DB"/>
                </a:solidFill>
                <a:latin typeface="Consolas"/>
              </a:rPr>
              <a:t>stable_sort()</a:t>
            </a:r>
            <a:r>
              <a:rPr sz="1800" b="0">
                <a:solidFill>
                  <a:srgbClr val="222B38"/>
                </a:solidFill>
                <a:latin typeface="Calibri"/>
              </a:rPr>
              <a:t>, cài bằng </a:t>
            </a:r>
            <a:r>
              <a:rPr sz="1800" b="1">
                <a:solidFill>
                  <a:srgbClr val="222B38"/>
                </a:solidFill>
                <a:latin typeface="Calibri"/>
              </a:rPr>
              <a:t>merge sort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Cách gọi </a:t>
            </a:r>
            <a:r>
              <a:rPr sz="1709" b="0">
                <a:solidFill>
                  <a:srgbClr val="3598DB"/>
                </a:solidFill>
                <a:latin typeface="Consolas"/>
              </a:rPr>
              <a:t>stable_sort()</a:t>
            </a:r>
            <a:r>
              <a:rPr sz="1800" b="0">
                <a:solidFill>
                  <a:srgbClr val="222B38"/>
                </a:solidFill>
                <a:latin typeface="Calibri"/>
              </a:rPr>
              <a:t> giống hệt </a:t>
            </a:r>
            <a:r>
              <a:rPr sz="1709" b="0">
                <a:solidFill>
                  <a:srgbClr val="3598DB"/>
                </a:solidFill>
                <a:latin typeface="Consolas"/>
              </a:rPr>
              <a:t>sort()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Dùng stable_sort() khi nào?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stable_sort()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6629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Đề bài yêu cầu giữ nguyên thứ tự xuất hiện khi các phần tử bằng giá trị sắp xếp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 code stable_sort() theo tổng chữ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stable_sort() Trong C++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212848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tong(int n){ int s=0; while(n){ s+=n%10; n/=10; } return s;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bool cmp(int a, int b){ return tong(a) &lt; tong(b);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a[] = {10002,19,3000,111,81,45,1002,21,10071,203,401};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stable_sort(a, a+11, cmp);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10002 3000 111 1002 21 203 401 81 45 10071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stable_sort()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stable_sort()</a:t>
            </a:r>
            <a:r>
              <a:rPr sz="1800" b="0">
                <a:solidFill>
                  <a:srgbClr val="222B38"/>
                </a:solidFill>
                <a:latin typeface="Calibri"/>
              </a:rPr>
              <a:t> giữ </a:t>
            </a:r>
            <a:r>
              <a:rPr sz="1800" b="1">
                <a:solidFill>
                  <a:srgbClr val="222B38"/>
                </a:solidFill>
                <a:latin typeface="Calibri"/>
              </a:rPr>
              <a:t>thứ tự tương đối</a:t>
            </a:r>
            <a:r>
              <a:rPr sz="1800" b="0">
                <a:solidFill>
                  <a:srgbClr val="222B38"/>
                </a:solidFill>
                <a:latin typeface="Calibri"/>
              </a:rPr>
              <a:t> giữa các phần tử bằng nhau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sort()</a:t>
            </a:r>
            <a:r>
              <a:rPr sz="1800" b="0">
                <a:solidFill>
                  <a:srgbClr val="222B38"/>
                </a:solidFill>
                <a:latin typeface="Calibri"/>
              </a:rPr>
              <a:t> (intro-sort) </a:t>
            </a:r>
            <a:r>
              <a:rPr sz="1800" b="1">
                <a:solidFill>
                  <a:srgbClr val="222B38"/>
                </a:solidFill>
                <a:latin typeface="Calibri"/>
              </a:rPr>
              <a:t>không</a:t>
            </a:r>
            <a:r>
              <a:rPr sz="1800" b="0">
                <a:solidFill>
                  <a:srgbClr val="222B38"/>
                </a:solidFill>
                <a:latin typeface="Calibri"/>
              </a:rPr>
              <a:t> đảm bảo điều này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Cách dùng giống hệt </a:t>
            </a:r>
            <a:r>
              <a:rPr sz="1709" b="0">
                <a:solidFill>
                  <a:srgbClr val="3598DB"/>
                </a:solidFill>
                <a:latin typeface="Consolas"/>
              </a:rPr>
              <a:t>sort()</a:t>
            </a:r>
            <a:r>
              <a:rPr sz="1800" b="0">
                <a:solidFill>
                  <a:srgbClr val="222B38"/>
                </a:solidFill>
                <a:latin typeface="Calibri"/>
              </a:rPr>
              <a:t>, chỉ khác thuật toán cài đặt (merge sort)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Dùng khi đề yêu cầu giữ nguyên thứ tự xuất hiện ban đầu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