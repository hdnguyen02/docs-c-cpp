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Thuật Toán Tìm Kiếm Nhị Phân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Binary search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 bắt buộc</a:t>
            </a:r>
            <a:r>
              <a:rPr sz="1800" b="0">
                <a:solidFill>
                  <a:srgbClr val="222B38"/>
                </a:solidFill>
                <a:latin typeface="Calibri"/>
              </a:rPr>
              <a:t>: mảng phải đã </a:t>
            </a:r>
            <a:r>
              <a:rPr sz="1800" b="1">
                <a:solidFill>
                  <a:srgbClr val="222B38"/>
                </a:solidFill>
                <a:latin typeface="Calibri"/>
              </a:rPr>
              <a:t>sắp xếp</a:t>
            </a:r>
            <a:r>
              <a:rPr sz="1800" b="0">
                <a:solidFill>
                  <a:srgbClr val="222B38"/>
                </a:solidFill>
                <a:latin typeface="Calibri"/>
              </a:rPr>
              <a:t> tăng/giảm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Ý tưởng: so với phần tử giữa, loại bỏ </a:t>
            </a:r>
            <a:r>
              <a:rPr sz="1800" b="1">
                <a:solidFill>
                  <a:srgbClr val="222B38"/>
                </a:solidFill>
                <a:latin typeface="Calibri"/>
              </a:rPr>
              <a:t>1 nửa</a:t>
            </a:r>
            <a:r>
              <a:rPr sz="1800" b="0">
                <a:solidFill>
                  <a:srgbClr val="222B38"/>
                </a:solidFill>
                <a:latin typeface="Calibri"/>
              </a:rPr>
              <a:t> đoạn tìm kiếm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1 tỷ phần tử chỉ cần tìm tối đa </a:t>
            </a:r>
            <a:r>
              <a:rPr sz="1800" b="1">
                <a:solidFill>
                  <a:srgbClr val="222B38"/>
                </a:solidFill>
                <a:latin typeface="Calibri"/>
              </a:rPr>
              <a:t>31 lần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tạp: </a:t>
            </a:r>
            <a:r>
              <a:rPr sz="1800" b="1">
                <a:solidFill>
                  <a:srgbClr val="222B38"/>
                </a:solidFill>
                <a:latin typeface="Calibri"/>
              </a:rPr>
              <a:t>O(logN)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5 bước của thuật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Tính chỉ số giữa </a:t>
            </a:r>
            <a:r>
              <a:rPr sz="1614" b="0">
                <a:solidFill>
                  <a:srgbClr val="3598DB"/>
                </a:solidFill>
                <a:latin typeface="Consolas"/>
              </a:rPr>
              <a:t>M = (L + R) / 2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A[M] == X</a:t>
            </a:r>
            <a:r>
              <a:rPr sz="1700" b="0">
                <a:solidFill>
                  <a:srgbClr val="222B38"/>
                </a:solidFill>
                <a:latin typeface="Calibri"/>
              </a:rPr>
              <a:t> → tìm thấy, dừng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A[M] &lt; X</a:t>
            </a:r>
            <a:r>
              <a:rPr sz="1700" b="0">
                <a:solidFill>
                  <a:srgbClr val="222B38"/>
                </a:solidFill>
                <a:latin typeface="Calibri"/>
              </a:rPr>
              <a:t> → phần tử nằm bên </a:t>
            </a:r>
            <a:r>
              <a:rPr sz="1700" b="1">
                <a:solidFill>
                  <a:srgbClr val="222B38"/>
                </a:solidFill>
                <a:latin typeface="Calibri"/>
              </a:rPr>
              <a:t>phải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A[M] &gt; X</a:t>
            </a:r>
            <a:r>
              <a:rPr sz="1700" b="0">
                <a:solidFill>
                  <a:srgbClr val="222B38"/>
                </a:solidFill>
                <a:latin typeface="Calibri"/>
              </a:rPr>
              <a:t> → phần tử nằm bên </a:t>
            </a:r>
            <a:r>
              <a:rPr sz="1700" b="1">
                <a:solidFill>
                  <a:srgbClr val="222B38"/>
                </a:solidFill>
                <a:latin typeface="Calibri"/>
              </a:rPr>
              <a:t>trái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Lặp lại tới khi tìm thấy hoặc hết đoạn (</a:t>
            </a:r>
            <a:r>
              <a:rPr sz="1614" b="0">
                <a:solidFill>
                  <a:srgbClr val="3598DB"/>
                </a:solidFill>
                <a:latin typeface="Consolas"/>
              </a:rPr>
              <a:t>L &gt; R</a:t>
            </a:r>
            <a:r>
              <a:rPr sz="17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Cập nhật biên trái/phải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 == X</a:t>
            </a:r>
            <a:r>
              <a:rPr sz="1800" b="0">
                <a:solidFill>
                  <a:srgbClr val="222B38"/>
                </a:solidFill>
                <a:latin typeface="Calibri"/>
              </a:rPr>
              <a:t>: tìm thấy, dừng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 &lt; X</a:t>
            </a:r>
            <a:r>
              <a:rPr sz="1800" b="0">
                <a:solidFill>
                  <a:srgbClr val="222B38"/>
                </a:solidFill>
                <a:latin typeface="Calibri"/>
              </a:rPr>
              <a:t>: loại nửa trái, cập nhật </a:t>
            </a:r>
            <a:r>
              <a:rPr sz="1800" b="1">
                <a:solidFill>
                  <a:srgbClr val="222B38"/>
                </a:solidFill>
                <a:latin typeface="Calibri"/>
              </a:rPr>
              <a:t>L = M + 1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 &gt; X</a:t>
            </a:r>
            <a:r>
              <a:rPr sz="1800" b="0">
                <a:solidFill>
                  <a:srgbClr val="222B38"/>
                </a:solidFill>
                <a:latin typeface="Calibri"/>
              </a:rPr>
              <a:t>: loại nửa phải, cập nhật </a:t>
            </a:r>
            <a:r>
              <a:rPr sz="1800" b="1">
                <a:solidFill>
                  <a:srgbClr val="222B38"/>
                </a:solidFill>
                <a:latin typeface="Calibri"/>
              </a:rPr>
              <a:t>R = M - 1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Ban đầu </a:t>
            </a:r>
            <a:r>
              <a:rPr sz="1709" b="0">
                <a:solidFill>
                  <a:srgbClr val="3598DB"/>
                </a:solidFill>
                <a:latin typeface="Consolas"/>
              </a:rPr>
              <a:t>L=0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R=N-1</a:t>
            </a:r>
            <a:r>
              <a:rPr sz="1800" b="0">
                <a:solidFill>
                  <a:srgbClr val="222B38"/>
                </a:solidFill>
                <a:latin typeface="Calibri"/>
              </a:rPr>
              <a:t>; dừng khi </a:t>
            </a:r>
            <a:r>
              <a:rPr sz="1709" b="0">
                <a:solidFill>
                  <a:srgbClr val="3598DB"/>
                </a:solidFill>
                <a:latin typeface="Consolas"/>
              </a:rPr>
              <a:t>L &gt; 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Code tìm kiếm nhị phân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binary_search(int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l = 0, r = n - 1;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while(l &lt;=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m = (l + r)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if(a[m] == x) return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if(a[m] &lt; x) l = m + 1;  // tim ben phai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r = m - 1;                // tim ben trai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tìm X = 3 trong mảng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A = {1,1,3,4,5,8,9,12,21,32}, tìm X =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54527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0831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l=0,r=9,m=4,A[4]=5&gt;3 -&gt; r=3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l=0,r=3,m=1,A[1]=1&lt;3 -&gt; l=2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l=2,r=3,m=2,A[2]=3==3 -&gt; tim thay tai vi tri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vị trí đầu tiên của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1190"/>
            <a:ext cx="10765231" cy="6629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thấy X vẫn lưu kết quả, </a:t>
            </a:r>
            <a:r>
              <a:rPr sz="1800" b="1">
                <a:solidFill>
                  <a:srgbClr val="222B38"/>
                </a:solidFill>
                <a:latin typeface="Calibri"/>
              </a:rPr>
              <a:t>tiếp tục tìm bên trái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lấy vị trí nhỏ nhất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09850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6154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firstPos(int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l = 0, r = n - 1, pos = -1;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while(l &lt;=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m = (l + r)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if(a[m] == x){ pos = m; r = m - 1; }  // luu, tim tiep ben trai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if(a[m] &lt; x) l = m + 1;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r = m - 1;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pos;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vị trí cuối cùng của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1190"/>
            <a:ext cx="10765231" cy="6629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thấy X vẫn lưu kết quả, </a:t>
            </a:r>
            <a:r>
              <a:rPr sz="1800" b="1">
                <a:solidFill>
                  <a:srgbClr val="222B38"/>
                </a:solidFill>
                <a:latin typeface="Calibri"/>
              </a:rPr>
              <a:t>tiếp tục tìm bên phải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lấy vị trí lớn nhất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09850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6154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lastPos(int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l = 0, r = n - 1, pos = -1;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while(l &lt;=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m = (l + r)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if(a[m] == x){ pos = m; l = m + 1; }  // luu, tim tiep ben phai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if(a[m] &lt; x) l = m + 1;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r = m - 1;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pos;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Biến thể: vị trí đầu tiên ≥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11045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A[M] &gt;= X</a:t>
            </a:r>
            <a:r>
              <a:rPr sz="2000" b="0">
                <a:solidFill>
                  <a:srgbClr val="222B38"/>
                </a:solidFill>
                <a:latin typeface="Calibri"/>
              </a:rPr>
              <a:t>: lưu kết quả, tìm tiếp bên trái để lấy vị trí nhỏ nhất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Ngược lại tìm bên phải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65805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12109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firstPos(int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l = 0, r = n - 1, pos = -1;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while(l &lt;=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m = (l + r)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if(a[m] &gt;= x){ pos = m; r = m - 1;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else l = m + 1;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pos;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Thuật Toán Tìm Kiếm Nhị Phân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</a:t>
            </a:r>
            <a:r>
              <a:rPr sz="1800" b="1">
                <a:solidFill>
                  <a:srgbClr val="222B38"/>
                </a:solidFill>
                <a:latin typeface="Calibri"/>
              </a:rPr>
              <a:t>phải sắp xếp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 khi dùng binary search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A[m]&lt;x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</a:t>
            </a:r>
            <a:r>
              <a:rPr sz="1709" b="0">
                <a:solidFill>
                  <a:srgbClr val="3598DB"/>
                </a:solidFill>
                <a:latin typeface="Consolas"/>
              </a:rPr>
              <a:t>l=m+1</a:t>
            </a:r>
            <a:r>
              <a:rPr sz="1800" b="0">
                <a:solidFill>
                  <a:srgbClr val="222B38"/>
                </a:solidFill>
                <a:latin typeface="Calibri"/>
              </a:rPr>
              <a:t>;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A[m]&gt;x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</a:t>
            </a:r>
            <a:r>
              <a:rPr sz="1709" b="0">
                <a:solidFill>
                  <a:srgbClr val="3598DB"/>
                </a:solidFill>
                <a:latin typeface="Consolas"/>
              </a:rPr>
              <a:t>r=m-1</a:t>
            </a:r>
            <a:r>
              <a:rPr sz="1800" b="0">
                <a:solidFill>
                  <a:srgbClr val="222B38"/>
                </a:solidFill>
                <a:latin typeface="Calibri"/>
              </a:rPr>
              <a:t>; dừng khi </a:t>
            </a:r>
            <a:r>
              <a:rPr sz="1709" b="0">
                <a:solidFill>
                  <a:srgbClr val="3598DB"/>
                </a:solidFill>
                <a:latin typeface="Consolas"/>
              </a:rPr>
              <a:t>l&gt;r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 </a:t>
            </a:r>
            <a:r>
              <a:rPr sz="1800" b="1">
                <a:solidFill>
                  <a:srgbClr val="222B38"/>
                </a:solidFill>
                <a:latin typeface="Calibri"/>
              </a:rPr>
              <a:t>O(logN)</a:t>
            </a:r>
            <a:r>
              <a:rPr sz="1800" b="0">
                <a:solidFill>
                  <a:srgbClr val="222B38"/>
                </a:solidFill>
                <a:latin typeface="Calibri"/>
              </a:rPr>
              <a:t>, rất nhanh với mảng lớn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vị trí đầu/cuối: lưu kết quả rồi </a:t>
            </a:r>
            <a:r>
              <a:rPr sz="1800" b="1">
                <a:solidFill>
                  <a:srgbClr val="222B38"/>
                </a:solidFill>
                <a:latin typeface="Calibri"/>
              </a:rPr>
              <a:t>thu hẹp thêm</a:t>
            </a:r>
            <a:r>
              <a:rPr sz="1800" b="0">
                <a:solidFill>
                  <a:srgbClr val="222B38"/>
                </a:solidFill>
                <a:latin typeface="Calibri"/>
              </a:rPr>
              <a:t> về một phía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