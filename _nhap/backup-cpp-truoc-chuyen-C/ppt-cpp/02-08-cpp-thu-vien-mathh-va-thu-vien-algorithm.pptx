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Thư Viện Math.h Và Thư Viện Algorithm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C++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Các hàm toán học phổ biến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Thư Viện Math.h Và Thư Viện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532178"/>
            <a:ext cx="10765231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Thư viện </a:t>
            </a:r>
            <a:r>
              <a:rPr sz="1709" b="0">
                <a:solidFill>
                  <a:srgbClr val="3598DB"/>
                </a:solidFill>
                <a:latin typeface="Consolas"/>
              </a:rPr>
              <a:t>math.h</a:t>
            </a:r>
            <a:r>
              <a:rPr sz="1800" b="0">
                <a:solidFill>
                  <a:srgbClr val="222B38"/>
                </a:solidFill>
                <a:latin typeface="Calibri"/>
              </a:rPr>
              <a:t> chứa các hàm nhận tham số </a:t>
            </a:r>
            <a:r>
              <a:rPr sz="1800" b="1">
                <a:solidFill>
                  <a:srgbClr val="222B38"/>
                </a:solidFill>
                <a:latin typeface="Calibri"/>
              </a:rPr>
              <a:t>double</a:t>
            </a:r>
            <a:r>
              <a:rPr sz="1800" b="0">
                <a:solidFill>
                  <a:srgbClr val="222B38"/>
                </a:solidFill>
                <a:latin typeface="Calibri"/>
              </a:rPr>
              <a:t>, trả về </a:t>
            </a:r>
            <a:r>
              <a:rPr sz="1800" b="1">
                <a:solidFill>
                  <a:srgbClr val="222B38"/>
                </a:solidFill>
                <a:latin typeface="Calibri"/>
              </a:rPr>
              <a:t>double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Không cần nhớ hết, chỉ cần vài hàm dùng thường xuyên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720898"/>
            <a:ext cx="10765231" cy="353974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67202"/>
            <a:ext cx="10362895" cy="32471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pow(x, y)   // x^y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sqrt(x)     // can bac 2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cbrt(x)     // can bac 3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ceil(x)     // lam tron len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floor(x)    // lam tron xuong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round(x)    // lam tron gan nhat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fabs(x)     // tri tuyet doi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fmod(x, y)  // so du khi chia x cho 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log(x)      // logarit tu nhien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log10(x)    // logarit thap phan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sin/cos/tan(x)  // ham luong giac, x tinh bang radian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pow và sqrt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Thư Viện Math.h Và Thư Viện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13026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pow(x, y)</a:t>
            </a:r>
            <a:r>
              <a:rPr sz="2000" b="0">
                <a:solidFill>
                  <a:srgbClr val="222B38"/>
                </a:solidFill>
                <a:latin typeface="Calibri"/>
              </a:rPr>
              <a:t> trả </a:t>
            </a:r>
            <a:r>
              <a:rPr sz="1900" b="0">
                <a:solidFill>
                  <a:srgbClr val="3598DB"/>
                </a:solidFill>
                <a:latin typeface="Consolas"/>
              </a:rPr>
              <a:t>double</a:t>
            </a:r>
            <a:r>
              <a:rPr sz="2000" b="0">
                <a:solidFill>
                  <a:srgbClr val="222B38"/>
                </a:solidFill>
                <a:latin typeface="Calibri"/>
              </a:rPr>
              <a:t>, cần ép kiểu nếu muốn số nguyên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sqrt(x)</a:t>
            </a:r>
            <a:r>
              <a:rPr sz="2000" b="0">
                <a:solidFill>
                  <a:srgbClr val="222B38"/>
                </a:solidFill>
                <a:latin typeface="Calibri"/>
              </a:rPr>
              <a:t> tính căn bậc 2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167786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14090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a = 2, b = 10;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(int)pow(a, b);           // 1024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double res = pow(100, 1.0/5);     // can bac 5 cua 100 = 2.512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 = 100;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(int)sqrt(n);             // 10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fixed &lt;&lt; setprecision(2) &lt;&lt; sqrt(1000); // 31.62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ceil, floor, 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Thư Viện Math.h Và Thư Viện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36419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ceil(x)</a:t>
            </a:r>
            <a:r>
              <a:rPr sz="2000" b="0">
                <a:solidFill>
                  <a:srgbClr val="222B38"/>
                </a:solidFill>
                <a:latin typeface="Calibri"/>
              </a:rPr>
              <a:t>: làm tròn </a:t>
            </a:r>
            <a:r>
              <a:rPr sz="2000" b="1">
                <a:solidFill>
                  <a:srgbClr val="222B38"/>
                </a:solidFill>
                <a:latin typeface="Calibri"/>
              </a:rPr>
              <a:t>lên</a:t>
            </a:r>
            <a:r>
              <a:rPr sz="2000" b="0">
                <a:solidFill>
                  <a:srgbClr val="222B38"/>
                </a:solidFill>
                <a:latin typeface="Calibri"/>
              </a:rPr>
              <a:t>, số nguyên nhỏ nhất ≥ x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floor(x)</a:t>
            </a:r>
            <a:r>
              <a:rPr sz="2000" b="0">
                <a:solidFill>
                  <a:srgbClr val="222B38"/>
                </a:solidFill>
                <a:latin typeface="Calibri"/>
              </a:rPr>
              <a:t>: làm tròn </a:t>
            </a:r>
            <a:r>
              <a:rPr sz="2000" b="1">
                <a:solidFill>
                  <a:srgbClr val="222B38"/>
                </a:solidFill>
                <a:latin typeface="Calibri"/>
              </a:rPr>
              <a:t>xuống</a:t>
            </a:r>
            <a:r>
              <a:rPr sz="2000" b="0">
                <a:solidFill>
                  <a:srgbClr val="222B38"/>
                </a:solidFill>
                <a:latin typeface="Calibri"/>
              </a:rPr>
              <a:t>, số nguyên lớn nhất ≤ x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round(x)</a:t>
            </a:r>
            <a:r>
              <a:rPr sz="2000" b="0">
                <a:solidFill>
                  <a:srgbClr val="222B38"/>
                </a:solidFill>
                <a:latin typeface="Calibri"/>
              </a:rPr>
              <a:t>: làm tròn theo quy tắc </a:t>
            </a:r>
            <a:r>
              <a:rPr sz="2000" b="1">
                <a:solidFill>
                  <a:srgbClr val="222B38"/>
                </a:solidFill>
                <a:latin typeface="Calibri"/>
              </a:rPr>
              <a:t>≥ 0.5 thì lên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804259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50563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double a = 3.14, b = 3.8;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(int)ceil(a) &lt;&lt; " " &lt;&lt; (int)ceil(b);   // 4 4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(int)floor(a) &lt;&lt; " " &lt;&lt; (int)floor(b); // 3 3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(int)round(a) &lt;&lt; " " &lt;&lt; (int)round(b); // 3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abs: trị tuyệt đối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Thư Viện Math.h Và Thư Viện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abs(x)</a:t>
            </a:r>
            <a:r>
              <a:rPr sz="2000" b="0">
                <a:solidFill>
                  <a:srgbClr val="222B38"/>
                </a:solidFill>
                <a:latin typeface="Calibri"/>
              </a:rPr>
              <a:t> trả trị tuyệt đối của </a:t>
            </a:r>
            <a:r>
              <a:rPr sz="1900" b="0">
                <a:solidFill>
                  <a:srgbClr val="3598DB"/>
                </a:solidFill>
                <a:latin typeface="Consolas"/>
              </a:rPr>
              <a:t>x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Hàm này nằm trong thư viện </a:t>
            </a:r>
            <a:r>
              <a:rPr sz="1900" b="0">
                <a:solidFill>
                  <a:srgbClr val="3598DB"/>
                </a:solidFill>
                <a:latin typeface="Consolas"/>
              </a:rPr>
              <a:t>stdlib.h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67608"/>
            <a:ext cx="10765231" cy="65430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3912"/>
            <a:ext cx="10362895" cy="3616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abs(10) &lt;&lt; " " &lt;&lt; abs(-100);  // 10 100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Thư viện Algorithm: swap, min,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Thư Viện Math.h Và Thư Viện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14016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swap(a, b)</a:t>
            </a:r>
            <a:r>
              <a:rPr sz="2000" b="0">
                <a:solidFill>
                  <a:srgbClr val="222B38"/>
                </a:solidFill>
                <a:latin typeface="Calibri"/>
              </a:rPr>
              <a:t> hoán đổi giá trị 2 biến, không cần tự viết code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min</a:t>
            </a:r>
            <a:r>
              <a:rPr sz="2000" b="0">
                <a:solidFill>
                  <a:srgbClr val="222B38"/>
                </a:solidFill>
                <a:latin typeface="Calibri"/>
              </a:rPr>
              <a:t>/</a:t>
            </a:r>
            <a:r>
              <a:rPr sz="1900" b="0">
                <a:solidFill>
                  <a:srgbClr val="3598DB"/>
                </a:solidFill>
                <a:latin typeface="Consolas"/>
              </a:rPr>
              <a:t>max</a:t>
            </a:r>
            <a:r>
              <a:rPr sz="2000" b="0">
                <a:solidFill>
                  <a:srgbClr val="222B38"/>
                </a:solidFill>
                <a:latin typeface="Calibri"/>
              </a:rPr>
              <a:t> với 2 hoặc nhiều giá trị (nhiều giá trị cần </a:t>
            </a:r>
            <a:r>
              <a:rPr sz="1900" b="0">
                <a:solidFill>
                  <a:srgbClr val="3598DB"/>
                </a:solidFill>
                <a:latin typeface="Consolas"/>
              </a:rPr>
              <a:t>{}</a:t>
            </a:r>
            <a:r>
              <a:rPr sz="2000" b="0">
                <a:solidFill>
                  <a:srgbClr val="222B38"/>
                </a:solidFill>
                <a:latin typeface="Calibri"/>
              </a:rPr>
              <a:t>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268776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15080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a = 100, b = 200;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swap(a, b);              // a=200, b=100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min(a, b);                 // so nho hon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min({10, 20, 15, 4});      // 4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max({10, 20, 15, 4});      //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Thư Viện Math.h Và Thư Viện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math.h</a:t>
            </a:r>
            <a:r>
              <a:rPr sz="1800" b="0">
                <a:solidFill>
                  <a:srgbClr val="222B38"/>
                </a:solidFill>
                <a:latin typeface="Calibri"/>
              </a:rPr>
              <a:t> cung cấp hàm toán học: </a:t>
            </a:r>
            <a:r>
              <a:rPr sz="1709" b="0">
                <a:solidFill>
                  <a:srgbClr val="3598DB"/>
                </a:solidFill>
                <a:latin typeface="Consolas"/>
              </a:rPr>
              <a:t>pow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sqrt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ceil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floor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round</a:t>
            </a:r>
            <a:r>
              <a:rPr sz="1800" b="0">
                <a:solidFill>
                  <a:srgbClr val="222B38"/>
                </a:solidFill>
                <a:latin typeface="Calibri"/>
              </a:rPr>
              <a:t>...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Các hàm này nhận/trả </a:t>
            </a:r>
            <a:r>
              <a:rPr sz="1800" b="1">
                <a:solidFill>
                  <a:srgbClr val="222B38"/>
                </a:solidFill>
                <a:latin typeface="Calibri"/>
              </a:rPr>
              <a:t>double</a:t>
            </a:r>
            <a:r>
              <a:rPr sz="1800" b="0">
                <a:solidFill>
                  <a:srgbClr val="222B38"/>
                </a:solidFill>
                <a:latin typeface="Calibri"/>
              </a:rPr>
              <a:t>, cần ép kiểu khi muốn số nguyên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algorithm</a:t>
            </a:r>
            <a:r>
              <a:rPr sz="1800" b="0">
                <a:solidFill>
                  <a:srgbClr val="222B38"/>
                </a:solidFill>
                <a:latin typeface="Calibri"/>
              </a:rPr>
              <a:t> cung cấp </a:t>
            </a:r>
            <a:r>
              <a:rPr sz="1709" b="0">
                <a:solidFill>
                  <a:srgbClr val="3598DB"/>
                </a:solidFill>
                <a:latin typeface="Consolas"/>
              </a:rPr>
              <a:t>swap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min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max</a:t>
            </a:r>
            <a:r>
              <a:rPr sz="1800" b="0">
                <a:solidFill>
                  <a:srgbClr val="222B38"/>
                </a:solidFill>
                <a:latin typeface="Calibri"/>
              </a:rPr>
              <a:t> dùng sẵn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min</a:t>
            </a:r>
            <a:r>
              <a:rPr sz="1800" b="0">
                <a:solidFill>
                  <a:srgbClr val="222B38"/>
                </a:solidFill>
                <a:latin typeface="Calibri"/>
              </a:rPr>
              <a:t>/</a:t>
            </a:r>
            <a:r>
              <a:rPr sz="1709" b="0">
                <a:solidFill>
                  <a:srgbClr val="3598DB"/>
                </a:solidFill>
                <a:latin typeface="Consolas"/>
              </a:rPr>
              <a:t>max</a:t>
            </a:r>
            <a:r>
              <a:rPr sz="1800" b="0">
                <a:solidFill>
                  <a:srgbClr val="222B38"/>
                </a:solidFill>
                <a:latin typeface="Calibri"/>
              </a:rPr>
              <a:t> nhiều hơn 2 giá trị phải bọc trong </a:t>
            </a:r>
            <a:r>
              <a:rPr sz="1709" b="0">
                <a:solidFill>
                  <a:srgbClr val="3598DB"/>
                </a:solidFill>
                <a:latin typeface="Consolas"/>
              </a:rPr>
              <a:t>{}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