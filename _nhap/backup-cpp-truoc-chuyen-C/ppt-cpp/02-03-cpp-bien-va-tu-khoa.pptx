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05840" y="2331720"/>
            <a:ext cx="91440" cy="566928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80160" y="2194560"/>
            <a:ext cx="9692640" cy="23774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4000" b="1">
                <a:solidFill>
                  <a:srgbClr val="FFFFFF"/>
                </a:solidFill>
                <a:latin typeface="Calibri"/>
              </a:rPr>
              <a:t>Biến Và Từ Khóa</a:t>
            </a:r>
          </a:p>
          <a:p>
            <a:pPr>
              <a:spcBef>
                <a:spcPts val="1400"/>
              </a:spcBef>
            </a:pPr>
            <a:r>
              <a:rPr sz="1800" b="0">
                <a:solidFill>
                  <a:srgbClr val="3598DB"/>
                </a:solidFill>
                <a:latin typeface="Calibri"/>
              </a:rPr>
              <a:t>C++ Cơ Bản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Khai báo biến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Biến Và Từ Khóa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1600098"/>
            <a:ext cx="10765231" cy="21031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1">
                <a:solidFill>
                  <a:srgbClr val="222B38"/>
                </a:solidFill>
                <a:latin typeface="Calibri"/>
              </a:rPr>
              <a:t>Biến</a:t>
            </a:r>
            <a:r>
              <a:rPr sz="1800" b="0">
                <a:solidFill>
                  <a:srgbClr val="222B38"/>
                </a:solidFill>
                <a:latin typeface="Calibri"/>
              </a:rPr>
              <a:t> (variable) dùng để lưu trữ giá trị cho bài toán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Cần xác định: kiểu dữ liệu, tên biến, giá trị khởi tạo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Không khởi tạo thì biến có giá trị </a:t>
            </a:r>
            <a:r>
              <a:rPr sz="1800" b="1">
                <a:solidFill>
                  <a:srgbClr val="222B38"/>
                </a:solidFill>
                <a:latin typeface="Calibri"/>
              </a:rPr>
              <a:t>ngẫu nhiên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Cú pháp: </a:t>
            </a:r>
            <a:r>
              <a:rPr sz="1709" b="0">
                <a:solidFill>
                  <a:srgbClr val="3598DB"/>
                </a:solidFill>
                <a:latin typeface="Consolas"/>
              </a:rPr>
              <a:t>[Kiểu dữ liệu] [Tên biến];</a:t>
            </a:r>
          </a:p>
        </p:txBody>
      </p:sp>
      <p:sp>
        <p:nvSpPr>
          <p:cNvPr id="7" name="Rectangle 6"/>
          <p:cNvSpPr/>
          <p:nvPr/>
        </p:nvSpPr>
        <p:spPr>
          <a:xfrm>
            <a:off x="713232" y="3748938"/>
            <a:ext cx="10765231" cy="2385567"/>
          </a:xfrm>
          <a:prstGeom prst="rect">
            <a:avLst/>
          </a:prstGeom>
          <a:solidFill>
            <a:srgbClr val="18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895242"/>
            <a:ext cx="10362895" cy="209295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int a = 28;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long long b = 282828282828282;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float c = 3.8912;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double d = 10.8912781;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char kitu = '@';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bool check = true;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// Gia tri cua check : 1  (true in ra la 1)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Khai báo nhiều biến cùng dòng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Biến Và Từ Khóa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212848"/>
            <a:ext cx="10765231" cy="1209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Nhiều biến </a:t>
            </a:r>
            <a:r>
              <a:rPr sz="2000" b="1">
                <a:solidFill>
                  <a:srgbClr val="222B38"/>
                </a:solidFill>
                <a:latin typeface="Calibri"/>
              </a:rPr>
              <a:t>cùng kiểu dữ liệu</a:t>
            </a:r>
            <a:r>
              <a:rPr sz="2000" b="0">
                <a:solidFill>
                  <a:srgbClr val="222B38"/>
                </a:solidFill>
                <a:latin typeface="Calibri"/>
              </a:rPr>
              <a:t> có thể khai báo chung 1 dòng</a:t>
            </a:r>
          </a:p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Ngăn cách các biến bằng dấu phẩy</a:t>
            </a:r>
          </a:p>
        </p:txBody>
      </p:sp>
      <p:sp>
        <p:nvSpPr>
          <p:cNvPr id="7" name="Rectangle 6"/>
          <p:cNvSpPr/>
          <p:nvPr/>
        </p:nvSpPr>
        <p:spPr>
          <a:xfrm>
            <a:off x="713232" y="3467608"/>
            <a:ext cx="10765231" cy="1519936"/>
          </a:xfrm>
          <a:prstGeom prst="rect">
            <a:avLst/>
          </a:prstGeom>
          <a:solidFill>
            <a:srgbClr val="18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613912"/>
            <a:ext cx="10362895" cy="122732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int a = 10, b = 20, c = 30;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char x = '@', y = '#', z = '$';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cout &lt;&lt; a &lt;&lt; ' ' &lt;&lt; b &lt;&lt; ' ' &lt;&lt; c &lt;&lt; endl;  // 10 20 30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cout &lt;&lt; x &lt;&lt; ' ' &lt;&lt; y &lt;&lt; ' ' &lt;&lt; z &lt;&lt; endl;  // @ # $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Quy tắc đặt tên biến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Biến Và Từ Khóa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212848"/>
            <a:ext cx="10765231" cy="218059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800"/>
              </a:spcAft>
            </a:pPr>
            <a:r>
              <a:rPr sz="17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700" b="0">
                <a:solidFill>
                  <a:srgbClr val="222B38"/>
                </a:solidFill>
                <a:latin typeface="Calibri"/>
              </a:rPr>
              <a:t>Không được bắt đầu bằng </a:t>
            </a:r>
            <a:r>
              <a:rPr sz="1700" b="1">
                <a:solidFill>
                  <a:srgbClr val="222B38"/>
                </a:solidFill>
                <a:latin typeface="Calibri"/>
              </a:rPr>
              <a:t>chữ số</a:t>
            </a:r>
            <a:r>
              <a:rPr sz="1700" b="0">
                <a:solidFill>
                  <a:srgbClr val="222B38"/>
                </a:solidFill>
                <a:latin typeface="Calibri"/>
              </a:rPr>
              <a:t>: </a:t>
            </a:r>
            <a:r>
              <a:rPr sz="1614" b="0">
                <a:solidFill>
                  <a:srgbClr val="3598DB"/>
                </a:solidFill>
                <a:latin typeface="Consolas"/>
              </a:rPr>
              <a:t>codelab</a:t>
            </a:r>
            <a:r>
              <a:rPr sz="1700" b="0">
                <a:solidFill>
                  <a:srgbClr val="222B38"/>
                </a:solidFill>
                <a:latin typeface="Calibri"/>
              </a:rPr>
              <a:t> sai</a:t>
            </a:r>
          </a:p>
          <a:p>
            <a:pPr algn="l" marL="310896" indent="-310896">
              <a:spcAft>
                <a:spcPts val="800"/>
              </a:spcAft>
            </a:pPr>
            <a:r>
              <a:rPr sz="17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700" b="0">
                <a:solidFill>
                  <a:srgbClr val="222B38"/>
                </a:solidFill>
                <a:latin typeface="Calibri"/>
              </a:rPr>
              <a:t>Không chứa dấu cách hoặc ký tự đặc biệt</a:t>
            </a:r>
          </a:p>
          <a:p>
            <a:pPr algn="l" marL="310896" indent="-310896">
              <a:spcAft>
                <a:spcPts val="800"/>
              </a:spcAft>
            </a:pPr>
            <a:r>
              <a:rPr sz="17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700" b="0">
                <a:solidFill>
                  <a:srgbClr val="222B38"/>
                </a:solidFill>
                <a:latin typeface="Calibri"/>
              </a:rPr>
              <a:t>Không được trùng </a:t>
            </a:r>
            <a:r>
              <a:rPr sz="1700" b="1">
                <a:solidFill>
                  <a:srgbClr val="222B38"/>
                </a:solidFill>
                <a:latin typeface="Calibri"/>
              </a:rPr>
              <a:t>keyword</a:t>
            </a:r>
            <a:r>
              <a:rPr sz="1700" b="0">
                <a:solidFill>
                  <a:srgbClr val="222B38"/>
                </a:solidFill>
                <a:latin typeface="Calibri"/>
              </a:rPr>
              <a:t> có sẵn: </a:t>
            </a:r>
            <a:r>
              <a:rPr sz="1614" b="0">
                <a:solidFill>
                  <a:srgbClr val="3598DB"/>
                </a:solidFill>
                <a:latin typeface="Consolas"/>
              </a:rPr>
              <a:t>int</a:t>
            </a:r>
            <a:r>
              <a:rPr sz="1700" b="0">
                <a:solidFill>
                  <a:srgbClr val="222B38"/>
                </a:solidFill>
                <a:latin typeface="Calibri"/>
              </a:rPr>
              <a:t>, </a:t>
            </a:r>
            <a:r>
              <a:rPr sz="1614" b="0">
                <a:solidFill>
                  <a:srgbClr val="3598DB"/>
                </a:solidFill>
                <a:latin typeface="Consolas"/>
              </a:rPr>
              <a:t>using</a:t>
            </a:r>
            <a:r>
              <a:rPr sz="1700" b="0">
                <a:solidFill>
                  <a:srgbClr val="222B38"/>
                </a:solidFill>
                <a:latin typeface="Calibri"/>
              </a:rPr>
              <a:t>...</a:t>
            </a:r>
          </a:p>
          <a:p>
            <a:pPr algn="l" marL="310896" indent="-310896">
              <a:spcAft>
                <a:spcPts val="800"/>
              </a:spcAft>
            </a:pPr>
            <a:r>
              <a:rPr sz="17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700" b="0">
                <a:solidFill>
                  <a:srgbClr val="222B38"/>
                </a:solidFill>
                <a:latin typeface="Calibri"/>
              </a:rPr>
              <a:t>Không đặt 2 biến cùng tên dù khác kiểu dữ liệu</a:t>
            </a:r>
          </a:p>
          <a:p>
            <a:pPr algn="l" marL="310896" indent="-310896">
              <a:spcAft>
                <a:spcPts val="800"/>
              </a:spcAft>
            </a:pPr>
            <a:r>
              <a:rPr sz="17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700" b="1">
                <a:solidFill>
                  <a:srgbClr val="222B38"/>
                </a:solidFill>
                <a:latin typeface="Calibri"/>
              </a:rPr>
              <a:t>Phân biệt hoa/thường</a:t>
            </a:r>
            <a:r>
              <a:rPr sz="1700" b="0">
                <a:solidFill>
                  <a:srgbClr val="222B38"/>
                </a:solidFill>
                <a:latin typeface="Calibri"/>
              </a:rPr>
              <a:t>: </a:t>
            </a:r>
            <a:r>
              <a:rPr sz="1614" b="0">
                <a:solidFill>
                  <a:srgbClr val="3598DB"/>
                </a:solidFill>
                <a:latin typeface="Consolas"/>
              </a:rPr>
              <a:t>tech28</a:t>
            </a:r>
            <a:r>
              <a:rPr sz="1700" b="0">
                <a:solidFill>
                  <a:srgbClr val="222B38"/>
                </a:solidFill>
                <a:latin typeface="Calibri"/>
              </a:rPr>
              <a:t> khác </a:t>
            </a:r>
            <a:r>
              <a:rPr sz="1614" b="0">
                <a:solidFill>
                  <a:srgbClr val="3598DB"/>
                </a:solidFill>
                <a:latin typeface="Consolas"/>
              </a:rPr>
              <a:t>Tech28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Cách đặt tên biến rõ nghĩa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Biến Và Từ Khóa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212848"/>
            <a:ext cx="10765231" cy="17221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Không có quy chuẩn bắt buộc, nên đặt ngắn gọn, có ý nghĩa</a:t>
            </a:r>
          </a:p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Kiểu camelCase: </a:t>
            </a:r>
            <a:r>
              <a:rPr sz="1900" b="0">
                <a:solidFill>
                  <a:srgbClr val="3598DB"/>
                </a:solidFill>
                <a:latin typeface="Consolas"/>
              </a:rPr>
              <a:t>BanKinh</a:t>
            </a:r>
            <a:r>
              <a:rPr sz="2000" b="0">
                <a:solidFill>
                  <a:srgbClr val="222B38"/>
                </a:solidFill>
                <a:latin typeface="Calibri"/>
              </a:rPr>
              <a:t>, </a:t>
            </a:r>
            <a:r>
              <a:rPr sz="1900" b="0">
                <a:solidFill>
                  <a:srgbClr val="3598DB"/>
                </a:solidFill>
                <a:latin typeface="Consolas"/>
              </a:rPr>
              <a:t>ChuVi</a:t>
            </a:r>
            <a:r>
              <a:rPr sz="2000" b="0">
                <a:solidFill>
                  <a:srgbClr val="222B38"/>
                </a:solidFill>
                <a:latin typeface="Calibri"/>
              </a:rPr>
              <a:t>, </a:t>
            </a:r>
            <a:r>
              <a:rPr sz="1900" b="0">
                <a:solidFill>
                  <a:srgbClr val="3598DB"/>
                </a:solidFill>
                <a:latin typeface="Consolas"/>
              </a:rPr>
              <a:t>DienTich</a:t>
            </a:r>
          </a:p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Kiểu gạch dưới: </a:t>
            </a:r>
            <a:r>
              <a:rPr sz="1900" b="0">
                <a:solidFill>
                  <a:srgbClr val="3598DB"/>
                </a:solidFill>
                <a:latin typeface="Consolas"/>
              </a:rPr>
              <a:t>ban_kinh</a:t>
            </a:r>
            <a:r>
              <a:rPr sz="2000" b="0">
                <a:solidFill>
                  <a:srgbClr val="222B38"/>
                </a:solidFill>
                <a:latin typeface="Calibri"/>
              </a:rPr>
              <a:t>, </a:t>
            </a:r>
            <a:r>
              <a:rPr sz="1900" b="0">
                <a:solidFill>
                  <a:srgbClr val="3598DB"/>
                </a:solidFill>
                <a:latin typeface="Consolas"/>
              </a:rPr>
              <a:t>chu_vi</a:t>
            </a:r>
            <a:r>
              <a:rPr sz="2000" b="0">
                <a:solidFill>
                  <a:srgbClr val="222B38"/>
                </a:solidFill>
                <a:latin typeface="Calibri"/>
              </a:rPr>
              <a:t>, </a:t>
            </a:r>
            <a:r>
              <a:rPr sz="1900" b="0">
                <a:solidFill>
                  <a:srgbClr val="3598DB"/>
                </a:solidFill>
                <a:latin typeface="Consolas"/>
              </a:rPr>
              <a:t>dien_tich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Keywords (từ khóa)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Biến Và Từ Khóa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212848"/>
            <a:ext cx="10765231" cy="17221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Từ khoá được định nghĩa sẵn trong C++, không dùng làm tên biến</a:t>
            </a:r>
          </a:p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Không cần học thuộc, sẽ gặp dần khi học kiến thức mới</a:t>
            </a:r>
          </a:p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Ví dụ: </a:t>
            </a:r>
            <a:r>
              <a:rPr sz="1900" b="0">
                <a:solidFill>
                  <a:srgbClr val="3598DB"/>
                </a:solidFill>
                <a:latin typeface="Consolas"/>
              </a:rPr>
              <a:t>cout</a:t>
            </a:r>
            <a:r>
              <a:rPr sz="2000" b="0">
                <a:solidFill>
                  <a:srgbClr val="222B38"/>
                </a:solidFill>
                <a:latin typeface="Calibri"/>
              </a:rPr>
              <a:t>, </a:t>
            </a:r>
            <a:r>
              <a:rPr sz="1900" b="0">
                <a:solidFill>
                  <a:srgbClr val="3598DB"/>
                </a:solidFill>
                <a:latin typeface="Consolas"/>
              </a:rPr>
              <a:t>cin</a:t>
            </a:r>
            <a:r>
              <a:rPr sz="2000" b="0">
                <a:solidFill>
                  <a:srgbClr val="222B38"/>
                </a:solidFill>
                <a:latin typeface="Calibri"/>
              </a:rPr>
              <a:t>, </a:t>
            </a:r>
            <a:r>
              <a:rPr sz="1900" b="0">
                <a:solidFill>
                  <a:srgbClr val="3598DB"/>
                </a:solidFill>
                <a:latin typeface="Consolas"/>
              </a:rPr>
              <a:t>int</a:t>
            </a:r>
            <a:r>
              <a:rPr sz="2000" b="0">
                <a:solidFill>
                  <a:srgbClr val="222B38"/>
                </a:solidFill>
                <a:latin typeface="Calibri"/>
              </a:rPr>
              <a:t>, </a:t>
            </a:r>
            <a:r>
              <a:rPr sz="1900" b="0">
                <a:solidFill>
                  <a:srgbClr val="3598DB"/>
                </a:solidFill>
                <a:latin typeface="Consolas"/>
              </a:rPr>
              <a:t>float</a:t>
            </a:r>
            <a:r>
              <a:rPr sz="2000" b="0">
                <a:solidFill>
                  <a:srgbClr val="222B38"/>
                </a:solidFill>
                <a:latin typeface="Calibri"/>
              </a:rPr>
              <a:t>, </a:t>
            </a:r>
            <a:r>
              <a:rPr sz="1900" b="0">
                <a:solidFill>
                  <a:srgbClr val="3598DB"/>
                </a:solidFill>
                <a:latin typeface="Consolas"/>
              </a:rPr>
              <a:t>for</a:t>
            </a:r>
            <a:r>
              <a:rPr sz="2000" b="0">
                <a:solidFill>
                  <a:srgbClr val="222B38"/>
                </a:solidFill>
                <a:latin typeface="Calibri"/>
              </a:rPr>
              <a:t>, </a:t>
            </a:r>
            <a:r>
              <a:rPr sz="1900" b="0">
                <a:solidFill>
                  <a:srgbClr val="3598DB"/>
                </a:solidFill>
                <a:latin typeface="Consolas"/>
              </a:rPr>
              <a:t>while</a:t>
            </a:r>
            <a:r>
              <a:rPr sz="2000" b="0">
                <a:solidFill>
                  <a:srgbClr val="222B38"/>
                </a:solidFill>
                <a:latin typeface="Calibri"/>
              </a:rPr>
              <a:t>, </a:t>
            </a:r>
            <a:r>
              <a:rPr sz="1900" b="0">
                <a:solidFill>
                  <a:srgbClr val="3598DB"/>
                </a:solidFill>
                <a:latin typeface="Consolas"/>
              </a:rPr>
              <a:t>try</a:t>
            </a:r>
            <a:r>
              <a:rPr sz="2000" b="0">
                <a:solidFill>
                  <a:srgbClr val="222B38"/>
                </a:solidFill>
                <a:latin typeface="Calibri"/>
              </a:rPr>
              <a:t>...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Ghi nhớ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Biến Và Từ Khóa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212848"/>
            <a:ext cx="10765231" cy="21031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Biến cần đủ 3 yếu tố: kiểu dữ liệu, tên, giá trị khởi tạo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Tên biến không trùng keyword, không bắt đầu bằng số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C++ </a:t>
            </a:r>
            <a:r>
              <a:rPr sz="1800" b="1">
                <a:solidFill>
                  <a:srgbClr val="222B38"/>
                </a:solidFill>
                <a:latin typeface="Calibri"/>
              </a:rPr>
              <a:t>phân biệt hoa thường</a:t>
            </a:r>
            <a:r>
              <a:rPr sz="1800" b="0">
                <a:solidFill>
                  <a:srgbClr val="222B38"/>
                </a:solidFill>
                <a:latin typeface="Calibri"/>
              </a:rPr>
              <a:t> trong tên biến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Nhiều biến cùng kiểu có thể gộp khai báo trên 1 dòng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