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String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String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String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Lớp chuyên xử lý </a:t>
            </a:r>
            <a:r>
              <a:rPr sz="2000" b="1">
                <a:solidFill>
                  <a:srgbClr val="222B38"/>
                </a:solidFill>
                <a:latin typeface="Calibri"/>
              </a:rPr>
              <a:t>xâu ký tự</a:t>
            </a:r>
            <a:r>
              <a:rPr sz="2000" b="0">
                <a:solidFill>
                  <a:srgbClr val="222B38"/>
                </a:solidFill>
                <a:latin typeface="Calibri"/>
              </a:rPr>
              <a:t>, thay thế cho mảng char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Hoạt động như mảng char động: tự đổi kích thước, hỗ trợ chèn/xóa/sửa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Khai báo: xâu rỗng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string s;</a:t>
            </a:r>
            <a:r>
              <a:rPr sz="2000" b="0">
                <a:solidFill>
                  <a:srgbClr val="222B38"/>
                </a:solidFill>
                <a:latin typeface="Calibri"/>
              </a:rPr>
              <a:t> hoặc có nội dung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string s = "data";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s1;              // rỗng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s2 = "";         // rỗng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s3 = "codelab";   // có nội dung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cout &lt;&lt; s3.size();      // 6 - số ký tự trong xâu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Truy xuất từng ký tự bằng chỉ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String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số đánh từ </a:t>
            </a:r>
            <a:r>
              <a:rPr sz="2000" b="1">
                <a:solidFill>
                  <a:srgbClr val="222B38"/>
                </a:solidFill>
                <a:latin typeface="Calibri"/>
              </a:rPr>
              <a:t>0</a:t>
            </a:r>
            <a:r>
              <a:rPr sz="2000" b="0">
                <a:solidFill>
                  <a:srgbClr val="222B38"/>
                </a:solidFill>
                <a:latin typeface="Calibri"/>
              </a:rPr>
              <a:t>, truy cập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s[index]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VD </a:t>
            </a:r>
            <a:r>
              <a:rPr sz="1900" b="0">
                <a:solidFill>
                  <a:srgbClr val="3598DB"/>
                </a:solidFill>
                <a:latin typeface="Consolas"/>
              </a:rPr>
              <a:t>s = "codelab!@#"</a:t>
            </a:r>
            <a:r>
              <a:rPr sz="2000" b="0">
                <a:solidFill>
                  <a:srgbClr val="222B38"/>
                </a:solidFill>
                <a:latin typeface="Calibri"/>
              </a:rPr>
              <a:t>: </a:t>
            </a:r>
            <a:r>
              <a:rPr sz="1900" b="0">
                <a:solidFill>
                  <a:srgbClr val="3598DB"/>
                </a:solidFill>
                <a:latin typeface="Consolas"/>
              </a:rPr>
              <a:t>s[0]</a:t>
            </a:r>
            <a:r>
              <a:rPr sz="2000" b="0">
                <a:solidFill>
                  <a:srgbClr val="222B38"/>
                </a:solidFill>
                <a:latin typeface="Calibri"/>
              </a:rPr>
              <a:t> = '2', </a:t>
            </a:r>
            <a:r>
              <a:rPr sz="1900" b="0">
                <a:solidFill>
                  <a:srgbClr val="3598DB"/>
                </a:solidFill>
                <a:latin typeface="Consolas"/>
              </a:rPr>
              <a:t>s[8]</a:t>
            </a:r>
            <a:r>
              <a:rPr sz="2000" b="0">
                <a:solidFill>
                  <a:srgbClr val="222B38"/>
                </a:solidFill>
                <a:latin typeface="Calibri"/>
              </a:rPr>
              <a:t> = '#'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s = "codelab!@#";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0; i &lt; (int)s.size();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s[i];   // in từng ký tự theo chỉ số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3 cách duyệt 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String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71090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bằng </a:t>
            </a:r>
            <a:r>
              <a:rPr sz="1800" b="1">
                <a:solidFill>
                  <a:srgbClr val="222B38"/>
                </a:solidFill>
                <a:latin typeface="Calibri"/>
              </a:rPr>
              <a:t>chỉ số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for (int i...) s[i]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bằng </a:t>
            </a:r>
            <a:r>
              <a:rPr sz="1800" b="1">
                <a:solidFill>
                  <a:srgbClr val="222B38"/>
                </a:solidFill>
                <a:latin typeface="Calibri"/>
              </a:rPr>
              <a:t>range-based for</a:t>
            </a:r>
            <a:r>
              <a:rPr sz="1800" b="0">
                <a:solidFill>
                  <a:srgbClr val="222B38"/>
                </a:solidFill>
                <a:latin typeface="Calibri"/>
              </a:rPr>
              <a:t>: </a:t>
            </a:r>
            <a:r>
              <a:rPr sz="1709" b="0">
                <a:solidFill>
                  <a:srgbClr val="3598DB"/>
                </a:solidFill>
                <a:latin typeface="Consolas"/>
              </a:rPr>
              <a:t>for (char x : s)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bằng </a:t>
            </a:r>
            <a:r>
              <a:rPr sz="1800" b="1">
                <a:solidFill>
                  <a:srgbClr val="222B38"/>
                </a:solidFill>
                <a:latin typeface="Calibri"/>
              </a:rPr>
              <a:t>iterator</a:t>
            </a:r>
            <a:r>
              <a:rPr sz="1800" b="0">
                <a:solidFill>
                  <a:srgbClr val="222B38"/>
                </a:solidFill>
                <a:latin typeface="Calibri"/>
              </a:rPr>
              <a:t>: từ </a:t>
            </a:r>
            <a:r>
              <a:rPr sz="1709" b="0">
                <a:solidFill>
                  <a:srgbClr val="3598DB"/>
                </a:solidFill>
                <a:latin typeface="Consolas"/>
              </a:rPr>
              <a:t>s.begin()</a:t>
            </a:r>
            <a:r>
              <a:rPr sz="1800" b="0">
                <a:solidFill>
                  <a:srgbClr val="222B38"/>
                </a:solidFill>
                <a:latin typeface="Calibri"/>
              </a:rPr>
              <a:t> tới </a:t>
            </a:r>
            <a:r>
              <a:rPr sz="1709" b="0">
                <a:solidFill>
                  <a:srgbClr val="3598DB"/>
                </a:solidFill>
                <a:latin typeface="Consolas"/>
              </a:rPr>
              <a:t>s.end()</a:t>
            </a:r>
            <a:r>
              <a:rPr sz="1800" b="0">
                <a:solidFill>
                  <a:srgbClr val="222B38"/>
                </a:solidFill>
                <a:latin typeface="Calibri"/>
              </a:rPr>
              <a:t>, lấy giá trị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*it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39870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86174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(char x : s) cout &lt;&lt; x &lt;&lt; ' 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(string::iterator it = s.begin(); it != s.end(); ++it)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*it &lt;&lt; ' ';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Nhập xâu không có khoảng trắng: cin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String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cin &gt;&gt; s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chỉ đọc tới khi gặp </a:t>
            </a:r>
            <a:r>
              <a:rPr sz="2000" b="1">
                <a:solidFill>
                  <a:srgbClr val="222B38"/>
                </a:solidFill>
                <a:latin typeface="Calibri"/>
              </a:rPr>
              <a:t>khoảng trắng/tab/enter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Phù hợp khi xâu không chứa dấu cách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string s;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cin &gt;&gt; 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Nhập xâu có khoảng trắng: getline()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String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getline(cin, s)</a:t>
            </a:r>
            <a:r>
              <a:rPr sz="2000" b="0">
                <a:solidFill>
                  <a:srgbClr val="222B38"/>
                </a:solidFill>
                <a:latin typeface="Calibri"/>
              </a:rPr>
              <a:t>: đọc tới hết dòng, dừng ở ký tự </a:t>
            </a:r>
            <a:r>
              <a:rPr sz="2000" b="1">
                <a:solidFill>
                  <a:srgbClr val="222B38"/>
                </a:solidFill>
                <a:latin typeface="Calibri"/>
              </a:rPr>
              <a:t>enter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getline(cin, s, delim)</a:t>
            </a:r>
            <a:r>
              <a:rPr sz="2000" b="0">
                <a:solidFill>
                  <a:srgbClr val="222B38"/>
                </a:solidFill>
                <a:latin typeface="Calibri"/>
              </a:rPr>
              <a:t>: đọc tới khi gặp ký tự </a:t>
            </a:r>
            <a:r>
              <a:rPr sz="1900" b="0">
                <a:solidFill>
                  <a:srgbClr val="3598DB"/>
                </a:solidFill>
                <a:latin typeface="Consolas"/>
              </a:rPr>
              <a:t>delim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chỉ định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getline(cin, s);         // đọc hết dòng, dừng ở enter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getline(cin, s, ',');    // đọc tới dấu ',' thì dừng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input: codelab.C++,string -&gt; s = "codelab.C++"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String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String</a:t>
            </a:r>
            <a:r>
              <a:rPr sz="1800" b="0">
                <a:solidFill>
                  <a:srgbClr val="222B38"/>
                </a:solidFill>
                <a:latin typeface="Calibri"/>
              </a:rPr>
              <a:t> linh hoạt hơn mảng char, hỗ trợ nhiều hàm dựng sẵn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size()</a:t>
            </a:r>
            <a:r>
              <a:rPr sz="1800" b="0">
                <a:solidFill>
                  <a:srgbClr val="222B38"/>
                </a:solidFill>
                <a:latin typeface="Calibri"/>
              </a:rPr>
              <a:t> trả về số ký tự; chỉ số bắt đầu từ 0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cin &gt;&gt;</a:t>
            </a:r>
            <a:r>
              <a:rPr sz="1800" b="0">
                <a:solidFill>
                  <a:srgbClr val="222B38"/>
                </a:solidFill>
                <a:latin typeface="Calibri"/>
              </a:rPr>
              <a:t> dừng ở khoảng trắng, </a:t>
            </a:r>
            <a:r>
              <a:rPr sz="1709" b="0">
                <a:solidFill>
                  <a:srgbClr val="3598DB"/>
                </a:solidFill>
                <a:latin typeface="Consolas"/>
              </a:rPr>
              <a:t>getline()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đọc cả khoảng trắng tới enter/delim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Có thể duyệt bằng chỉ số, range-for hoặc iterator, kết quả như nhau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