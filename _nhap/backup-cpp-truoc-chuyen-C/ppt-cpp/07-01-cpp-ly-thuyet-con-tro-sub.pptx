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Con Trỏ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2081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 trỏ (</a:t>
            </a:r>
            <a:r>
              <a:rPr sz="1800" b="1">
                <a:solidFill>
                  <a:srgbClr val="222B38"/>
                </a:solidFill>
                <a:latin typeface="Calibri"/>
              </a:rPr>
              <a:t>pointer</a:t>
            </a:r>
            <a:r>
              <a:rPr sz="1800" b="0">
                <a:solidFill>
                  <a:srgbClr val="222B38"/>
                </a:solidFill>
                <a:latin typeface="Calibri"/>
              </a:rPr>
              <a:t>) là biến, nhưng giá trị nó lưu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biến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biến trong chương trình có một địa chỉ vùng nhớ cố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 trỏ kiểu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lưu được địa chỉ của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0861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7165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*ptr;        // con tro kieu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*ptr2; // con tro kieu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*ptr3;      // con tro kieu char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Phân biệt: địa chỉ, giá trị, </a:t>
            </a:r>
            <a:r>
              <a:rPr sz="2565" b="1">
                <a:solidFill>
                  <a:srgbClr val="3598DB"/>
                </a:solidFill>
                <a:latin typeface="Consolas"/>
              </a:rPr>
              <a:t>&amp;</a:t>
            </a:r>
            <a:r>
              <a:rPr sz="2700" b="1">
                <a:solidFill>
                  <a:srgbClr val="142B45"/>
                </a:solidFill>
                <a:latin typeface="Calibri"/>
              </a:rPr>
              <a:t> và </a:t>
            </a:r>
            <a:r>
              <a:rPr sz="2565" b="1">
                <a:solidFill>
                  <a:srgbClr val="3598DB"/>
                </a:solidFill>
                <a:latin typeface="Consolas"/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&amp;N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biến N (toán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lấy 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</a:t>
            </a:r>
            <a:r>
              <a:rPr sz="1800" b="0">
                <a:solidFill>
                  <a:srgbClr val="222B38"/>
                </a:solidFill>
                <a:latin typeface="Calibri"/>
              </a:rPr>
              <a:t> (khi đã trỏ tới N) = giá trị con trỏ = chính địa chỉ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*ptr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tại địa chỉ mà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trỏ tới (toán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giải tham chiếu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khai báo</a:t>
            </a:r>
            <a:r>
              <a:rPr sz="1800" b="0">
                <a:solidFill>
                  <a:srgbClr val="222B38"/>
                </a:solidFill>
                <a:latin typeface="Calibri"/>
              </a:rPr>
              <a:t> khác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</a:t>
            </a:r>
            <a:r>
              <a:rPr sz="1800" b="1">
                <a:solidFill>
                  <a:srgbClr val="222B38"/>
                </a:solidFill>
                <a:latin typeface="Calibri"/>
              </a:rPr>
              <a:t>giải tham chiếu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&amp;N;   // ptr luu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&amp;N   -&gt; dia chi cua N,        vd 0x6ffe1c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  -&gt; gia tri cua ptr = dia chi cua N = 0x6ffe1c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*ptr -&gt; gia tri tai dia chi do = 1000 (chinh la 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tham chiếu để đọc và ghi qua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 = &amp;N</a:t>
            </a:r>
            <a:r>
              <a:rPr sz="2000" b="0">
                <a:solidFill>
                  <a:srgbClr val="222B38"/>
                </a:solidFill>
                <a:latin typeface="Calibri"/>
              </a:rPr>
              <a:t>,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</a:t>
            </a:r>
            <a:r>
              <a:rPr sz="2000" b="0">
                <a:solidFill>
                  <a:srgbClr val="222B38"/>
                </a:solidFill>
                <a:latin typeface="Calibri"/>
              </a:rPr>
              <a:t>, cùng một ô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chính là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, và ngược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*ptr;   // 1000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 = 280;     // doi qua con tro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N;      // 280 (N da doi theo)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Nhiều con trỏ cùng trỏ tới 1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Một biến có thể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cùng trỏ tới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giá trị qua bất kỳ con trỏ nào cũng ảnh hưởng biến gốc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*ptr2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*ptr3 = ptr1;  // gan gia tri cua ptr1 (chinh la &amp;N)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*ptr1 = 100; // N =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*ptr2 = 200; // N = 200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*ptr3 = 300; // N = 300, ca 3 con tro deu tro ve N = 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làm tham số hàm để đổi giá trị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giá trị thường (</a:t>
            </a:r>
            <a:r>
              <a:rPr sz="1709" b="0">
                <a:solidFill>
                  <a:srgbClr val="3598DB"/>
                </a:solidFill>
                <a:latin typeface="Consolas"/>
              </a:rPr>
              <a:t>int x</a:t>
            </a:r>
            <a:r>
              <a:rPr sz="1800" b="0">
                <a:solidFill>
                  <a:srgbClr val="222B38"/>
                </a:solidFill>
                <a:latin typeface="Calibri"/>
              </a:rPr>
              <a:t>) chỉ tạo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đổi biến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trỏ) thì hàm có thể sửa trực tiếp biến gốc qua </a:t>
            </a:r>
            <a:r>
              <a:rPr sz="1709" b="0">
                <a:solidFill>
                  <a:srgbClr val="3598DB"/>
                </a:solidFill>
                <a:latin typeface="Consolas"/>
              </a:rPr>
              <a:t>*x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*x)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*x = 1000; // doi truc tiep bien ma x tro toi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change(&amp;N); // truyen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N;  // 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hoán đổi giá trị 2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con trỏ để hàm sửa được cả 2 biến của người gọi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Đây là cách chuẩn viết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my_swap(int 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tmp = *x;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*x = *y;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*y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100, b = 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my_swap(&amp;a, &amp;b);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= 200, b =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&amp;bien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địa chỉ; </a:t>
            </a:r>
            <a:r>
              <a:rPr sz="1709" b="0">
                <a:solidFill>
                  <a:srgbClr val="3598DB"/>
                </a:solidFill>
                <a:latin typeface="Consolas"/>
              </a:rPr>
              <a:t>*con_tro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giá trị tại địa chỉ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khai báo (</a:t>
            </a:r>
            <a:r>
              <a:rPr sz="1709" b="0">
                <a:solidFill>
                  <a:srgbClr val="3598DB"/>
                </a:solidFill>
                <a:latin typeface="Consolas"/>
              </a:rPr>
              <a:t>int *ptr</a:t>
            </a:r>
            <a:r>
              <a:rPr sz="1800" b="0">
                <a:solidFill>
                  <a:srgbClr val="222B38"/>
                </a:solidFill>
                <a:latin typeface="Calibri"/>
              </a:rPr>
              <a:t>) khác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giải tham chiếu (</a:t>
            </a:r>
            <a:r>
              <a:rPr sz="1709" b="0">
                <a:solidFill>
                  <a:srgbClr val="3598DB"/>
                </a:solidFill>
                <a:latin typeface="Consolas"/>
              </a:rPr>
              <a:t>*ptr = ...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hàm sửa được biến gốc, phải 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con trỏ cùng trỏ tới một biến, sửa qua con trỏ nào cũng như nhau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