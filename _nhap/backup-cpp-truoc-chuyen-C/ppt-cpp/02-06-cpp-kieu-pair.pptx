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Kiểu Pair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Pair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pair</a:t>
            </a:r>
            <a:r>
              <a:rPr sz="1800" b="0">
                <a:solidFill>
                  <a:srgbClr val="222B38"/>
                </a:solidFill>
                <a:latin typeface="Calibri"/>
              </a:rPr>
              <a:t> nằm trong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utility</a:t>
            </a:r>
            <a:r>
              <a:rPr sz="1800" b="0">
                <a:solidFill>
                  <a:srgbClr val="222B38"/>
                </a:solidFill>
                <a:latin typeface="Calibri"/>
              </a:rPr>
              <a:t>, lưu </a:t>
            </a:r>
            <a:r>
              <a:rPr sz="1800" b="1">
                <a:solidFill>
                  <a:srgbClr val="222B38"/>
                </a:solidFill>
                <a:latin typeface="Calibri"/>
              </a:rPr>
              <a:t>2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1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cho dữ liệu theo cặp: toạ độ Oxy, thời gian bắt đầu/kết thúc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1 gọi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first</a:t>
            </a:r>
            <a:r>
              <a:rPr sz="1800" b="0">
                <a:solidFill>
                  <a:srgbClr val="222B38"/>
                </a:solidFill>
                <a:latin typeface="Calibri"/>
              </a:rPr>
              <a:t>, phần tử 2 gọi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second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bằng toán tử dấu chấm: </a:t>
            </a:r>
            <a:r>
              <a:rPr sz="1709" b="0">
                <a:solidFill>
                  <a:srgbClr val="3598DB"/>
                </a:solidFill>
                <a:latin typeface="Consolas"/>
              </a:rPr>
              <a:t>.first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.second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4 cách khai báo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Khai báo mặc định, hoặc gán giá trị ngay khi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second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là kiểu bất kỳ: int, char, string...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pair&lt;int, int&gt; a = make_pair(28, 100);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pair&lt;char, int&gt; b = {'@', 28};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pair&lt;char, char&gt; c('#', '$');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a.first &lt;&lt; ' ' &lt;&lt; a.second;  // 28 100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Pair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second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chính là một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pair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cập qua nhiều lớp </a:t>
            </a:r>
            <a:r>
              <a:rPr sz="1900" b="0">
                <a:solidFill>
                  <a:srgbClr val="3598DB"/>
                </a:solidFill>
                <a:latin typeface="Consolas"/>
              </a:rPr>
              <a:t>.first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.second</a:t>
            </a:r>
            <a:r>
              <a:rPr sz="2000" b="0">
                <a:solidFill>
                  <a:srgbClr val="222B38"/>
                </a:solidFill>
                <a:latin typeface="Calibri"/>
              </a:rPr>
              <a:t> liên tiếp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pair&lt;int, pair&lt;char, int&gt;&gt; p1 = make_pair(28, make_pair('@', 100));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p1.first &lt;&lt; endl;                    //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p1.second.first &lt;&lt; ' ' &lt;&lt; p1.second.second; // @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pair&lt;pair&lt;int,int&gt;, pair&lt;int,int&gt;&gt; p2 = {{10, 20}, {30, 40}};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p2.first.first &lt;&lt; ' ' &lt;&lt; p2.second.second;   // 10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Gán và so sánh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Gán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p1 = p</a:t>
            </a:r>
            <a:r>
              <a:rPr sz="2000" b="0">
                <a:solidFill>
                  <a:srgbClr val="222B38"/>
                </a:solidFill>
                <a:latin typeface="Calibri"/>
              </a:rPr>
              <a:t> copy cả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second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So sánh</a:t>
            </a:r>
            <a:r>
              <a:rPr sz="2000" b="0">
                <a:solidFill>
                  <a:srgbClr val="222B38"/>
                </a:solidFill>
                <a:latin typeface="Calibri"/>
              </a:rPr>
              <a:t>: so </a:t>
            </a:r>
            <a:r>
              <a:rPr sz="1900" b="0">
                <a:solidFill>
                  <a:srgbClr val="3598DB"/>
                </a:solidFill>
                <a:latin typeface="Consolas"/>
              </a:rPr>
              <a:t>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trước, bằng nhau mới so </a:t>
            </a:r>
            <a:r>
              <a:rPr sz="1900" b="0">
                <a:solidFill>
                  <a:srgbClr val="3598DB"/>
                </a:solidFill>
                <a:latin typeface="Consolas"/>
              </a:rPr>
              <a:t>second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pair&lt;int, int&gt; p1 = {10, 20}, p2 = {10, 21}, p3 = {5, 35};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(p1 == p2) &lt;&lt; (p1 != p2) &lt;&lt; (p1 &lt; p2) &lt;&lt; (p1 &gt; p3);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false true true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Swap 2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p1.swap(p2)</a:t>
            </a:r>
            <a:r>
              <a:rPr sz="2000" b="0">
                <a:solidFill>
                  <a:srgbClr val="222B38"/>
                </a:solidFill>
                <a:latin typeface="Calibri"/>
              </a:rPr>
              <a:t> hoán đổi toàn bộ giá trị của 2 pair cho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pair&lt;int, int&gt; p1 = {10, 20}, p2 = {30, 40};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p1.swap(p2);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p1 = {30, 40}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p2 = {10, 20}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pair&lt;T1, T2&gt;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gộp 2 giá trị vào 1 biến duy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.first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.second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 sánh pair ưu tiên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first</a:t>
            </a:r>
            <a:r>
              <a:rPr sz="1800" b="0">
                <a:solidFill>
                  <a:srgbClr val="222B38"/>
                </a:solidFill>
                <a:latin typeface="Calibri"/>
              </a:rPr>
              <a:t>, bằng nhau mới xét </a:t>
            </a:r>
            <a:r>
              <a:rPr sz="1709" b="0">
                <a:solidFill>
                  <a:srgbClr val="3598DB"/>
                </a:solidFill>
                <a:latin typeface="Consolas"/>
              </a:rPr>
              <a:t>second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lồng pair trong pair để lưu dữ liệu phức tạp hơn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