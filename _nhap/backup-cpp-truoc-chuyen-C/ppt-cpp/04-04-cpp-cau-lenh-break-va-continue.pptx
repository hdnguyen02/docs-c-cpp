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Câu Lệnh Break Và Continue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Break và Continue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Điều khiển luồng chạy bên trong vòng lặp (</a:t>
            </a:r>
            <a:r>
              <a:rPr sz="1709" b="0">
                <a:solidFill>
                  <a:srgbClr val="3598DB"/>
                </a:solidFill>
                <a:latin typeface="Consolas"/>
              </a:rPr>
              <a:t>for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do-while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: dừng vòng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ngay lập tức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continue</a:t>
            </a:r>
            <a:r>
              <a:rPr sz="1800" b="0">
                <a:solidFill>
                  <a:srgbClr val="222B38"/>
                </a:solidFill>
                <a:latin typeface="Calibri"/>
              </a:rPr>
              <a:t>: bỏ qua phần còn lại, sang </a:t>
            </a:r>
            <a:r>
              <a:rPr sz="1800" b="1">
                <a:solidFill>
                  <a:srgbClr val="222B38"/>
                </a:solidFill>
                <a:latin typeface="Calibri"/>
              </a:rPr>
              <a:t>lần lặp kế tiếp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Với vòng lặp lồng nhau: chỉ tác động vòng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gần nhất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chứa nó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Break: dừng vòng lặp ngay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Các lệnh sau </a:t>
            </a:r>
            <a:r>
              <a:rPr sz="1900" b="0">
                <a:solidFill>
                  <a:srgbClr val="3598DB"/>
                </a:solidFill>
                <a:latin typeface="Consolas"/>
              </a:rPr>
              <a:t>break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vòng lặp đó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chạy nữa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Vòng lặp kết thúc ngay tại vị trí đặt </a:t>
            </a:r>
            <a:r>
              <a:rPr sz="1900" b="0">
                <a:solidFill>
                  <a:srgbClr val="3598DB"/>
                </a:solidFill>
                <a:latin typeface="Consolas"/>
              </a:rPr>
              <a:t>break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&lt;= 5;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i &lt;&lt; " codelab\n";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if(i == 3)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"C++ programming 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dừng hẳn sau khi in "3 codelab"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dùng break: tìm rồi dừng sớm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746250"/>
            <a:ext cx="10765231" cy="411683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554"/>
            <a:ext cx="10362895" cy="38242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UCLN của a, 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mn = a &lt; b ? a : b;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mn; i &gt;= 1; i--){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if(a % i == 0 &amp;&amp; b % i ==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i;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chữ số chẵn đầu tiên từ phải sang của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while(n != 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% 2 == 0){ cout &lt;&lt; n % 10; break;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 /=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Break với vòng lặp lồng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1302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break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thoát vòng lặp </a:t>
            </a:r>
            <a:r>
              <a:rPr sz="2000" b="1">
                <a:solidFill>
                  <a:srgbClr val="222B38"/>
                </a:solidFill>
                <a:latin typeface="Calibri"/>
              </a:rPr>
              <a:t>trong cùng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chứa nó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Vòng lặp bên ngoài vẫn tiếp tục chạy bình thường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167786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14090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&lt;= 2;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j = 1; j &lt;= 5; j++){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"codelab\n";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if(j == 2) break;  // chỉ dừng vòng j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cout &lt;&lt; "C++ programming !\n";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Continue: bỏ qua, sang vòng lặp kế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1401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Lệnh sau </a:t>
            </a:r>
            <a:r>
              <a:rPr sz="1900" b="0">
                <a:solidFill>
                  <a:srgbClr val="3598DB"/>
                </a:solidFill>
                <a:latin typeface="Consolas"/>
              </a:rPr>
              <a:t>continue</a:t>
            </a:r>
            <a:r>
              <a:rPr sz="2000" b="0">
                <a:solidFill>
                  <a:srgbClr val="222B38"/>
                </a:solidFill>
                <a:latin typeface="Calibri"/>
              </a:rPr>
              <a:t> trong lần lặp đó </a:t>
            </a:r>
            <a:r>
              <a:rPr sz="2000" b="1">
                <a:solidFill>
                  <a:srgbClr val="222B38"/>
                </a:solidFill>
                <a:latin typeface="Calibri"/>
              </a:rPr>
              <a:t>bị bỏ qua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Vòng lặp vẫn tiếp tục, khác hẳn </a:t>
            </a:r>
            <a:r>
              <a:rPr sz="1900" b="0">
                <a:solidFill>
                  <a:srgbClr val="3598DB"/>
                </a:solidFill>
                <a:latin typeface="Consolas"/>
              </a:rPr>
              <a:t>break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8776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5080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for(int i = 1; i &lt;= 4; i++){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"codelab\n";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if(i % 2 == 0) continue;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"C++\n";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i chẵn: bỏ qua dòng in "C++"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 dùng continue: tổng số dương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 = 0,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while(true){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if(n &lt; 0) continue;      // bỏ qua số âm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else if(n == 0) break;   // 0 thì dừng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tong +=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Câu Lệnh Break Và Continue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= </a:t>
            </a:r>
            <a:r>
              <a:rPr sz="1800" b="1">
                <a:solidFill>
                  <a:srgbClr val="222B38"/>
                </a:solidFill>
                <a:latin typeface="Calibri"/>
              </a:rPr>
              <a:t>dừng hẳn</a:t>
            </a:r>
            <a:r>
              <a:rPr sz="1800" b="0">
                <a:solidFill>
                  <a:srgbClr val="222B38"/>
                </a:solidFill>
                <a:latin typeface="Calibri"/>
              </a:rPr>
              <a:t> vòng lặp;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continue</a:t>
            </a:r>
            <a:r>
              <a:rPr sz="1800" b="0">
                <a:solidFill>
                  <a:srgbClr val="222B38"/>
                </a:solidFill>
                <a:latin typeface="Calibri"/>
              </a:rPr>
              <a:t> = </a:t>
            </a:r>
            <a:r>
              <a:rPr sz="1800" b="1">
                <a:solidFill>
                  <a:srgbClr val="222B38"/>
                </a:solidFill>
                <a:latin typeface="Calibri"/>
              </a:rPr>
              <a:t>bỏ qua</a:t>
            </a:r>
            <a:r>
              <a:rPr sz="1800" b="0">
                <a:solidFill>
                  <a:srgbClr val="222B38"/>
                </a:solidFill>
                <a:latin typeface="Calibri"/>
              </a:rPr>
              <a:t>, lặp tiếp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Cả hai chỉ ảnh hưởng vòng lặp </a:t>
            </a:r>
            <a:r>
              <a:rPr sz="1800" b="1">
                <a:solidFill>
                  <a:srgbClr val="222B38"/>
                </a:solidFill>
                <a:latin typeface="Calibri"/>
              </a:rPr>
              <a:t>gần nhất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chứa nó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break</a:t>
            </a:r>
            <a:r>
              <a:rPr sz="1800" b="0">
                <a:solidFill>
                  <a:srgbClr val="222B38"/>
                </a:solidFill>
                <a:latin typeface="Calibri"/>
              </a:rPr>
              <a:t> dùng khi đã có kết quả, không cần lặp tiếp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continue</a:t>
            </a:r>
            <a:r>
              <a:rPr sz="1800" b="0">
                <a:solidFill>
                  <a:srgbClr val="222B38"/>
                </a:solidFill>
                <a:latin typeface="Calibri"/>
              </a:rPr>
              <a:t> dùng khi muốn </a:t>
            </a:r>
            <a:r>
              <a:rPr sz="1800" b="1">
                <a:solidFill>
                  <a:srgbClr val="222B38"/>
                </a:solidFill>
                <a:latin typeface="Calibri"/>
              </a:rPr>
              <a:t>loại trừ</a:t>
            </a:r>
            <a:r>
              <a:rPr sz="1800" b="0">
                <a:solidFill>
                  <a:srgbClr val="222B38"/>
                </a:solidFill>
                <a:latin typeface="Calibri"/>
              </a:rPr>
              <a:t> một số trường hợp trong vòng lặp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