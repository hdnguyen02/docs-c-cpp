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Lý Thuyết Mảng 2 Chiều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2 chiều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Cấu trúc phù hợp cho bài toán </a:t>
            </a:r>
            <a:r>
              <a:rPr sz="2000" b="1">
                <a:solidFill>
                  <a:srgbClr val="222B38"/>
                </a:solidFill>
                <a:latin typeface="Calibri"/>
              </a:rPr>
              <a:t>ma trận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2000" b="1">
                <a:solidFill>
                  <a:srgbClr val="222B38"/>
                </a:solidFill>
                <a:latin typeface="Calibri"/>
              </a:rPr>
              <a:t>bảng số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Bản chất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của các mảng 1 chiều</a:t>
            </a:r>
            <a:r>
              <a:rPr sz="2000" b="0">
                <a:solidFill>
                  <a:srgbClr val="222B38"/>
                </a:solidFill>
                <a:latin typeface="Calibri"/>
              </a:rPr>
              <a:t> (hàng và cột)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số hàng và cột đều đánh số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Data_type array_name[rows][cols];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Data_type: kieu du lieu phan tu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rows: so hang, cols: so cot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Khai báo và truy cập phần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Luôn truy cập theo thứ tự: </a:t>
            </a:r>
            <a:r>
              <a:rPr sz="2000" b="1">
                <a:solidFill>
                  <a:srgbClr val="222B38"/>
                </a:solidFill>
                <a:latin typeface="Calibri"/>
              </a:rPr>
              <a:t>chỉ số hàng trước, chỉ số cột sau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thể khởi tạo giá trị ngay khi khai báo bằng danh sách lồng nhau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a[3][4] =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{1, 2, 3, 1},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{4, 1, 5, 2},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{3, 7, 9, 0}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a[0][2]; //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a[1][3]; //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Lưu ý chỉ số hàng/cột hợp lệ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truy cập chỉ số hàng/cột </a:t>
            </a:r>
            <a:r>
              <a:rPr sz="2000" b="1">
                <a:solidFill>
                  <a:srgbClr val="222B38"/>
                </a:solidFill>
                <a:latin typeface="Calibri"/>
              </a:rPr>
              <a:t>ngoài phạm vi</a:t>
            </a:r>
            <a:r>
              <a:rPr sz="2000" b="0">
                <a:solidFill>
                  <a:srgbClr val="222B38"/>
                </a:solidFill>
                <a:latin typeface="Calibri"/>
              </a:rPr>
              <a:t> đã khai báo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chỉ số từ 1 vẫn được, miễn mảng khai báo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đủ lớn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hợp lệ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Cần biết rõ quy ước chỉ số để khai báo kích thước mảng phù hợp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Nhập/xuất bằng 2 vòng lặp lồng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3596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Vòng lặp </a:t>
            </a:r>
            <a:r>
              <a:rPr sz="2000" b="1">
                <a:solidFill>
                  <a:srgbClr val="222B38"/>
                </a:solidFill>
                <a:latin typeface="Calibri"/>
              </a:rPr>
              <a:t>ngoài</a:t>
            </a:r>
            <a:r>
              <a:rPr sz="2000" b="0">
                <a:solidFill>
                  <a:srgbClr val="222B38"/>
                </a:solidFill>
                <a:latin typeface="Calibri"/>
              </a:rPr>
              <a:t> duyệt qua hàng, vòng lặp </a:t>
            </a:r>
            <a:r>
              <a:rPr sz="2000" b="1">
                <a:solidFill>
                  <a:srgbClr val="222B38"/>
                </a:solidFill>
                <a:latin typeface="Calibri"/>
              </a:rPr>
              <a:t>trong</a:t>
            </a:r>
            <a:r>
              <a:rPr sz="2000" b="0">
                <a:solidFill>
                  <a:srgbClr val="222B38"/>
                </a:solidFill>
                <a:latin typeface="Calibri"/>
              </a:rPr>
              <a:t> duyệt qua cột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1: khai báo mảng kích thước cố định đủ lớn (vd 205x205)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2: khai báo mảng theo đúng số hàng/cột nhập vào (</a:t>
            </a:r>
            <a:r>
              <a:rPr sz="1900" b="0">
                <a:solidFill>
                  <a:srgbClr val="3598DB"/>
                </a:solidFill>
                <a:latin typeface="Consolas"/>
              </a:rPr>
              <a:t>a[n][m]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1436"/>
            <a:ext cx="10765231" cy="307086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07740"/>
            <a:ext cx="10362895" cy="2778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int n, 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cin &gt;&gt; n &gt;&gt; 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int a[205][205];  // hoac int a[n][m]; neu khai bao dong theo de bai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for (int j = 0; j &lt; m;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    cin &gt;&gt; a[i][j];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for (int j = 0; j &lt; m; j++) cout &lt;&lt; a[i][j] &lt;&lt; "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cout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2 chiều làm tham số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381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Khi khai báo tham số hàm, </a:t>
            </a:r>
            <a:r>
              <a:rPr sz="2000" b="1">
                <a:solidFill>
                  <a:srgbClr val="222B38"/>
                </a:solidFill>
                <a:latin typeface="Calibri"/>
              </a:rPr>
              <a:t>bắt buộc chỉ định số cột</a:t>
            </a:r>
            <a:r>
              <a:rPr sz="2000" b="0">
                <a:solidFill>
                  <a:srgbClr val="222B38"/>
                </a:solidFill>
                <a:latin typeface="Calibri"/>
              </a:rPr>
              <a:t> (vd </a:t>
            </a:r>
            <a:r>
              <a:rPr sz="1900" b="0">
                <a:solidFill>
                  <a:srgbClr val="3598DB"/>
                </a:solidFill>
                <a:latin typeface="Consolas"/>
              </a:rPr>
              <a:t>a[][205]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Đối số truyền vào khi gọi hàm phải có </a:t>
            </a:r>
            <a:r>
              <a:rPr sz="2000" b="1">
                <a:solidFill>
                  <a:srgbClr val="222B38"/>
                </a:solidFill>
                <a:latin typeface="Calibri"/>
              </a:rPr>
              <a:t>số cột khớp</a:t>
            </a:r>
            <a:r>
              <a:rPr sz="2000" b="0">
                <a:solidFill>
                  <a:srgbClr val="222B38"/>
                </a:solidFill>
                <a:latin typeface="Calibri"/>
              </a:rPr>
              <a:t> với tham số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738577"/>
            <a:ext cx="10765231" cy="3611879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4881"/>
            <a:ext cx="10362895" cy="3319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void nhap(int a[][205], int n, int m)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    for (int j = 0; j &lt; m;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        cin &gt;&gt; a[i][j];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void xuat(int a[][205], int n, int m)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    for (int j = 0; j &lt; m; j++) cout &lt;&lt; a[i][j] &lt;&lt; "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    cout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Ứng dụng: đếm số nguyên tố trong mảng 2 chiều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Viết hàm kiểm tra nguyên tố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nt()</a:t>
            </a:r>
            <a:r>
              <a:rPr sz="2000" b="0">
                <a:solidFill>
                  <a:srgbClr val="222B38"/>
                </a:solidFill>
                <a:latin typeface="Calibri"/>
              </a:rPr>
              <a:t> riêng, tái dùng cho từng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toàn bộ hàng-cột bằng 2 vòng lặp lồng nhau bên trong hàm đếm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dem(int a[][205], int n, int m)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ans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for (int j = 0; j &lt; m;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if (nt(a[i][j])) ++ans;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ans;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2 chiều = mảng các mảng 1 chiều, chỉ số </a:t>
            </a:r>
            <a:r>
              <a:rPr sz="1800" b="1">
                <a:solidFill>
                  <a:srgbClr val="222B38"/>
                </a:solidFill>
                <a:latin typeface="Calibri"/>
              </a:rPr>
              <a:t>hàng trước, cột sau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Nhập/xuất/xử lý đều 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2 vòng lặp lồng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Truyền mảng 2 chiều vào hàm phải khai báo rõ </a:t>
            </a:r>
            <a:r>
              <a:rPr sz="1800" b="1">
                <a:solidFill>
                  <a:srgbClr val="222B38"/>
                </a:solidFill>
                <a:latin typeface="Calibri"/>
              </a:rPr>
              <a:t>số cột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Khai báo kích thước mảng đủ lớn để tránh truy cập ngoài phạm 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