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Bài Tập Mảng 2 Chiều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Mảng 2 chiều: ôn nhanh chỉ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2 Chiều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69109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Phần tử </a:t>
            </a:r>
            <a:r>
              <a:rPr sz="1709" b="0">
                <a:solidFill>
                  <a:srgbClr val="3598DB"/>
                </a:solidFill>
                <a:latin typeface="Consolas"/>
              </a:rPr>
              <a:t>a[i][j]</a:t>
            </a:r>
            <a:r>
              <a:rPr sz="1800" b="0">
                <a:solidFill>
                  <a:srgbClr val="222B38"/>
                </a:solidFill>
                <a:latin typeface="Calibri"/>
              </a:rPr>
              <a:t>: </a:t>
            </a:r>
            <a:r>
              <a:rPr sz="1709" b="0">
                <a:solidFill>
                  <a:srgbClr val="3598DB"/>
                </a:solidFill>
                <a:latin typeface="Consolas"/>
              </a:rPr>
              <a:t>i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chỉ số </a:t>
            </a:r>
            <a:r>
              <a:rPr sz="1800" b="1">
                <a:solidFill>
                  <a:srgbClr val="222B38"/>
                </a:solidFill>
                <a:latin typeface="Calibri"/>
              </a:rPr>
              <a:t>hàng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j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chỉ số </a:t>
            </a:r>
            <a:r>
              <a:rPr sz="1800" b="1">
                <a:solidFill>
                  <a:srgbClr val="222B38"/>
                </a:solidFill>
                <a:latin typeface="Calibri"/>
              </a:rPr>
              <a:t>cột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toàn bộ mảng cần </a:t>
            </a:r>
            <a:r>
              <a:rPr sz="1800" b="1">
                <a:solidFill>
                  <a:srgbClr val="222B38"/>
                </a:solidFill>
                <a:latin typeface="Calibri"/>
              </a:rPr>
              <a:t>for lồng nhau</a:t>
            </a:r>
            <a:r>
              <a:rPr sz="1800" b="0">
                <a:solidFill>
                  <a:srgbClr val="222B38"/>
                </a:solidFill>
                <a:latin typeface="Calibri"/>
              </a:rPr>
              <a:t>: ngoài theo hàng, trong theo cột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theo cột: đảo lại, ngoài chạy cột, trong chạy hàng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37889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84193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a[3][3] =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{1, 2, 3},   // hàng 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{4, 5, 6},   // hàng 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{7, 8, 9}    // hàng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a[i][j]: i = hàng, j = cột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Dạng 1: Liệt kê / đếm phần tử thỏa điều kiện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2 Chiều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</a:t>
            </a:r>
            <a:r>
              <a:rPr sz="2000" b="1">
                <a:solidFill>
                  <a:srgbClr val="222B38"/>
                </a:solidFill>
                <a:latin typeface="Calibri"/>
              </a:rPr>
              <a:t>for lồng nhau</a:t>
            </a:r>
            <a:r>
              <a:rPr sz="2000" b="0">
                <a:solidFill>
                  <a:srgbClr val="222B38"/>
                </a:solidFill>
                <a:latin typeface="Calibri"/>
              </a:rPr>
              <a:t> qua toàn bộ mảng, kiểm tra từng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Ví dụ: tìm min/max, đếm số Fibonacci, đếm số nguyên tố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cần biết duyệt mảng 2 chiều là làm được dạng này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min_val = 1000000000, max_val = -1000000000;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j = 0; j &lt; m; j++)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 (a[i][j] &gt; max_val) max_val = a[i][j];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 (a[i][j] &lt; min_val) min_val = a[i][j];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Dạng 2: Xét theo hàng, theo cột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2 Chiều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Xét </a:t>
            </a:r>
            <a:r>
              <a:rPr sz="1800" b="1">
                <a:solidFill>
                  <a:srgbClr val="222B38"/>
                </a:solidFill>
                <a:latin typeface="Calibri"/>
              </a:rPr>
              <a:t>hàng</a:t>
            </a:r>
            <a:r>
              <a:rPr sz="1800" b="0">
                <a:solidFill>
                  <a:srgbClr val="222B38"/>
                </a:solidFill>
                <a:latin typeface="Calibri"/>
              </a:rPr>
              <a:t>: for ngoài </a:t>
            </a:r>
            <a:r>
              <a:rPr sz="1709" b="0">
                <a:solidFill>
                  <a:srgbClr val="3598DB"/>
                </a:solidFill>
                <a:latin typeface="Consolas"/>
              </a:rPr>
              <a:t>i</a:t>
            </a:r>
            <a:r>
              <a:rPr sz="1800" b="0">
                <a:solidFill>
                  <a:srgbClr val="222B38"/>
                </a:solidFill>
                <a:latin typeface="Calibri"/>
              </a:rPr>
              <a:t> (hàng), for trong </a:t>
            </a:r>
            <a:r>
              <a:rPr sz="1709" b="0">
                <a:solidFill>
                  <a:srgbClr val="3598DB"/>
                </a:solidFill>
                <a:latin typeface="Consolas"/>
              </a:rPr>
              <a:t>j</a:t>
            </a:r>
            <a:r>
              <a:rPr sz="1800" b="0">
                <a:solidFill>
                  <a:srgbClr val="222B38"/>
                </a:solidFill>
                <a:latin typeface="Calibri"/>
              </a:rPr>
              <a:t> (cột) như bình thường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Xét </a:t>
            </a:r>
            <a:r>
              <a:rPr sz="1800" b="1">
                <a:solidFill>
                  <a:srgbClr val="222B38"/>
                </a:solidFill>
                <a:latin typeface="Calibri"/>
              </a:rPr>
              <a:t>cột</a:t>
            </a:r>
            <a:r>
              <a:rPr sz="1800" b="0">
                <a:solidFill>
                  <a:srgbClr val="222B38"/>
                </a:solidFill>
                <a:latin typeface="Calibri"/>
              </a:rPr>
              <a:t>: đảo lại — for ngoài </a:t>
            </a:r>
            <a:r>
              <a:rPr sz="1709" b="0">
                <a:solidFill>
                  <a:srgbClr val="3598DB"/>
                </a:solidFill>
                <a:latin typeface="Consolas"/>
              </a:rPr>
              <a:t>i</a:t>
            </a:r>
            <a:r>
              <a:rPr sz="1800" b="0">
                <a:solidFill>
                  <a:srgbClr val="222B38"/>
                </a:solidFill>
                <a:latin typeface="Calibri"/>
              </a:rPr>
              <a:t> (cột), for trong </a:t>
            </a:r>
            <a:r>
              <a:rPr sz="1709" b="0">
                <a:solidFill>
                  <a:srgbClr val="3598DB"/>
                </a:solidFill>
                <a:latin typeface="Consolas"/>
              </a:rPr>
              <a:t>j</a:t>
            </a:r>
            <a:r>
              <a:rPr sz="1800" b="0">
                <a:solidFill>
                  <a:srgbClr val="222B38"/>
                </a:solidFill>
                <a:latin typeface="Calibri"/>
              </a:rPr>
              <a:t> (hàng), truy cập </a:t>
            </a:r>
            <a:r>
              <a:rPr sz="1709" b="0">
                <a:solidFill>
                  <a:srgbClr val="3598DB"/>
                </a:solidFill>
                <a:latin typeface="Consolas"/>
              </a:rPr>
              <a:t>a[j][i]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Ví dụ: tổng từng hàng/cột, tìm hàng/cột nhiều số nguyên tố nhất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50108"/>
            <a:ext cx="10765231" cy="320497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6412"/>
            <a:ext cx="10362895" cy="29123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// Tổng từng hàng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for (int i = 0; i &lt; n;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int tong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for (int j = 0; j &lt; m; j++) tong += a[i][j];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// Tổng từng cột (đảo vai trò i, j)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for (int i = 0; i &lt; m;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int tong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for (int j = 0; j &lt; n; j++) tong += a[j][i];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Dạng 3: Hoán vị hàng, cột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2 Chiều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15007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Hoán vị 2 </a:t>
            </a:r>
            <a:r>
              <a:rPr sz="2000" b="1">
                <a:solidFill>
                  <a:srgbClr val="222B38"/>
                </a:solidFill>
                <a:latin typeface="Calibri"/>
              </a:rPr>
              <a:t>hàng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h1, h2</a:t>
            </a:r>
            <a:r>
              <a:rPr sz="2000" b="0">
                <a:solidFill>
                  <a:srgbClr val="222B38"/>
                </a:solidFill>
                <a:latin typeface="Calibri"/>
              </a:rPr>
              <a:t>: duyệt qua từng </a:t>
            </a:r>
            <a:r>
              <a:rPr sz="2000" b="1">
                <a:solidFill>
                  <a:srgbClr val="222B38"/>
                </a:solidFill>
                <a:latin typeface="Calibri"/>
              </a:rPr>
              <a:t>cột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Hoán vị 2 </a:t>
            </a:r>
            <a:r>
              <a:rPr sz="2000" b="1">
                <a:solidFill>
                  <a:srgbClr val="222B38"/>
                </a:solidFill>
                <a:latin typeface="Calibri"/>
              </a:rPr>
              <a:t>cột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c1, c2</a:t>
            </a:r>
            <a:r>
              <a:rPr sz="2000" b="0">
                <a:solidFill>
                  <a:srgbClr val="222B38"/>
                </a:solidFill>
                <a:latin typeface="Calibri"/>
              </a:rPr>
              <a:t>: duyệt qua từng </a:t>
            </a:r>
            <a:r>
              <a:rPr sz="2000" b="1">
                <a:solidFill>
                  <a:srgbClr val="222B38"/>
                </a:solidFill>
                <a:latin typeface="Calibri"/>
              </a:rPr>
              <a:t>hàng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6976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1607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m;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swap(a[h1][i], a[h2][i]);   // hoán vị hàng h1, h2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swap(a[i][c1], a[i][c2]);   // hoán vị cột c1, c2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Dạng 4: Sắp xếp ma trận theo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2 Chiều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Mảng 2 chiều thực chất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mảng của các mảng 1 chiều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Mỗi hàng là 1 mảng 1 chiều → áp </a:t>
            </a:r>
            <a:r>
              <a:rPr sz="1900" b="0">
                <a:solidFill>
                  <a:srgbClr val="3598DB"/>
                </a:solidFill>
                <a:latin typeface="Consolas"/>
              </a:rPr>
              <a:t>sort()</a:t>
            </a:r>
            <a:r>
              <a:rPr sz="2000" b="0">
                <a:solidFill>
                  <a:srgbClr val="222B38"/>
                </a:solidFill>
                <a:latin typeface="Calibri"/>
              </a:rPr>
              <a:t> riêng cho từng hàng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sort(a[i], a[i] + m);   // sắp xếp riêng từng hàng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2 Chiều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Mọi dạng bài đều dựa trên </a:t>
            </a:r>
            <a:r>
              <a:rPr sz="1800" b="1">
                <a:solidFill>
                  <a:srgbClr val="222B38"/>
                </a:solidFill>
                <a:latin typeface="Calibri"/>
              </a:rPr>
              <a:t>for lồng nhau</a:t>
            </a:r>
            <a:r>
              <a:rPr sz="1800" b="0">
                <a:solidFill>
                  <a:srgbClr val="222B38"/>
                </a:solidFill>
                <a:latin typeface="Calibri"/>
              </a:rPr>
              <a:t> duyệt </a:t>
            </a:r>
            <a:r>
              <a:rPr sz="1709" b="0">
                <a:solidFill>
                  <a:srgbClr val="3598DB"/>
                </a:solidFill>
                <a:latin typeface="Consolas"/>
              </a:rPr>
              <a:t>a[i][j]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theo cột thì đảo vai trò vòng lặp ngoài/trong so với duyệt hàng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Hoán vị hàng/cột: duyệt theo chiều </a:t>
            </a:r>
            <a:r>
              <a:rPr sz="1800" b="1">
                <a:solidFill>
                  <a:srgbClr val="222B38"/>
                </a:solidFill>
                <a:latin typeface="Calibri"/>
              </a:rPr>
              <a:t>vuông góc</a:t>
            </a:r>
            <a:r>
              <a:rPr sz="1800" b="0">
                <a:solidFill>
                  <a:srgbClr val="222B38"/>
                </a:solidFill>
                <a:latin typeface="Calibri"/>
              </a:rPr>
              <a:t> với chiều cần hoán vị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Sắp xếp theo hàng = </a:t>
            </a:r>
            <a:r>
              <a:rPr sz="1709" b="0">
                <a:solidFill>
                  <a:srgbClr val="3598DB"/>
                </a:solidFill>
                <a:latin typeface="Consolas"/>
              </a:rPr>
              <a:t>sort()</a:t>
            </a:r>
            <a:r>
              <a:rPr sz="1800" b="0">
                <a:solidFill>
                  <a:srgbClr val="222B38"/>
                </a:solidFill>
                <a:latin typeface="Calibri"/>
              </a:rPr>
              <a:t> từng mảng 1 chiều con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