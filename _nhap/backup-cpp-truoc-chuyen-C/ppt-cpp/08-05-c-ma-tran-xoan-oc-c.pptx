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 Trận Xoắn Ốc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xoắn ốc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vuông N×N (hoặc N×M), điền số theo hình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xoắn ốc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1 tới N²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Xây dựng </a:t>
            </a:r>
            <a:r>
              <a:rPr sz="2000" b="1">
                <a:solidFill>
                  <a:srgbClr val="222B38"/>
                </a:solidFill>
                <a:latin typeface="Calibri"/>
              </a:rPr>
              <a:t>từng vòng xoắn ốc</a:t>
            </a:r>
            <a:r>
              <a:rPr sz="2000" b="0">
                <a:solidFill>
                  <a:srgbClr val="222B38"/>
                </a:solidFill>
                <a:latin typeface="Calibri"/>
              </a:rPr>
              <a:t>, mỗi vòng gồm 4 cạnh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1 vòng thì thu hẹp biên để xây vòng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4 biến biên và 4 hướng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h1</a:t>
            </a:r>
            <a:r>
              <a:rPr sz="1700" b="0">
                <a:solidFill>
                  <a:srgbClr val="222B38"/>
                </a:solidFill>
                <a:latin typeface="Calibri"/>
              </a:rPr>
              <a:t>: hàng </a:t>
            </a:r>
            <a:r>
              <a:rPr sz="1700" b="1">
                <a:solidFill>
                  <a:srgbClr val="222B38"/>
                </a:solidFill>
                <a:latin typeface="Calibri"/>
              </a:rPr>
              <a:t>trên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h2</a:t>
            </a:r>
            <a:r>
              <a:rPr sz="1700" b="0">
                <a:solidFill>
                  <a:srgbClr val="222B38"/>
                </a:solidFill>
                <a:latin typeface="Calibri"/>
              </a:rPr>
              <a:t>: hàng </a:t>
            </a:r>
            <a:r>
              <a:rPr sz="1700" b="1">
                <a:solidFill>
                  <a:srgbClr val="222B38"/>
                </a:solidFill>
                <a:latin typeface="Calibri"/>
              </a:rPr>
              <a:t>dưới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c1</a:t>
            </a:r>
            <a:r>
              <a:rPr sz="1700" b="0">
                <a:solidFill>
                  <a:srgbClr val="222B38"/>
                </a:solidFill>
                <a:latin typeface="Calibri"/>
              </a:rPr>
              <a:t>: cột </a:t>
            </a:r>
            <a:r>
              <a:rPr sz="1700" b="1">
                <a:solidFill>
                  <a:srgbClr val="222B38"/>
                </a:solidFill>
                <a:latin typeface="Calibri"/>
              </a:rPr>
              <a:t>trái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c2</a:t>
            </a:r>
            <a:r>
              <a:rPr sz="1700" b="0">
                <a:solidFill>
                  <a:srgbClr val="222B38"/>
                </a:solidFill>
                <a:latin typeface="Calibri"/>
              </a:rPr>
              <a:t>: cột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phải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trên: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c1 → c2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hàng </a:t>
            </a:r>
            <a:r>
              <a:rPr sz="1614" b="0">
                <a:solidFill>
                  <a:srgbClr val="3598DB"/>
                </a:solidFill>
                <a:latin typeface="Consolas"/>
              </a:rPr>
              <a:t>h1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phải: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h1 → h2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cột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c2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dưới: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c2 → c1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hàng </a:t>
            </a:r>
            <a:r>
              <a:rPr sz="1614" b="0">
                <a:solidFill>
                  <a:srgbClr val="3598DB"/>
                </a:solidFill>
                <a:latin typeface="Consolas"/>
              </a:rPr>
              <a:t>h2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trái: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h2 → h1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cột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c1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Sau mỗi cạnh: thu hẹp biên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cạnh trên → tăng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h1</a:t>
            </a:r>
            <a:r>
              <a:rPr sz="2000" b="0">
                <a:solidFill>
                  <a:srgbClr val="222B38"/>
                </a:solidFill>
                <a:latin typeface="Calibri"/>
              </a:rPr>
              <a:t>; xong cạnh phải →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c2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cạnh dưới →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h2</a:t>
            </a:r>
            <a:r>
              <a:rPr sz="2000" b="0">
                <a:solidFill>
                  <a:srgbClr val="222B38"/>
                </a:solidFill>
                <a:latin typeface="Calibri"/>
              </a:rPr>
              <a:t>; xong cạnh trái → tăng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vòng mới khi vẫn còn </a:t>
            </a:r>
            <a:r>
              <a:rPr sz="1900" b="0">
                <a:solidFill>
                  <a:srgbClr val="3598DB"/>
                </a:solidFill>
                <a:latin typeface="Consolas"/>
              </a:rPr>
              <a:t>h1 &lt;= h2 &amp;&amp; c1 &lt;= c2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dựng ma trận xoắn 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h1 = 0, h2 = n - 1, c1 = 0, c2 = n - 1,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 (h1 &lt;= h2 &amp;&amp; c1 &lt;= c2)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c1; i &lt;= c2; i++) a[h1][i] = dem++;   // cạnh trên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h1++;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h1; i &lt;= h2; i++) a[i][c2] = dem++;   // cạnh phải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c2--;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c2; i &gt;= c1; i--) a[h2][i] = dem++;   // cạnh dưới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h2--;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h2; i &gt;= h1; i--) a[i][c1] = dem++;   // cạnh trái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c1++;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n=5, hàng 0: 1 2 3 4 5; hàng 1: 16 17 18 19 6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xoắn ốc nguyên tố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69109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bị trước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số nguyên tố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đủ N²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Logic vòng lặp duyệt xoắn ốc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giữ nguyên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 bản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đổi: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a[...] = X[dem]</a:t>
            </a:r>
            <a:r>
              <a:rPr sz="1800" b="0">
                <a:solidFill>
                  <a:srgbClr val="222B38"/>
                </a:solidFill>
                <a:latin typeface="Calibri"/>
              </a:rPr>
              <a:t> (số nguyên tố) thay vì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dem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trực tiếp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37889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4193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X[10000], idx = 0, i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 (idx &lt; n * 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(nt(i)) X[idx++] = i;   // gom số nguyên tố vào 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sau đó dùng đúng vòng lặp xoắn ốc, thay dem bằng X[dem]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xoắn ốc Fibonacci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Chuẩn bị trước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số Fibonacci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đủ N²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vào ma trận theo đúng thứ tự xoắn ốc, thay </a:t>
            </a:r>
            <a:r>
              <a:rPr sz="1900" b="0">
                <a:solidFill>
                  <a:srgbClr val="3598DB"/>
                </a:solidFill>
                <a:latin typeface="Consolas"/>
              </a:rPr>
              <a:t>dem</a:t>
            </a:r>
            <a:r>
              <a:rPr sz="20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F[dem]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Fibonacci tăng rất nhanh nên cần khai báo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Cốt lõi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4 biến biên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h1, h2, c1, c2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vòng lặp thu hẹp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dừng: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h1 &lt;= h2 &amp;&amp; c1 &lt;= c2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Xoắn ốc nguyên tố/Fibonacci chỉ đổi </a:t>
            </a:r>
            <a:r>
              <a:rPr sz="1800" b="1">
                <a:solidFill>
                  <a:srgbClr val="222B38"/>
                </a:solidFill>
                <a:latin typeface="Calibri"/>
              </a:rPr>
              <a:t>nguồn giá trị gán</a:t>
            </a:r>
            <a:r>
              <a:rPr sz="1800" b="0">
                <a:solidFill>
                  <a:srgbClr val="222B38"/>
                </a:solidFill>
                <a:latin typeface="Calibri"/>
              </a:rPr>
              <a:t>, giữ nguyên logic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giá trị gán (như Fibonacci) có thể vượt quá 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