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2B4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720840"/>
            <a:ext cx="12191695" cy="137160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05840" y="2331720"/>
            <a:ext cx="91440" cy="566928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280160" y="2194560"/>
            <a:ext cx="9692640" cy="23774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4000" b="1">
                <a:solidFill>
                  <a:srgbClr val="FFFFFF"/>
                </a:solidFill>
                <a:latin typeface="Calibri"/>
              </a:rPr>
              <a:t>Vòng Lặp For</a:t>
            </a:r>
          </a:p>
          <a:p>
            <a:pPr>
              <a:spcBef>
                <a:spcPts val="1400"/>
              </a:spcBef>
            </a:pPr>
            <a:r>
              <a:rPr sz="1800" b="0">
                <a:solidFill>
                  <a:srgbClr val="3598DB"/>
                </a:solidFill>
                <a:latin typeface="Calibri"/>
              </a:rPr>
              <a:t>C++ Cơ Bản · 28Tech</a:t>
            </a:r>
          </a:p>
          <a:p>
            <a:pPr>
              <a:spcBef>
                <a:spcPts val="2600"/>
              </a:spcBef>
            </a:pPr>
            <a:r>
              <a:rPr sz="1100" b="0">
                <a:solidFill>
                  <a:srgbClr val="929FB2"/>
                </a:solidFill>
                <a:latin typeface="Calibri"/>
              </a:rPr>
              <a:t>https://blog.28tech.com.vn/cpp-vong-lap-for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Vòng lặp For giải quyết vấn đề gì?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Vòng Lặp For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137410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Lặp lại một khối lệnh nhiều lần mà không phải viết lại code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In 1000 dòng chữ: viết 1 lệnh </a:t>
            </a:r>
            <a:r>
              <a:rPr sz="1900" b="0">
                <a:solidFill>
                  <a:srgbClr val="3598DB"/>
                </a:solidFill>
                <a:latin typeface="Consolas"/>
              </a:rPr>
              <a:t>cout</a:t>
            </a:r>
            <a:r>
              <a:rPr sz="2000" b="0">
                <a:solidFill>
                  <a:srgbClr val="222B38"/>
                </a:solidFill>
                <a:latin typeface="Calibri"/>
              </a:rPr>
              <a:t> và cho lặp 1000 lần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Dùng khi </a:t>
            </a:r>
            <a:r>
              <a:rPr sz="2000" b="1">
                <a:solidFill>
                  <a:srgbClr val="222B38"/>
                </a:solidFill>
                <a:latin typeface="Calibri"/>
              </a:rPr>
              <a:t>biết trước số lần lặp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905249"/>
            <a:ext cx="10765231" cy="1231392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4051553"/>
            <a:ext cx="10362895" cy="9387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 (khởi_tạo; điều_kiện; cập_nhật)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// khối lệnh lặp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Ba thành phần và thứ tự chạy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Vòng Lặp For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1">
                <a:solidFill>
                  <a:srgbClr val="222B38"/>
                </a:solidFill>
                <a:latin typeface="Calibri"/>
              </a:rPr>
              <a:t>Khởi tạo</a:t>
            </a:r>
            <a:r>
              <a:rPr sz="1800" b="0">
                <a:solidFill>
                  <a:srgbClr val="222B38"/>
                </a:solidFill>
                <a:latin typeface="Calibri"/>
              </a:rPr>
              <a:t> chạy đúng 1 lần khi bắt đầu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1">
                <a:solidFill>
                  <a:srgbClr val="222B38"/>
                </a:solidFill>
                <a:latin typeface="Calibri"/>
              </a:rPr>
              <a:t>Điều kiện</a:t>
            </a:r>
            <a:r>
              <a:rPr sz="1800" b="0">
                <a:solidFill>
                  <a:srgbClr val="222B38"/>
                </a:solidFill>
                <a:latin typeface="Calibri"/>
              </a:rPr>
              <a:t> kiểm tra trước mỗi vòng, sai thì dừng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1">
                <a:solidFill>
                  <a:srgbClr val="222B38"/>
                </a:solidFill>
                <a:latin typeface="Calibri"/>
              </a:rPr>
              <a:t>Khối lệnh</a:t>
            </a:r>
            <a:r>
              <a:rPr sz="1800" b="0">
                <a:solidFill>
                  <a:srgbClr val="222B38"/>
                </a:solidFill>
                <a:latin typeface="Calibri"/>
              </a:rPr>
              <a:t> chạy khi điều kiện đúng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1">
                <a:solidFill>
                  <a:srgbClr val="222B38"/>
                </a:solidFill>
                <a:latin typeface="Calibri"/>
              </a:rPr>
              <a:t>Cập nhật</a:t>
            </a:r>
            <a:r>
              <a:rPr sz="1800" b="0">
                <a:solidFill>
                  <a:srgbClr val="222B38"/>
                </a:solidFill>
                <a:latin typeface="Calibri"/>
              </a:rPr>
              <a:t> chạy cuối mỗi vòng, rồi quay lại kiểm tra điều kiện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Ví dụ: in 4 dòng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Vòng Lặp For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900" b="0">
                <a:solidFill>
                  <a:srgbClr val="3598DB"/>
                </a:solidFill>
                <a:latin typeface="Consolas"/>
              </a:rPr>
              <a:t>i</a:t>
            </a:r>
            <a:r>
              <a:rPr sz="2000" b="0">
                <a:solidFill>
                  <a:srgbClr val="222B38"/>
                </a:solidFill>
                <a:latin typeface="Calibri"/>
              </a:rPr>
              <a:t> chạy từ 1 đến 4, mỗi vòng in một dòng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Khi </a:t>
            </a:r>
            <a:r>
              <a:rPr sz="1900" b="0">
                <a:solidFill>
                  <a:srgbClr val="3598DB"/>
                </a:solidFill>
                <a:latin typeface="Consolas"/>
              </a:rPr>
              <a:t>i = 5</a:t>
            </a:r>
            <a:r>
              <a:rPr sz="2000" b="0">
                <a:solidFill>
                  <a:srgbClr val="222B38"/>
                </a:solidFill>
                <a:latin typeface="Calibri"/>
              </a:rPr>
              <a:t> điều kiện sai, vòng lặp kết thúc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467608"/>
            <a:ext cx="10765231" cy="1231392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13912"/>
            <a:ext cx="10362895" cy="9387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 (int i = 1; i &lt;= 4; i++)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cout &lt;&lt; "28tech.com.vn\n";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Đếm xuôi và đếm ngược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Vòng Lặp For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1209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Xuôi: tăng biến đếm bằng </a:t>
            </a:r>
            <a:r>
              <a:rPr sz="1900" b="0">
                <a:solidFill>
                  <a:srgbClr val="3598DB"/>
                </a:solidFill>
                <a:latin typeface="Consolas"/>
              </a:rPr>
              <a:t>i++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Ngược: giảm bằng </a:t>
            </a:r>
            <a:r>
              <a:rPr sz="1900" b="0">
                <a:solidFill>
                  <a:srgbClr val="3598DB"/>
                </a:solidFill>
                <a:latin typeface="Consolas"/>
              </a:rPr>
              <a:t>i--</a:t>
            </a:r>
            <a:r>
              <a:rPr sz="2000" b="0">
                <a:solidFill>
                  <a:srgbClr val="222B38"/>
                </a:solidFill>
                <a:latin typeface="Calibri"/>
              </a:rPr>
              <a:t> và đảo điều kiện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467608"/>
            <a:ext cx="10765231" cy="1231392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613912"/>
            <a:ext cx="10362895" cy="9387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 (int i = 1; i &lt;= n; i++)  cout &lt;&lt; i &lt;&lt; " ";   // 1 2 3 ... n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 (int i = n; i &gt;= 0; i--)  cout &lt;&lt; i &lt;&lt; " ";   // n ... 1 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Ứng dụng: ước số và giai thừa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Vòng Lặp For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481328"/>
            <a:ext cx="10765231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1500" b="0">
                <a:solidFill>
                  <a:srgbClr val="767F8C"/>
                </a:solidFill>
                <a:latin typeface="Calibri"/>
              </a:rPr>
              <a:t>Mẫu chung: duyệt 1 → n, kiểm tra hoặc cộng dồn vào biến tích luỹ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2096871"/>
            <a:ext cx="10765231" cy="3828288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2243175"/>
            <a:ext cx="10362895" cy="35356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các ước của n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 (int i = 1; i &lt;= n; i++)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if (n % i == 0) cout &lt;&lt; i &lt;&lt; ' ';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tổng các ước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tong = 0;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 (int i = 1; i &lt;= n; i++)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if (n % i == 0) tong += i;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// n giai thừa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int giaithua = 1;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 (int i = 1; i &lt;= n; i++) giaithua *= i;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For khuyết thành phần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Vòng Lặp For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1834438"/>
            <a:ext cx="10765231" cy="1722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Khuyết điều kiện lặp thì lặp vĩnh viễn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Khuyết cả 3 phần cũng là vòng lặp vô hạn</a:t>
            </a:r>
          </a:p>
          <a:p>
            <a:pPr algn="l" marL="310896" indent="-310896">
              <a:spcAft>
                <a:spcPts val="1300"/>
              </a:spcAft>
            </a:pPr>
            <a:r>
              <a:rPr sz="2000" b="1">
                <a:solidFill>
                  <a:srgbClr val="3598DB"/>
                </a:solidFill>
                <a:latin typeface="Calibri"/>
              </a:rPr>
              <a:t>▪   </a:t>
            </a:r>
            <a:r>
              <a:rPr sz="2000" b="0">
                <a:solidFill>
                  <a:srgbClr val="222B38"/>
                </a:solidFill>
                <a:latin typeface="Calibri"/>
              </a:rPr>
              <a:t>Muốn thoát phải dùng </a:t>
            </a:r>
            <a:r>
              <a:rPr sz="1900" b="0">
                <a:solidFill>
                  <a:srgbClr val="3598DB"/>
                </a:solidFill>
                <a:latin typeface="Consolas"/>
              </a:rPr>
              <a:t>break</a:t>
            </a:r>
            <a:r>
              <a:rPr sz="2000" b="0">
                <a:solidFill>
                  <a:srgbClr val="222B38"/>
                </a:solidFill>
                <a:latin typeface="Calibri"/>
              </a:rPr>
              <a:t> bên trong</a:t>
            </a:r>
          </a:p>
        </p:txBody>
      </p:sp>
      <p:sp>
        <p:nvSpPr>
          <p:cNvPr id="7" name="Rectangle 6"/>
          <p:cNvSpPr/>
          <p:nvPr/>
        </p:nvSpPr>
        <p:spPr>
          <a:xfrm>
            <a:off x="713232" y="3602278"/>
            <a:ext cx="10765231" cy="2097024"/>
          </a:xfrm>
          <a:prstGeom prst="rect">
            <a:avLst/>
          </a:prstGeom>
          <a:solidFill>
            <a:srgbClr val="18223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14400" y="3748582"/>
            <a:ext cx="10362895" cy="180441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 (int i = 1; ; i++) { ... }   // vô hạn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for (; ;) 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cin &gt;&gt; n;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    if (n == 28) break;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1600" b="0">
                <a:solidFill>
                  <a:srgbClr val="E8EFF7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713232" y="603504"/>
            <a:ext cx="82296" cy="512064"/>
          </a:xfrm>
          <a:prstGeom prst="rect">
            <a:avLst/>
          </a:prstGeom>
          <a:solidFill>
            <a:srgbClr val="3598D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50976" y="493776"/>
            <a:ext cx="10490911" cy="7498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r>
              <a:rPr sz="2700" b="1">
                <a:solidFill>
                  <a:srgbClr val="142B45"/>
                </a:solidFill>
                <a:latin typeface="Calibri"/>
              </a:rPr>
              <a:t>Ghi nhớ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137160"/>
            <a:ext cx="10765231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/>
            <a:r>
              <a:rPr sz="1050" b="0">
                <a:solidFill>
                  <a:srgbClr val="767F8C"/>
                </a:solidFill>
                <a:latin typeface="Calibri"/>
              </a:rPr>
              <a:t>Vòng Lặp For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212848"/>
            <a:ext cx="10765231" cy="21031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For hợp với bài toán </a:t>
            </a:r>
            <a:r>
              <a:rPr sz="1800" b="1">
                <a:solidFill>
                  <a:srgbClr val="222B38"/>
                </a:solidFill>
                <a:latin typeface="Calibri"/>
              </a:rPr>
              <a:t>biết trước số lần lặp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Điều kiện luôn được kiểm tra </a:t>
            </a:r>
            <a:r>
              <a:rPr sz="1800" b="1">
                <a:solidFill>
                  <a:srgbClr val="222B38"/>
                </a:solidFill>
                <a:latin typeface="Calibri"/>
              </a:rPr>
              <a:t>trước</a:t>
            </a:r>
            <a:r>
              <a:rPr sz="1800" b="0">
                <a:solidFill>
                  <a:srgbClr val="222B38"/>
                </a:solidFill>
                <a:latin typeface="Calibri"/>
              </a:rPr>
              <a:t> khi chạy thân vòng lặp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Biến khai báo trong phần khởi tạo chỉ sống trong vòng lặp</a:t>
            </a:r>
          </a:p>
          <a:p>
            <a:pPr algn="l" marL="310896" indent="-310896">
              <a:spcAft>
                <a:spcPts val="1300"/>
              </a:spcAft>
            </a:pPr>
            <a:r>
              <a:rPr sz="1800" b="1">
                <a:solidFill>
                  <a:srgbClr val="3598DB"/>
                </a:solidFill>
                <a:latin typeface="Calibri"/>
              </a:rPr>
              <a:t>▪   </a:t>
            </a:r>
            <a:r>
              <a:rPr sz="1800" b="0">
                <a:solidFill>
                  <a:srgbClr val="222B38"/>
                </a:solidFill>
                <a:latin typeface="Calibri"/>
              </a:rPr>
              <a:t>Quên cập nhật biến đếm là nguyên nhân phổ biến gây lặp vô hạn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