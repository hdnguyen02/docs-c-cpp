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91695" cy="128016"/>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2240280"/>
            <a:ext cx="10241280" cy="2194560"/>
          </a:xfrm>
          <a:prstGeom prst="rect">
            <a:avLst/>
          </a:prstGeom>
          <a:noFill/>
        </p:spPr>
        <p:txBody>
          <a:bodyPr wrap="square">
            <a:spAutoFit/>
          </a:bodyPr>
          <a:lstStyle/>
          <a:p>
            <a:r>
              <a:rPr sz="3800" b="1">
                <a:solidFill>
                  <a:srgbClr val="FFFFFF"/>
                </a:solidFill>
                <a:latin typeface="Calibri"/>
              </a:rPr>
              <a:t>[C++]. Hàm Đệ Quy</a:t>
            </a:r>
          </a:p>
          <a:p>
            <a:pPr>
              <a:spcBef>
                <a:spcPts val="1200"/>
              </a:spcBef>
            </a:pPr>
            <a:r>
              <a:rPr sz="1700">
                <a:solidFill>
                  <a:srgbClr val="3598DB"/>
                </a:solidFill>
                <a:latin typeface="Calibri"/>
              </a:rPr>
              <a:t>C++ Cơ Bản</a:t>
            </a:r>
          </a:p>
          <a:p>
            <a:pPr>
              <a:spcBef>
                <a:spcPts val="2400"/>
              </a:spcBef>
            </a:pPr>
            <a:r>
              <a:rPr sz="1050">
                <a:solidFill>
                  <a:srgbClr val="8C9AAF"/>
                </a:solidFill>
                <a:latin typeface="Calibri"/>
              </a:rPr>
              <a:t>https://blog.28tech.com.vn/cpp-ham-de-quy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[C++]. Hàm Đệ Quy</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594360"/>
          </a:xfrm>
          <a:prstGeom prst="rect">
            <a:avLst/>
          </a:prstGeom>
          <a:noFill/>
        </p:spPr>
        <p:txBody>
          <a:bodyPr wrap="square" lIns="0" rIns="0" tIns="0" bIns="0">
            <a:spAutoFit/>
          </a:bodyPr>
          <a:lstStyle/>
          <a:p>
            <a:pPr algn="l"/>
            <a:r>
              <a:rPr sz="1650">
                <a:solidFill>
                  <a:srgbClr val="1F2A37"/>
                </a:solidFill>
                <a:latin typeface="Calibri"/>
              </a:rPr>
              <a:t>Đệ Quy là một kiến thức quan trọng trong lập trình và tương đối khó tiếp cận với người mới. Trong bài viết này mình sẽ hướng dẫn các bạn để bạn có thể hiểu rõ cách hàm đệ quy hoạt động</a:t>
            </a:r>
          </a:p>
        </p:txBody>
      </p:sp>
      <p:sp>
        <p:nvSpPr>
          <p:cNvPr id="7" name="TextBox 6"/>
          <p:cNvSpPr txBox="1"/>
          <p:nvPr/>
        </p:nvSpPr>
        <p:spPr>
          <a:xfrm>
            <a:off x="640080" y="1892807"/>
            <a:ext cx="10911535" cy="361188"/>
          </a:xfrm>
          <a:prstGeom prst="rect">
            <a:avLst/>
          </a:prstGeom>
          <a:noFill/>
        </p:spPr>
        <p:txBody>
          <a:bodyPr wrap="square" lIns="0" rIns="0" tIns="0" bIns="0">
            <a:spAutoFit/>
          </a:bodyPr>
          <a:lstStyle/>
          <a:p>
            <a:pPr algn="l"/>
            <a:r>
              <a:rPr b="1" sz="1650">
                <a:solidFill>
                  <a:srgbClr val="1F2A37"/>
                </a:solidFill>
                <a:latin typeface="Calibri"/>
              </a:rPr>
              <a:t>NỘI DUNG :</a:t>
            </a:r>
          </a:p>
        </p:txBody>
      </p:sp>
      <p:sp>
        <p:nvSpPr>
          <p:cNvPr id="8" name="TextBox 7"/>
          <p:cNvSpPr txBox="1"/>
          <p:nvPr/>
        </p:nvSpPr>
        <p:spPr>
          <a:xfrm>
            <a:off x="640080" y="2253996"/>
            <a:ext cx="10911535" cy="1513332"/>
          </a:xfrm>
          <a:prstGeom prst="rect">
            <a:avLst/>
          </a:prstGeom>
          <a:noFill/>
        </p:spPr>
        <p:txBody>
          <a:bodyPr wrap="square" lIns="0" rIns="0" tIns="0" bIns="0">
            <a:spAutoFit/>
          </a:bodyPr>
          <a:lstStyle/>
          <a:p>
            <a:pPr algn="l">
              <a:spcAft>
                <a:spcPts val="500"/>
              </a:spcAft>
            </a:pPr>
            <a:r>
              <a:rPr sz="1550">
                <a:solidFill>
                  <a:srgbClr val="3598DB"/>
                </a:solidFill>
                <a:latin typeface="Calibri"/>
              </a:rPr>
              <a:t>•  </a:t>
            </a:r>
            <a:r>
              <a:rPr b="1" sz="1550">
                <a:solidFill>
                  <a:srgbClr val="1F2A37"/>
                </a:solidFill>
                <a:latin typeface="Calibri"/>
              </a:rPr>
              <a:t>Định Nghĩa Hàm Đệ Quy</a:t>
            </a:r>
          </a:p>
          <a:p>
            <a:pPr algn="l">
              <a:spcAft>
                <a:spcPts val="500"/>
              </a:spcAft>
            </a:pPr>
            <a:r>
              <a:rPr sz="1550">
                <a:solidFill>
                  <a:srgbClr val="3598DB"/>
                </a:solidFill>
                <a:latin typeface="Calibri"/>
              </a:rPr>
              <a:t>•  </a:t>
            </a:r>
            <a:r>
              <a:rPr b="1" sz="1550">
                <a:solidFill>
                  <a:srgbClr val="1F2A37"/>
                </a:solidFill>
                <a:latin typeface="Calibri"/>
              </a:rPr>
              <a:t>Ví Dụ Về Đệ Quy</a:t>
            </a:r>
          </a:p>
          <a:p>
            <a:pPr algn="l">
              <a:spcAft>
                <a:spcPts val="500"/>
              </a:spcAft>
            </a:pPr>
            <a:r>
              <a:rPr sz="1550">
                <a:solidFill>
                  <a:srgbClr val="3598DB"/>
                </a:solidFill>
                <a:latin typeface="Calibri"/>
              </a:rPr>
              <a:t>•  </a:t>
            </a:r>
            <a:r>
              <a:rPr b="1" sz="1550">
                <a:solidFill>
                  <a:srgbClr val="1F2A37"/>
                </a:solidFill>
                <a:latin typeface="Calibri"/>
              </a:rPr>
              <a:t>Công Thức Truy Hồi</a:t>
            </a:r>
          </a:p>
          <a:p>
            <a:pPr algn="l">
              <a:spcAft>
                <a:spcPts val="500"/>
              </a:spcAft>
            </a:pPr>
            <a:r>
              <a:rPr sz="1550">
                <a:solidFill>
                  <a:srgbClr val="3598DB"/>
                </a:solidFill>
                <a:latin typeface="Calibri"/>
              </a:rPr>
              <a:t>•  </a:t>
            </a:r>
            <a:r>
              <a:rPr b="1" sz="1550">
                <a:solidFill>
                  <a:srgbClr val="1F2A37"/>
                </a:solidFill>
                <a:latin typeface="Calibri"/>
              </a:rPr>
              <a:t>Stack Overflow</a:t>
            </a:r>
          </a:p>
          <a:p>
            <a:pPr algn="l">
              <a:spcAft>
                <a:spcPts val="500"/>
              </a:spcAft>
            </a:pPr>
            <a:r>
              <a:rPr sz="1550">
                <a:solidFill>
                  <a:srgbClr val="3598DB"/>
                </a:solidFill>
                <a:latin typeface="Calibri"/>
              </a:rPr>
              <a:t>•  </a:t>
            </a:r>
            <a:r>
              <a:rPr b="1" sz="1550">
                <a:solidFill>
                  <a:srgbClr val="1F2A37"/>
                </a:solidFill>
                <a:latin typeface="Calibri"/>
              </a:rPr>
              <a:t>Video Tutorial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[C++]. Hàm Đệ Quy</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pic>
        <p:nvPicPr>
          <p:cNvPr id="6" name="Picture 5" descr="e3fb238aa1806e2f.png"/>
          <p:cNvPicPr>
            <a:picLocks noChangeAspect="1"/>
          </p:cNvPicPr>
          <p:nvPr/>
        </p:nvPicPr>
        <p:blipFill>
          <a:blip r:embed="rId2"/>
          <a:stretch>
            <a:fillRect/>
          </a:stretch>
        </p:blipFill>
        <p:spPr>
          <a:xfrm>
            <a:off x="1039215" y="1298448"/>
            <a:ext cx="10113264" cy="50566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1. Định Nghĩa Hàm Đệ Quy</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594360"/>
          </a:xfrm>
          <a:prstGeom prst="rect">
            <a:avLst/>
          </a:prstGeom>
          <a:noFill/>
        </p:spPr>
        <p:txBody>
          <a:bodyPr wrap="square" lIns="0" rIns="0" tIns="0" bIns="0">
            <a:spAutoFit/>
          </a:bodyPr>
          <a:lstStyle/>
          <a:p>
            <a:pPr algn="l"/>
            <a:r>
              <a:rPr sz="1650">
                <a:solidFill>
                  <a:srgbClr val="1F2A37"/>
                </a:solidFill>
                <a:latin typeface="Calibri"/>
              </a:rPr>
              <a:t>Hàm đệ quy được định nghĩa là hàm gọi lại chính nó. Có rất nhiều thuật toán và cấu trúc dữ liệu dựa trên kỹ thuật đệ quy này : Quick sort, Merge sort, DFS, Cây Phân Đoạn...</a:t>
            </a:r>
          </a:p>
        </p:txBody>
      </p:sp>
      <p:sp>
        <p:nvSpPr>
          <p:cNvPr id="7" name="TextBox 6"/>
          <p:cNvSpPr txBox="1"/>
          <p:nvPr/>
        </p:nvSpPr>
        <p:spPr>
          <a:xfrm>
            <a:off x="640080" y="1892807"/>
            <a:ext cx="10911535" cy="361188"/>
          </a:xfrm>
          <a:prstGeom prst="rect">
            <a:avLst/>
          </a:prstGeom>
          <a:noFill/>
        </p:spPr>
        <p:txBody>
          <a:bodyPr wrap="square" lIns="0" rIns="0" tIns="0" bIns="0">
            <a:spAutoFit/>
          </a:bodyPr>
          <a:lstStyle/>
          <a:p>
            <a:pPr algn="l"/>
            <a:r>
              <a:rPr sz="1650">
                <a:solidFill>
                  <a:srgbClr val="1F2A37"/>
                </a:solidFill>
                <a:latin typeface="Calibri"/>
              </a:rPr>
              <a:t>Các bạn xem hình sau để hiểu rõ hơn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1. Định Nghĩa Hàm Đệ Quy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pic>
        <p:nvPicPr>
          <p:cNvPr id="6" name="Picture 5" descr="e3711debf2118ee8.png"/>
          <p:cNvPicPr>
            <a:picLocks noChangeAspect="1"/>
          </p:cNvPicPr>
          <p:nvPr/>
        </p:nvPicPr>
        <p:blipFill>
          <a:blip r:embed="rId2"/>
          <a:stretch>
            <a:fillRect/>
          </a:stretch>
        </p:blipFill>
        <p:spPr>
          <a:xfrm>
            <a:off x="2747414" y="1298448"/>
            <a:ext cx="6696865" cy="50566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1. Định Nghĩa Hàm Đệ Quy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361188"/>
          </a:xfrm>
          <a:prstGeom prst="rect">
            <a:avLst/>
          </a:prstGeom>
          <a:noFill/>
        </p:spPr>
        <p:txBody>
          <a:bodyPr wrap="square" lIns="0" rIns="0" tIns="0" bIns="0">
            <a:spAutoFit/>
          </a:bodyPr>
          <a:lstStyle/>
          <a:p>
            <a:pPr algn="l"/>
            <a:r>
              <a:rPr sz="1650">
                <a:solidFill>
                  <a:srgbClr val="1F2A37"/>
                </a:solidFill>
                <a:latin typeface="Calibri"/>
              </a:rPr>
              <a:t>Ví dụ :</a:t>
            </a:r>
          </a:p>
        </p:txBody>
      </p:sp>
      <p:sp>
        <p:nvSpPr>
          <p:cNvPr id="7" name="Rectangle 6"/>
          <p:cNvSpPr/>
          <p:nvPr/>
        </p:nvSpPr>
        <p:spPr>
          <a:xfrm>
            <a:off x="640080" y="1659636"/>
            <a:ext cx="10911535" cy="360083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69364"/>
            <a:ext cx="10545775" cy="3399663"/>
          </a:xfrm>
          <a:prstGeom prst="rect">
            <a:avLst/>
          </a:prstGeom>
          <a:noFill/>
        </p:spPr>
        <p:txBody>
          <a:bodyPr wrap="none" lIns="0" rIns="0" tIns="0" bIns="0">
            <a:spAutoFit/>
          </a:bodyPr>
          <a:lstStyle/>
          <a:p>
            <a:pPr algn="l">
              <a:lnSpc>
                <a:spcPct val="100000"/>
              </a:lnSpc>
              <a:spcAft>
                <a:spcPts val="0"/>
              </a:spcAft>
            </a:pPr>
            <a:r>
              <a:rPr sz="1250">
                <a:solidFill>
                  <a:srgbClr val="E6EDF3"/>
                </a:solidFill>
                <a:latin typeface="Consolas"/>
              </a:rPr>
              <a:t>#include "iostream"</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using namespace std;</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void recursive(int n){</a:t>
            </a:r>
          </a:p>
          <a:p>
            <a:pPr algn="l">
              <a:lnSpc>
                <a:spcPct val="100000"/>
              </a:lnSpc>
              <a:spcAft>
                <a:spcPts val="0"/>
              </a:spcAft>
            </a:pPr>
            <a:r>
              <a:rPr sz="1250">
                <a:solidFill>
                  <a:srgbClr val="E6EDF3"/>
                </a:solidFill>
                <a:latin typeface="Consolas"/>
              </a:rPr>
              <a:t>   if(n &gt; 0){</a:t>
            </a:r>
          </a:p>
          <a:p>
            <a:pPr algn="l">
              <a:lnSpc>
                <a:spcPct val="100000"/>
              </a:lnSpc>
              <a:spcAft>
                <a:spcPts val="0"/>
              </a:spcAft>
            </a:pPr>
            <a:r>
              <a:rPr sz="1250">
                <a:solidFill>
                  <a:srgbClr val="E6EDF3"/>
                </a:solidFill>
                <a:latin typeface="Consolas"/>
              </a:rPr>
              <a:t>        cout &lt;&lt; n &lt;&lt; " ";</a:t>
            </a:r>
          </a:p>
          <a:p>
            <a:pPr algn="l">
              <a:lnSpc>
                <a:spcPct val="100000"/>
              </a:lnSpc>
              <a:spcAft>
                <a:spcPts val="0"/>
              </a:spcAft>
            </a:pPr>
            <a:r>
              <a:rPr sz="1250">
                <a:solidFill>
                  <a:srgbClr val="E6EDF3"/>
                </a:solidFill>
                <a:latin typeface="Consolas"/>
              </a:rPr>
              <a:t>        recursive(n - 1);</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main(){</a:t>
            </a:r>
          </a:p>
          <a:p>
            <a:pPr algn="l">
              <a:lnSpc>
                <a:spcPct val="100000"/>
              </a:lnSpc>
              <a:spcAft>
                <a:spcPts val="0"/>
              </a:spcAft>
            </a:pPr>
            <a:r>
              <a:rPr sz="1250">
                <a:solidFill>
                  <a:srgbClr val="E6EDF3"/>
                </a:solidFill>
                <a:latin typeface="Consolas"/>
              </a:rPr>
              <a:t>   recursive(4);</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a:t>
            </a:r>
          </a:p>
        </p:txBody>
      </p:sp>
      <p:sp>
        <p:nvSpPr>
          <p:cNvPr id="9" name="TextBox 8"/>
          <p:cNvSpPr txBox="1"/>
          <p:nvPr/>
        </p:nvSpPr>
        <p:spPr>
          <a:xfrm>
            <a:off x="640080" y="5351907"/>
            <a:ext cx="10911535" cy="361188"/>
          </a:xfrm>
          <a:prstGeom prst="rect">
            <a:avLst/>
          </a:prstGeom>
          <a:noFill/>
        </p:spPr>
        <p:txBody>
          <a:bodyPr wrap="square" lIns="0" rIns="0" tIns="0" bIns="0">
            <a:spAutoFit/>
          </a:bodyPr>
          <a:lstStyle/>
          <a:p>
            <a:pPr algn="l"/>
            <a:r>
              <a:rPr sz="1650">
                <a:solidFill>
                  <a:srgbClr val="1F2A37"/>
                </a:solidFill>
                <a:latin typeface="Calibri"/>
              </a:rPr>
              <a:t>Output :</a:t>
            </a:r>
          </a:p>
        </p:txBody>
      </p:sp>
      <p:sp>
        <p:nvSpPr>
          <p:cNvPr id="10" name="Rectangle 9"/>
          <p:cNvSpPr/>
          <p:nvPr/>
        </p:nvSpPr>
        <p:spPr>
          <a:xfrm>
            <a:off x="640080" y="5713095"/>
            <a:ext cx="10911535" cy="47193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822823"/>
            <a:ext cx="10545775" cy="270763"/>
          </a:xfrm>
          <a:prstGeom prst="rect">
            <a:avLst/>
          </a:prstGeom>
          <a:noFill/>
        </p:spPr>
        <p:txBody>
          <a:bodyPr wrap="none" lIns="0" rIns="0" tIns="0" bIns="0">
            <a:spAutoFit/>
          </a:bodyPr>
          <a:lstStyle/>
          <a:p>
            <a:pPr algn="l">
              <a:lnSpc>
                <a:spcPct val="100000"/>
              </a:lnSpc>
              <a:spcAft>
                <a:spcPts val="0"/>
              </a:spcAft>
            </a:pPr>
            <a:r>
              <a:rPr sz="1400">
                <a:solidFill>
                  <a:srgbClr val="E6EDF3"/>
                </a:solidFill>
                <a:latin typeface="Consolas"/>
              </a:rPr>
              <a:t>4 3 2 1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2. Ví Dụ Về Đệ Quy</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594360"/>
          </a:xfrm>
          <a:prstGeom prst="rect">
            <a:avLst/>
          </a:prstGeom>
          <a:noFill/>
        </p:spPr>
        <p:txBody>
          <a:bodyPr wrap="square" lIns="0" rIns="0" tIns="0" bIns="0">
            <a:spAutoFit/>
          </a:bodyPr>
          <a:lstStyle/>
          <a:p>
            <a:pPr algn="l"/>
            <a:r>
              <a:rPr sz="1650">
                <a:solidFill>
                  <a:srgbClr val="1F2A37"/>
                </a:solidFill>
                <a:latin typeface="Calibri"/>
              </a:rPr>
              <a:t>Trong mục này mình sẽ giải thích chi tiết từng bước của hàm đệ quy thông qua các ví dụ để các bạn có thể hiểu rõ cách hoạt động của nó.</a:t>
            </a:r>
          </a:p>
        </p:txBody>
      </p:sp>
      <p:sp>
        <p:nvSpPr>
          <p:cNvPr id="7" name="TextBox 6"/>
          <p:cNvSpPr txBox="1"/>
          <p:nvPr/>
        </p:nvSpPr>
        <p:spPr>
          <a:xfrm>
            <a:off x="640080" y="1892807"/>
            <a:ext cx="10911535" cy="361188"/>
          </a:xfrm>
          <a:prstGeom prst="rect">
            <a:avLst/>
          </a:prstGeom>
          <a:noFill/>
        </p:spPr>
        <p:txBody>
          <a:bodyPr wrap="square" lIns="0" rIns="0" tIns="0" bIns="0">
            <a:spAutoFit/>
          </a:bodyPr>
          <a:lstStyle/>
          <a:p>
            <a:pPr algn="l"/>
            <a:r>
              <a:rPr b="1" sz="1650">
                <a:solidFill>
                  <a:srgbClr val="1F2A37"/>
                </a:solidFill>
                <a:latin typeface="Calibri"/>
              </a:rPr>
              <a:t>Ví dụ 1 :</a:t>
            </a:r>
          </a:p>
        </p:txBody>
      </p:sp>
      <p:sp>
        <p:nvSpPr>
          <p:cNvPr id="8" name="Rectangle 7"/>
          <p:cNvSpPr/>
          <p:nvPr/>
        </p:nvSpPr>
        <p:spPr>
          <a:xfrm>
            <a:off x="640080" y="2253996"/>
            <a:ext cx="10911535" cy="382625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63724"/>
            <a:ext cx="10545775" cy="3625088"/>
          </a:xfrm>
          <a:prstGeom prst="rect">
            <a:avLst/>
          </a:prstGeom>
          <a:noFill/>
        </p:spPr>
        <p:txBody>
          <a:bodyPr wrap="none" lIns="0" rIns="0" tIns="0" bIns="0">
            <a:spAutoFit/>
          </a:bodyPr>
          <a:lstStyle/>
          <a:p>
            <a:pPr algn="l">
              <a:lnSpc>
                <a:spcPct val="100000"/>
              </a:lnSpc>
              <a:spcAft>
                <a:spcPts val="0"/>
              </a:spcAft>
            </a:pPr>
            <a:r>
              <a:rPr sz="1250">
                <a:solidFill>
                  <a:srgbClr val="E6EDF3"/>
                </a:solidFill>
                <a:latin typeface="Consolas"/>
              </a:rPr>
              <a:t>#include "iostream"</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using namespace std;</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void dequy(int n){</a:t>
            </a:r>
          </a:p>
          <a:p>
            <a:pPr algn="l">
              <a:lnSpc>
                <a:spcPct val="100000"/>
              </a:lnSpc>
              <a:spcAft>
                <a:spcPts val="0"/>
              </a:spcAft>
            </a:pPr>
            <a:r>
              <a:rPr sz="1250">
                <a:solidFill>
                  <a:srgbClr val="E6EDF3"/>
                </a:solidFill>
                <a:latin typeface="Consolas"/>
              </a:rPr>
              <a:t>    if(n &gt; 0){</a:t>
            </a:r>
          </a:p>
          <a:p>
            <a:pPr algn="l">
              <a:lnSpc>
                <a:spcPct val="100000"/>
              </a:lnSpc>
              <a:spcAft>
                <a:spcPts val="0"/>
              </a:spcAft>
            </a:pPr>
            <a:r>
              <a:rPr sz="1250">
                <a:solidFill>
                  <a:srgbClr val="E6EDF3"/>
                </a:solidFill>
                <a:latin typeface="Consolas"/>
              </a:rPr>
              <a:t>        cout &lt;&lt; "Loi goi ham khi n = " &lt;&lt; n &lt;&lt; endl;</a:t>
            </a:r>
          </a:p>
          <a:p>
            <a:pPr algn="l">
              <a:lnSpc>
                <a:spcPct val="100000"/>
              </a:lnSpc>
              <a:spcAft>
                <a:spcPts val="0"/>
              </a:spcAft>
            </a:pPr>
            <a:r>
              <a:rPr sz="1250">
                <a:solidFill>
                  <a:srgbClr val="E6EDF3"/>
                </a:solidFill>
                <a:latin typeface="Consolas"/>
              </a:rPr>
              <a:t>        dequy(n - 1);</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cout &lt;&lt; "Ham khi n = " &lt;&lt; n &lt;&lt; " ket thuc !\n";</a:t>
            </a:r>
          </a:p>
          <a:p>
            <a:pPr algn="l">
              <a:lnSpc>
                <a:spcPct val="100000"/>
              </a:lnSpc>
              <a:spcAft>
                <a:spcPts val="0"/>
              </a:spcAft>
            </a:pPr>
            <a:r>
              <a:rPr sz="1250">
                <a:solidFill>
                  <a:srgbClr val="E6EDF3"/>
                </a:solidFill>
                <a:latin typeface="Consolas"/>
              </a:rPr>
              <a:t>}</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main(){</a:t>
            </a:r>
          </a:p>
          <a:p>
            <a:pPr algn="l">
              <a:lnSpc>
                <a:spcPct val="100000"/>
              </a:lnSpc>
              <a:spcAft>
                <a:spcPts val="0"/>
              </a:spcAft>
            </a:pPr>
            <a:r>
              <a:rPr sz="1250">
                <a:solidFill>
                  <a:srgbClr val="E6EDF3"/>
                </a:solidFill>
                <a:latin typeface="Consolas"/>
              </a:rPr>
              <a:t>   dequy(4);</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2. Ví Dụ Về Đệ Quy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361188"/>
          </a:xfrm>
          <a:prstGeom prst="rect">
            <a:avLst/>
          </a:prstGeom>
          <a:noFill/>
        </p:spPr>
        <p:txBody>
          <a:bodyPr wrap="square" lIns="0" rIns="0" tIns="0" bIns="0">
            <a:spAutoFit/>
          </a:bodyPr>
          <a:lstStyle/>
          <a:p>
            <a:pPr algn="l"/>
            <a:r>
              <a:rPr sz="1650">
                <a:solidFill>
                  <a:srgbClr val="1F2A37"/>
                </a:solidFill>
                <a:latin typeface="Calibri"/>
              </a:rPr>
              <a:t>Output :</a:t>
            </a:r>
          </a:p>
        </p:txBody>
      </p:sp>
      <p:sp>
        <p:nvSpPr>
          <p:cNvPr id="7" name="Rectangle 6"/>
          <p:cNvSpPr/>
          <p:nvPr/>
        </p:nvSpPr>
        <p:spPr>
          <a:xfrm>
            <a:off x="640080" y="1659636"/>
            <a:ext cx="10911535" cy="2491739"/>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69364"/>
            <a:ext cx="10545775" cy="2290572"/>
          </a:xfrm>
          <a:prstGeom prst="rect">
            <a:avLst/>
          </a:prstGeom>
          <a:noFill/>
        </p:spPr>
        <p:txBody>
          <a:bodyPr wrap="none" lIns="0" rIns="0" tIns="0" bIns="0">
            <a:spAutoFit/>
          </a:bodyPr>
          <a:lstStyle/>
          <a:p>
            <a:pPr algn="l">
              <a:lnSpc>
                <a:spcPct val="100000"/>
              </a:lnSpc>
              <a:spcAft>
                <a:spcPts val="0"/>
              </a:spcAft>
            </a:pPr>
            <a:r>
              <a:rPr sz="1400">
                <a:solidFill>
                  <a:srgbClr val="E6EDF3"/>
                </a:solidFill>
                <a:latin typeface="Consolas"/>
              </a:rPr>
              <a:t>Loi goi ham khi n = 4</a:t>
            </a:r>
          </a:p>
          <a:p>
            <a:pPr algn="l">
              <a:lnSpc>
                <a:spcPct val="100000"/>
              </a:lnSpc>
              <a:spcAft>
                <a:spcPts val="0"/>
              </a:spcAft>
            </a:pPr>
            <a:r>
              <a:rPr sz="1400">
                <a:solidFill>
                  <a:srgbClr val="E6EDF3"/>
                </a:solidFill>
                <a:latin typeface="Consolas"/>
              </a:rPr>
              <a:t>Loi goi ham khi n = 3</a:t>
            </a:r>
          </a:p>
          <a:p>
            <a:pPr algn="l">
              <a:lnSpc>
                <a:spcPct val="100000"/>
              </a:lnSpc>
              <a:spcAft>
                <a:spcPts val="0"/>
              </a:spcAft>
            </a:pPr>
            <a:r>
              <a:rPr sz="1400">
                <a:solidFill>
                  <a:srgbClr val="E6EDF3"/>
                </a:solidFill>
                <a:latin typeface="Consolas"/>
              </a:rPr>
              <a:t>Loi goi ham khi n = 2</a:t>
            </a:r>
          </a:p>
          <a:p>
            <a:pPr algn="l">
              <a:lnSpc>
                <a:spcPct val="100000"/>
              </a:lnSpc>
              <a:spcAft>
                <a:spcPts val="0"/>
              </a:spcAft>
            </a:pPr>
            <a:r>
              <a:rPr sz="1400">
                <a:solidFill>
                  <a:srgbClr val="E6EDF3"/>
                </a:solidFill>
                <a:latin typeface="Consolas"/>
              </a:rPr>
              <a:t>Loi goi ham khi n = 1</a:t>
            </a:r>
          </a:p>
          <a:p>
            <a:pPr algn="l">
              <a:lnSpc>
                <a:spcPct val="100000"/>
              </a:lnSpc>
              <a:spcAft>
                <a:spcPts val="0"/>
              </a:spcAft>
            </a:pPr>
            <a:r>
              <a:rPr sz="1400">
                <a:solidFill>
                  <a:srgbClr val="E6EDF3"/>
                </a:solidFill>
                <a:latin typeface="Consolas"/>
              </a:rPr>
              <a:t>Ham khi n = 0 ket thuc !</a:t>
            </a:r>
          </a:p>
          <a:p>
            <a:pPr algn="l">
              <a:lnSpc>
                <a:spcPct val="100000"/>
              </a:lnSpc>
              <a:spcAft>
                <a:spcPts val="0"/>
              </a:spcAft>
            </a:pPr>
            <a:r>
              <a:rPr sz="1400">
                <a:solidFill>
                  <a:srgbClr val="E6EDF3"/>
                </a:solidFill>
                <a:latin typeface="Consolas"/>
              </a:rPr>
              <a:t>Ham khi n = 1 ket thuc !</a:t>
            </a:r>
          </a:p>
          <a:p>
            <a:pPr algn="l">
              <a:lnSpc>
                <a:spcPct val="100000"/>
              </a:lnSpc>
              <a:spcAft>
                <a:spcPts val="0"/>
              </a:spcAft>
            </a:pPr>
            <a:r>
              <a:rPr sz="1400">
                <a:solidFill>
                  <a:srgbClr val="E6EDF3"/>
                </a:solidFill>
                <a:latin typeface="Consolas"/>
              </a:rPr>
              <a:t>Ham khi n = 2 ket thuc !</a:t>
            </a:r>
          </a:p>
          <a:p>
            <a:pPr algn="l">
              <a:lnSpc>
                <a:spcPct val="100000"/>
              </a:lnSpc>
              <a:spcAft>
                <a:spcPts val="0"/>
              </a:spcAft>
            </a:pPr>
            <a:r>
              <a:rPr sz="1400">
                <a:solidFill>
                  <a:srgbClr val="E6EDF3"/>
                </a:solidFill>
                <a:latin typeface="Consolas"/>
              </a:rPr>
              <a:t>Ham khi n = 3 ket thuc !</a:t>
            </a:r>
          </a:p>
          <a:p>
            <a:pPr algn="l">
              <a:lnSpc>
                <a:spcPct val="100000"/>
              </a:lnSpc>
              <a:spcAft>
                <a:spcPts val="0"/>
              </a:spcAft>
            </a:pPr>
            <a:r>
              <a:rPr sz="1400">
                <a:solidFill>
                  <a:srgbClr val="E6EDF3"/>
                </a:solidFill>
                <a:latin typeface="Consolas"/>
              </a:rPr>
              <a:t>Ham khi n = 4 ket thuc !</a:t>
            </a:r>
          </a:p>
        </p:txBody>
      </p:sp>
      <p:sp>
        <p:nvSpPr>
          <p:cNvPr id="9" name="TextBox 8"/>
          <p:cNvSpPr txBox="1"/>
          <p:nvPr/>
        </p:nvSpPr>
        <p:spPr>
          <a:xfrm>
            <a:off x="640080" y="4242816"/>
            <a:ext cx="10911535" cy="361188"/>
          </a:xfrm>
          <a:prstGeom prst="rect">
            <a:avLst/>
          </a:prstGeom>
          <a:noFill/>
        </p:spPr>
        <p:txBody>
          <a:bodyPr wrap="square" lIns="0" rIns="0" tIns="0" bIns="0">
            <a:spAutoFit/>
          </a:bodyPr>
          <a:lstStyle/>
          <a:p>
            <a:pPr algn="l"/>
            <a:r>
              <a:rPr b="1" sz="1650">
                <a:solidFill>
                  <a:srgbClr val="1F2A37"/>
                </a:solidFill>
                <a:latin typeface="Calibri"/>
              </a:rPr>
              <a:t>Giải thích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2. Ví Dụ Về Đệ Quy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5353812"/>
          </a:xfrm>
          <a:prstGeom prst="rect">
            <a:avLst/>
          </a:prstGeom>
          <a:noFill/>
        </p:spPr>
        <p:txBody>
          <a:bodyPr wrap="square" lIns="0" rIns="0" tIns="0" bIns="0">
            <a:spAutoFit/>
          </a:bodyPr>
          <a:lstStyle/>
          <a:p>
            <a:pPr algn="l">
              <a:spcAft>
                <a:spcPts val="500"/>
              </a:spcAft>
            </a:pPr>
            <a:r>
              <a:rPr sz="1550">
                <a:solidFill>
                  <a:srgbClr val="3598DB"/>
                </a:solidFill>
                <a:latin typeface="Calibri"/>
              </a:rPr>
              <a:t>•  </a:t>
            </a:r>
            <a:r>
              <a:rPr sz="1550">
                <a:solidFill>
                  <a:srgbClr val="1F2A37"/>
                </a:solidFill>
                <a:latin typeface="Calibri"/>
              </a:rPr>
              <a:t>dequy(4) được gọi trong main, hàm dequy với n = 4 được gọi, kiểm tra n &gt; 0 nên sẽ thực hiện câu lệnh thứ 1 trong if và in ra nội dung : "Loi goi ham khi n = 4". Sau đó thực hiện câu lệnh dequy(n - 1) tương đương với dequy(3). Hàm dequy(3) sẽ chạy, dequy(4) sẽ đợi dequy(3) chạy xong để tiếp tục thực hiện câu lệnh bên dưới của if và kết thúc</a:t>
            </a:r>
          </a:p>
          <a:p>
            <a:pPr algn="l">
              <a:spcAft>
                <a:spcPts val="500"/>
              </a:spcAft>
            </a:pPr>
            <a:r>
              <a:rPr sz="1550">
                <a:solidFill>
                  <a:srgbClr val="3598DB"/>
                </a:solidFill>
                <a:latin typeface="Calibri"/>
              </a:rPr>
              <a:t>•  </a:t>
            </a:r>
            <a:r>
              <a:rPr sz="1550">
                <a:solidFill>
                  <a:srgbClr val="1F2A37"/>
                </a:solidFill>
                <a:latin typeface="Calibri"/>
              </a:rPr>
              <a:t>dequy(3) được chạy, kiểm tra n &gt; 0 nên sẽ in ra nội dung "Loi goi ham khi n = 3". Sau đó xuống câu lệnh dequy(n - 1) tương đương với dequy(2).</a:t>
            </a:r>
          </a:p>
          <a:p>
            <a:pPr algn="l">
              <a:spcAft>
                <a:spcPts val="500"/>
              </a:spcAft>
            </a:pPr>
            <a:r>
              <a:rPr sz="1550">
                <a:solidFill>
                  <a:srgbClr val="3598DB"/>
                </a:solidFill>
                <a:latin typeface="Calibri"/>
              </a:rPr>
              <a:t>•  </a:t>
            </a:r>
            <a:r>
              <a:rPr sz="1550">
                <a:solidFill>
                  <a:srgbClr val="1F2A37"/>
                </a:solidFill>
                <a:latin typeface="Calibri"/>
              </a:rPr>
              <a:t>dequy(2) được chạy, kiểm tra n &gt; 0 nên sẽ in ra nội dung "Loi goi ham khi n = 2". Sau đó xuống câu lệnh dequy(n - 1) tương đương với dequy(1).</a:t>
            </a:r>
          </a:p>
          <a:p>
            <a:pPr algn="l">
              <a:spcAft>
                <a:spcPts val="500"/>
              </a:spcAft>
            </a:pPr>
            <a:r>
              <a:rPr sz="1550">
                <a:solidFill>
                  <a:srgbClr val="3598DB"/>
                </a:solidFill>
                <a:latin typeface="Calibri"/>
              </a:rPr>
              <a:t>•  </a:t>
            </a:r>
            <a:r>
              <a:rPr sz="1550">
                <a:solidFill>
                  <a:srgbClr val="1F2A37"/>
                </a:solidFill>
                <a:latin typeface="Calibri"/>
              </a:rPr>
              <a:t>dequy(1) được chạy, kiểm tra n &gt; 0 nên sẽ in ra nội dung "Loi goi ham khi n = 1". Sau đó xuống câu lệnh dequy(n - 1) tương đương với dequy(0).</a:t>
            </a:r>
          </a:p>
          <a:p>
            <a:pPr algn="l">
              <a:spcAft>
                <a:spcPts val="500"/>
              </a:spcAft>
            </a:pPr>
            <a:r>
              <a:rPr sz="1550">
                <a:solidFill>
                  <a:srgbClr val="3598DB"/>
                </a:solidFill>
                <a:latin typeface="Calibri"/>
              </a:rPr>
              <a:t>•  </a:t>
            </a:r>
            <a:r>
              <a:rPr sz="1550">
                <a:solidFill>
                  <a:srgbClr val="1F2A37"/>
                </a:solidFill>
                <a:latin typeface="Calibri"/>
              </a:rPr>
              <a:t>dequy(2) được chạy, kiểm tra n &gt; 0 không đúng nên 2 câu lệnh trong if của hàm dequy(0) không được thực hiện mà thực hiện câu lệnh cuối cùng trong hàm dequy(0) và in ra "Ham khi n = 0 ket thuc !"</a:t>
            </a:r>
          </a:p>
          <a:p>
            <a:pPr algn="l">
              <a:spcAft>
                <a:spcPts val="500"/>
              </a:spcAft>
            </a:pPr>
            <a:r>
              <a:rPr sz="1550">
                <a:solidFill>
                  <a:srgbClr val="3598DB"/>
                </a:solidFill>
                <a:latin typeface="Calibri"/>
              </a:rPr>
              <a:t>•  </a:t>
            </a:r>
            <a:r>
              <a:rPr sz="1550">
                <a:solidFill>
                  <a:srgbClr val="1F2A37"/>
                </a:solidFill>
                <a:latin typeface="Calibri"/>
              </a:rPr>
              <a:t>Sau khi dequy(0) chạy xong, quay lại bước thứ 4, khi hàm dequy(1) gọi dequy(0) ở câu lệnh thứ 2 trong if, hàm dequy(0) vừa chạy xong nên câu lệnh này cũng sẽ chạy xong, hàm dequy(1) sẽ thực hiện câu lệnh cuối cùng và in ra "Ham khi n = 1 ket thuc !"</a:t>
            </a:r>
          </a:p>
          <a:p>
            <a:pPr algn="l">
              <a:spcAft>
                <a:spcPts val="500"/>
              </a:spcAft>
            </a:pPr>
            <a:r>
              <a:rPr sz="1550">
                <a:solidFill>
                  <a:srgbClr val="3598DB"/>
                </a:solidFill>
                <a:latin typeface="Calibri"/>
              </a:rPr>
              <a:t>•  </a:t>
            </a:r>
            <a:r>
              <a:rPr sz="1550">
                <a:solidFill>
                  <a:srgbClr val="1F2A37"/>
                </a:solidFill>
                <a:latin typeface="Calibri"/>
              </a:rPr>
              <a:t>Sau khi dequy(1) chạy xong, quay lại bước thứ 3, hàm dequy(2) gọi dequy(1) ở câu lệnh thứ 2 trong if, hàm dequy(1) vừa chạy xong nên dequy(2) cũng thực hiện câu lệnh cuối cùng và in ra "Ham khi n = 2 ket thuc !"</a:t>
            </a:r>
          </a:p>
          <a:p>
            <a:pPr algn="l">
              <a:spcAft>
                <a:spcPts val="500"/>
              </a:spcAft>
            </a:pPr>
            <a:r>
              <a:rPr sz="1550">
                <a:solidFill>
                  <a:srgbClr val="3598DB"/>
                </a:solidFill>
                <a:latin typeface="Calibri"/>
              </a:rPr>
              <a:t>•  </a:t>
            </a:r>
            <a:r>
              <a:rPr sz="1550">
                <a:solidFill>
                  <a:srgbClr val="1F2A37"/>
                </a:solidFill>
                <a:latin typeface="Calibri"/>
              </a:rPr>
              <a:t>Hàm dequy(2) kết thúc, ở bước 2 dequy(3) gọi dequy(2) ở câu lệnh thứ 2 trong if giờ đã chạy xong, dequy(3) cũng thực hiện câu lệnh cuối cùng và in ra "Ham khi n = 3 ket thuc !"</a:t>
            </a:r>
          </a:p>
          <a:p>
            <a:pPr algn="l">
              <a:spcAft>
                <a:spcPts val="500"/>
              </a:spcAft>
            </a:pPr>
            <a:r>
              <a:rPr sz="1550">
                <a:solidFill>
                  <a:srgbClr val="3598DB"/>
                </a:solidFill>
                <a:latin typeface="Calibri"/>
              </a:rPr>
              <a:t>•  </a:t>
            </a:r>
            <a:r>
              <a:rPr sz="1550">
                <a:solidFill>
                  <a:srgbClr val="1F2A37"/>
                </a:solidFill>
                <a:latin typeface="Calibri"/>
              </a:rPr>
              <a:t>Hàm dequy(3) kết thúc, ở bước 1 dequy(4) gọi dequy(3) ở câu lệnh thứ 2 trong if giờ đã chạy xong, dequy(4) cũng thực hiện câu lệnh cuối cùng và in ra "Ham khi n = 4 ket thuc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2. Ví Dụ Về Đệ Quy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361188"/>
          </a:xfrm>
          <a:prstGeom prst="rect">
            <a:avLst/>
          </a:prstGeom>
          <a:noFill/>
        </p:spPr>
        <p:txBody>
          <a:bodyPr wrap="square" lIns="0" rIns="0" tIns="0" bIns="0">
            <a:spAutoFit/>
          </a:bodyPr>
          <a:lstStyle/>
          <a:p>
            <a:pPr algn="l"/>
            <a:r>
              <a:rPr b="1" sz="1650">
                <a:solidFill>
                  <a:srgbClr val="1F2A37"/>
                </a:solidFill>
                <a:latin typeface="Calibri"/>
              </a:rPr>
              <a:t>Ví dụ 2</a:t>
            </a:r>
            <a:r>
              <a:rPr sz="1650">
                <a:solidFill>
                  <a:srgbClr val="1F2A37"/>
                </a:solidFill>
                <a:latin typeface="Calibri"/>
              </a:rPr>
              <a:t> : Tính tổng tự nhiên từ 1 tới N bằng đệ quy</a:t>
            </a:r>
          </a:p>
        </p:txBody>
      </p:sp>
      <p:sp>
        <p:nvSpPr>
          <p:cNvPr id="7" name="Rectangle 6"/>
          <p:cNvSpPr/>
          <p:nvPr/>
        </p:nvSpPr>
        <p:spPr>
          <a:xfrm>
            <a:off x="640080" y="1659636"/>
            <a:ext cx="10911535" cy="405168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69364"/>
            <a:ext cx="10545775" cy="3850512"/>
          </a:xfrm>
          <a:prstGeom prst="rect">
            <a:avLst/>
          </a:prstGeom>
          <a:noFill/>
        </p:spPr>
        <p:txBody>
          <a:bodyPr wrap="none" lIns="0" rIns="0" tIns="0" bIns="0">
            <a:spAutoFit/>
          </a:bodyPr>
          <a:lstStyle/>
          <a:p>
            <a:pPr algn="l">
              <a:lnSpc>
                <a:spcPct val="100000"/>
              </a:lnSpc>
              <a:spcAft>
                <a:spcPts val="0"/>
              </a:spcAft>
            </a:pPr>
            <a:r>
              <a:rPr sz="1250">
                <a:solidFill>
                  <a:srgbClr val="E6EDF3"/>
                </a:solidFill>
                <a:latin typeface="Consolas"/>
              </a:rPr>
              <a:t>#include "iostream"</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using namespace std;</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sum(int n){</a:t>
            </a:r>
          </a:p>
          <a:p>
            <a:pPr algn="l">
              <a:lnSpc>
                <a:spcPct val="100000"/>
              </a:lnSpc>
              <a:spcAft>
                <a:spcPts val="0"/>
              </a:spcAft>
            </a:pPr>
            <a:r>
              <a:rPr sz="1250">
                <a:solidFill>
                  <a:srgbClr val="E6EDF3"/>
                </a:solidFill>
                <a:latin typeface="Consolas"/>
              </a:rPr>
              <a:t>   if(n == 0){</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else{</a:t>
            </a:r>
          </a:p>
          <a:p>
            <a:pPr algn="l">
              <a:lnSpc>
                <a:spcPct val="100000"/>
              </a:lnSpc>
              <a:spcAft>
                <a:spcPts val="0"/>
              </a:spcAft>
            </a:pPr>
            <a:r>
              <a:rPr sz="1250">
                <a:solidFill>
                  <a:srgbClr val="E6EDF3"/>
                </a:solidFill>
                <a:latin typeface="Consolas"/>
              </a:rPr>
              <a:t>      return n + sum(n - 1);</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main(){</a:t>
            </a:r>
          </a:p>
          <a:p>
            <a:pPr algn="l">
              <a:lnSpc>
                <a:spcPct val="100000"/>
              </a:lnSpc>
              <a:spcAft>
                <a:spcPts val="0"/>
              </a:spcAft>
            </a:pPr>
            <a:r>
              <a:rPr sz="1250">
                <a:solidFill>
                  <a:srgbClr val="E6EDF3"/>
                </a:solidFill>
                <a:latin typeface="Consolas"/>
              </a:rPr>
              <a:t>   cout &lt;&lt; sum(3) &lt;&lt; endl;</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2. Ví Dụ Về Đệ Quy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361188"/>
          </a:xfrm>
          <a:prstGeom prst="rect">
            <a:avLst/>
          </a:prstGeom>
          <a:noFill/>
        </p:spPr>
        <p:txBody>
          <a:bodyPr wrap="square" lIns="0" rIns="0" tIns="0" bIns="0">
            <a:spAutoFit/>
          </a:bodyPr>
          <a:lstStyle/>
          <a:p>
            <a:pPr algn="l"/>
            <a:r>
              <a:rPr sz="1650">
                <a:solidFill>
                  <a:srgbClr val="1F2A37"/>
                </a:solidFill>
                <a:latin typeface="Calibri"/>
              </a:rPr>
              <a:t>Output :</a:t>
            </a:r>
          </a:p>
        </p:txBody>
      </p:sp>
      <p:sp>
        <p:nvSpPr>
          <p:cNvPr id="7" name="Rectangle 6"/>
          <p:cNvSpPr/>
          <p:nvPr/>
        </p:nvSpPr>
        <p:spPr>
          <a:xfrm>
            <a:off x="640080" y="1659636"/>
            <a:ext cx="10911535" cy="47193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69364"/>
            <a:ext cx="10545775" cy="270763"/>
          </a:xfrm>
          <a:prstGeom prst="rect">
            <a:avLst/>
          </a:prstGeom>
          <a:noFill/>
        </p:spPr>
        <p:txBody>
          <a:bodyPr wrap="none" lIns="0" rIns="0" tIns="0" bIns="0">
            <a:spAutoFit/>
          </a:bodyPr>
          <a:lstStyle/>
          <a:p>
            <a:pPr algn="l">
              <a:lnSpc>
                <a:spcPct val="100000"/>
              </a:lnSpc>
              <a:spcAft>
                <a:spcPts val="0"/>
              </a:spcAft>
            </a:pPr>
            <a:r>
              <a:rPr sz="1400">
                <a:solidFill>
                  <a:srgbClr val="E6EDF3"/>
                </a:solidFill>
                <a:latin typeface="Consolas"/>
              </a:rPr>
              <a:t>6</a:t>
            </a:r>
          </a:p>
        </p:txBody>
      </p:sp>
      <p:sp>
        <p:nvSpPr>
          <p:cNvPr id="9" name="TextBox 8"/>
          <p:cNvSpPr txBox="1"/>
          <p:nvPr/>
        </p:nvSpPr>
        <p:spPr>
          <a:xfrm>
            <a:off x="640080" y="2223008"/>
            <a:ext cx="10911535" cy="361188"/>
          </a:xfrm>
          <a:prstGeom prst="rect">
            <a:avLst/>
          </a:prstGeom>
          <a:noFill/>
        </p:spPr>
        <p:txBody>
          <a:bodyPr wrap="square" lIns="0" rIns="0" tIns="0" bIns="0">
            <a:spAutoFit/>
          </a:bodyPr>
          <a:lstStyle/>
          <a:p>
            <a:pPr algn="l"/>
            <a:r>
              <a:rPr b="1" sz="1650">
                <a:solidFill>
                  <a:srgbClr val="1F2A37"/>
                </a:solidFill>
                <a:latin typeface="Calibri"/>
              </a:rPr>
              <a:t>Giải thích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2. Ví Dụ Về Đệ Quy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pic>
        <p:nvPicPr>
          <p:cNvPr id="6" name="Picture 5" descr="86ba0f054703aee9.png"/>
          <p:cNvPicPr>
            <a:picLocks noChangeAspect="1"/>
          </p:cNvPicPr>
          <p:nvPr/>
        </p:nvPicPr>
        <p:blipFill>
          <a:blip r:embed="rId2"/>
          <a:stretch>
            <a:fillRect/>
          </a:stretch>
        </p:blipFill>
        <p:spPr>
          <a:xfrm>
            <a:off x="946005" y="1298448"/>
            <a:ext cx="10299683" cy="50566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2. Ví Dụ Về Đệ Quy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3657600"/>
          </a:xfrm>
          <a:prstGeom prst="rect">
            <a:avLst/>
          </a:prstGeom>
          <a:noFill/>
        </p:spPr>
        <p:txBody>
          <a:bodyPr wrap="square" lIns="0" rIns="0" tIns="0" bIns="0">
            <a:spAutoFit/>
          </a:bodyPr>
          <a:lstStyle/>
          <a:p>
            <a:pPr algn="l">
              <a:spcAft>
                <a:spcPts val="500"/>
              </a:spcAft>
            </a:pPr>
            <a:r>
              <a:rPr sz="1550">
                <a:solidFill>
                  <a:srgbClr val="3598DB"/>
                </a:solidFill>
                <a:latin typeface="Calibri"/>
              </a:rPr>
              <a:t>•  </a:t>
            </a:r>
            <a:r>
              <a:rPr sz="1550">
                <a:solidFill>
                  <a:srgbClr val="1F2A37"/>
                </a:solidFill>
                <a:latin typeface="Calibri"/>
              </a:rPr>
              <a:t>Hàm sum(3) được gọi, khi đó n = 3, nên hàm sum(3) được thực hiện câu lệnh return n + sum(n - 1) tương ứng với 3 + sum(2). Vậy thì hàm sum(3) sẽ chưa kết thúc được ngay vì nó cần phải có giá trị của sum(2) rồi mới trả về được giá trị</a:t>
            </a:r>
          </a:p>
          <a:p>
            <a:pPr algn="l">
              <a:spcAft>
                <a:spcPts val="500"/>
              </a:spcAft>
            </a:pPr>
            <a:r>
              <a:rPr sz="1550">
                <a:solidFill>
                  <a:srgbClr val="3598DB"/>
                </a:solidFill>
                <a:latin typeface="Calibri"/>
              </a:rPr>
              <a:t>•  </a:t>
            </a:r>
            <a:r>
              <a:rPr sz="1550">
                <a:solidFill>
                  <a:srgbClr val="1F2A37"/>
                </a:solidFill>
                <a:latin typeface="Calibri"/>
              </a:rPr>
              <a:t>Hàm sum(2) được gọi, khi đó n = 2, nên hàm sum(2) được thực hiện câu lệnh return n + sum(n - 1) tương ứng với 2 + sum(1)</a:t>
            </a:r>
          </a:p>
          <a:p>
            <a:pPr algn="l">
              <a:spcAft>
                <a:spcPts val="500"/>
              </a:spcAft>
            </a:pPr>
            <a:r>
              <a:rPr sz="1550">
                <a:solidFill>
                  <a:srgbClr val="3598DB"/>
                </a:solidFill>
                <a:latin typeface="Calibri"/>
              </a:rPr>
              <a:t>•  </a:t>
            </a:r>
            <a:r>
              <a:rPr sz="1550">
                <a:solidFill>
                  <a:srgbClr val="1F2A37"/>
                </a:solidFill>
                <a:latin typeface="Calibri"/>
              </a:rPr>
              <a:t>Hàm sum(1) được gọi, khi đó n = 1, nên hàm sum(1) được thực hiện câu lệnh return n + sum(n - 1) tương ứng với 1 + sum(0)</a:t>
            </a:r>
          </a:p>
          <a:p>
            <a:pPr algn="l">
              <a:spcAft>
                <a:spcPts val="500"/>
              </a:spcAft>
            </a:pPr>
            <a:r>
              <a:rPr sz="1550">
                <a:solidFill>
                  <a:srgbClr val="3598DB"/>
                </a:solidFill>
                <a:latin typeface="Calibri"/>
              </a:rPr>
              <a:t>•  </a:t>
            </a:r>
            <a:r>
              <a:rPr sz="1550">
                <a:solidFill>
                  <a:srgbClr val="1F2A37"/>
                </a:solidFill>
                <a:latin typeface="Calibri"/>
              </a:rPr>
              <a:t>Hàm sum(0) được gọi, khi đó n = 0 nên hàm sum(0) được return giá trị 0 và kết thúc</a:t>
            </a:r>
          </a:p>
          <a:p>
            <a:pPr algn="l">
              <a:spcAft>
                <a:spcPts val="500"/>
              </a:spcAft>
            </a:pPr>
            <a:r>
              <a:rPr sz="1550">
                <a:solidFill>
                  <a:srgbClr val="3598DB"/>
                </a:solidFill>
                <a:latin typeface="Calibri"/>
              </a:rPr>
              <a:t>•  </a:t>
            </a:r>
            <a:r>
              <a:rPr sz="1550">
                <a:solidFill>
                  <a:srgbClr val="1F2A37"/>
                </a:solidFill>
                <a:latin typeface="Calibri"/>
              </a:rPr>
              <a:t>Trong bước 3, sum(0) sau khi được tính xong sẽ được + thêm 1 và trả về giá trị cho hàm sum(1), vì thế sum(1) kết thúc với giá trị trả về là 1</a:t>
            </a:r>
          </a:p>
          <a:p>
            <a:pPr algn="l">
              <a:spcAft>
                <a:spcPts val="500"/>
              </a:spcAft>
            </a:pPr>
            <a:r>
              <a:rPr sz="1550">
                <a:solidFill>
                  <a:srgbClr val="3598DB"/>
                </a:solidFill>
                <a:latin typeface="Calibri"/>
              </a:rPr>
              <a:t>•  </a:t>
            </a:r>
            <a:r>
              <a:rPr sz="1550">
                <a:solidFill>
                  <a:srgbClr val="1F2A37"/>
                </a:solidFill>
                <a:latin typeface="Calibri"/>
              </a:rPr>
              <a:t>Trong bước 2, sum(2) được return 2 + sum(1), sum(1) vừa được tính xong bằng 1 nên sum(2) kết thúc với trả về giá trị là 2 + 1 = 3</a:t>
            </a:r>
          </a:p>
          <a:p>
            <a:pPr algn="l">
              <a:spcAft>
                <a:spcPts val="500"/>
              </a:spcAft>
            </a:pPr>
            <a:r>
              <a:rPr sz="1550">
                <a:solidFill>
                  <a:srgbClr val="3598DB"/>
                </a:solidFill>
                <a:latin typeface="Calibri"/>
              </a:rPr>
              <a:t>•  </a:t>
            </a:r>
            <a:r>
              <a:rPr sz="1550">
                <a:solidFill>
                  <a:srgbClr val="1F2A37"/>
                </a:solidFill>
                <a:latin typeface="Calibri"/>
              </a:rPr>
              <a:t>Trong bước 1, sum(3) được return 3 + sum(2), sum(2) vừa chạy xong và có kết quả là 3 nên sum(3) kết thúc với giá trị trả về là 3 + 3 = 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Công Thức Truy Hồi</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594360"/>
          </a:xfrm>
          <a:prstGeom prst="rect">
            <a:avLst/>
          </a:prstGeom>
          <a:noFill/>
        </p:spPr>
        <p:txBody>
          <a:bodyPr wrap="square" lIns="0" rIns="0" tIns="0" bIns="0">
            <a:spAutoFit/>
          </a:bodyPr>
          <a:lstStyle/>
          <a:p>
            <a:pPr algn="l"/>
            <a:r>
              <a:rPr sz="1650">
                <a:solidFill>
                  <a:srgbClr val="1F2A37"/>
                </a:solidFill>
                <a:latin typeface="Calibri"/>
              </a:rPr>
              <a:t>Trong các bài toán đệ quy tính toán kết quả tồn tại một khái niệm là công thức truy hồi, kiến thức này bạn sẽ được học tại môn toán rời rạc tại đại học.</a:t>
            </a:r>
          </a:p>
        </p:txBody>
      </p:sp>
      <p:sp>
        <p:nvSpPr>
          <p:cNvPr id="7" name="TextBox 6"/>
          <p:cNvSpPr txBox="1"/>
          <p:nvPr/>
        </p:nvSpPr>
        <p:spPr>
          <a:xfrm>
            <a:off x="640080" y="1892807"/>
            <a:ext cx="10911535" cy="594360"/>
          </a:xfrm>
          <a:prstGeom prst="rect">
            <a:avLst/>
          </a:prstGeom>
          <a:noFill/>
        </p:spPr>
        <p:txBody>
          <a:bodyPr wrap="square" lIns="0" rIns="0" tIns="0" bIns="0">
            <a:spAutoFit/>
          </a:bodyPr>
          <a:lstStyle/>
          <a:p>
            <a:pPr algn="l"/>
            <a:r>
              <a:rPr sz="1650">
                <a:solidFill>
                  <a:srgbClr val="1F2A37"/>
                </a:solidFill>
                <a:latin typeface="Calibri"/>
              </a:rPr>
              <a:t>Có thể hiểu đơn giản công thức truy hồi giúp xác định giá trị của phần tử hay kết quả của 1 bài toán lớn hơn thông qua bài toán con nhỏ hơn đã biết trước kết quả.</a:t>
            </a:r>
          </a:p>
        </p:txBody>
      </p:sp>
      <p:sp>
        <p:nvSpPr>
          <p:cNvPr id="8" name="TextBox 7"/>
          <p:cNvSpPr txBox="1"/>
          <p:nvPr/>
        </p:nvSpPr>
        <p:spPr>
          <a:xfrm>
            <a:off x="640080" y="2487168"/>
            <a:ext cx="10911535" cy="594360"/>
          </a:xfrm>
          <a:prstGeom prst="rect">
            <a:avLst/>
          </a:prstGeom>
          <a:noFill/>
        </p:spPr>
        <p:txBody>
          <a:bodyPr wrap="square" lIns="0" rIns="0" tIns="0" bIns="0">
            <a:spAutoFit/>
          </a:bodyPr>
          <a:lstStyle/>
          <a:p>
            <a:pPr algn="l"/>
            <a:r>
              <a:rPr sz="1650">
                <a:solidFill>
                  <a:srgbClr val="1F2A37"/>
                </a:solidFill>
                <a:latin typeface="Calibri"/>
              </a:rPr>
              <a:t>Ví dụ khi bạn cần tìm số Fibonacci thứ 10 bạn có thể sử dụng số Fibonacci thứ 8 và 9. Và công thức truy hồi của dãy Fibonacci là : Fn = Fn-1 và Fn-2</a:t>
            </a:r>
          </a:p>
        </p:txBody>
      </p:sp>
      <p:sp>
        <p:nvSpPr>
          <p:cNvPr id="9" name="TextBox 8"/>
          <p:cNvSpPr txBox="1"/>
          <p:nvPr/>
        </p:nvSpPr>
        <p:spPr>
          <a:xfrm>
            <a:off x="640080" y="3081527"/>
            <a:ext cx="10911535" cy="361188"/>
          </a:xfrm>
          <a:prstGeom prst="rect">
            <a:avLst/>
          </a:prstGeom>
          <a:noFill/>
        </p:spPr>
        <p:txBody>
          <a:bodyPr wrap="square" lIns="0" rIns="0" tIns="0" bIns="0">
            <a:spAutoFit/>
          </a:bodyPr>
          <a:lstStyle/>
          <a:p>
            <a:pPr algn="l"/>
            <a:r>
              <a:rPr sz="1650">
                <a:solidFill>
                  <a:srgbClr val="1F2A37"/>
                </a:solidFill>
                <a:latin typeface="Calibri"/>
              </a:rPr>
              <a:t>Vậy khi sử dụng đệ quy để tính toán kết quả của các bài toán bạn cần xác định cho mình :</a:t>
            </a:r>
          </a:p>
        </p:txBody>
      </p:sp>
      <p:sp>
        <p:nvSpPr>
          <p:cNvPr id="10" name="TextBox 9"/>
          <p:cNvSpPr txBox="1"/>
          <p:nvPr/>
        </p:nvSpPr>
        <p:spPr>
          <a:xfrm>
            <a:off x="640080" y="3442715"/>
            <a:ext cx="10911535" cy="649224"/>
          </a:xfrm>
          <a:prstGeom prst="rect">
            <a:avLst/>
          </a:prstGeom>
          <a:noFill/>
        </p:spPr>
        <p:txBody>
          <a:bodyPr wrap="square" lIns="0" rIns="0" tIns="0" bIns="0">
            <a:spAutoFit/>
          </a:bodyPr>
          <a:lstStyle/>
          <a:p>
            <a:pPr algn="l">
              <a:spcAft>
                <a:spcPts val="500"/>
              </a:spcAft>
            </a:pPr>
            <a:r>
              <a:rPr sz="1550">
                <a:solidFill>
                  <a:srgbClr val="3598DB"/>
                </a:solidFill>
                <a:latin typeface="Calibri"/>
              </a:rPr>
              <a:t>•  </a:t>
            </a:r>
            <a:r>
              <a:rPr sz="1550">
                <a:solidFill>
                  <a:srgbClr val="1F2A37"/>
                </a:solidFill>
                <a:latin typeface="Calibri"/>
              </a:rPr>
              <a:t>Bài toán cơ sở - bài toán con nhỏ nhất mà bạn đã biết giá trị</a:t>
            </a:r>
          </a:p>
          <a:p>
            <a:pPr algn="l">
              <a:spcAft>
                <a:spcPts val="500"/>
              </a:spcAft>
            </a:pPr>
            <a:r>
              <a:rPr sz="1550">
                <a:solidFill>
                  <a:srgbClr val="3598DB"/>
                </a:solidFill>
                <a:latin typeface="Calibri"/>
              </a:rPr>
              <a:t>•  </a:t>
            </a:r>
            <a:r>
              <a:rPr sz="1550">
                <a:solidFill>
                  <a:srgbClr val="1F2A37"/>
                </a:solidFill>
                <a:latin typeface="Calibri"/>
              </a:rPr>
              <a:t>Công thức truy hồi</a:t>
            </a:r>
          </a:p>
        </p:txBody>
      </p:sp>
      <p:sp>
        <p:nvSpPr>
          <p:cNvPr id="11" name="TextBox 10"/>
          <p:cNvSpPr txBox="1"/>
          <p:nvPr/>
        </p:nvSpPr>
        <p:spPr>
          <a:xfrm>
            <a:off x="640080" y="4091939"/>
            <a:ext cx="10911535" cy="827532"/>
          </a:xfrm>
          <a:prstGeom prst="rect">
            <a:avLst/>
          </a:prstGeom>
          <a:noFill/>
        </p:spPr>
        <p:txBody>
          <a:bodyPr wrap="square" lIns="0" rIns="0" tIns="0" bIns="0">
            <a:spAutoFit/>
          </a:bodyPr>
          <a:lstStyle/>
          <a:p>
            <a:pPr algn="l"/>
            <a:r>
              <a:rPr sz="1650">
                <a:solidFill>
                  <a:srgbClr val="1F2A37"/>
                </a:solidFill>
                <a:latin typeface="Calibri"/>
              </a:rPr>
              <a:t>Khi code đệ quy bạn chỉ cần kiểm tra xem lời gọi đệ quy của bạn đã gọi tới bài toán cơ sở chưa, đây sẽ là điểm dừng cho lời gọi đệ quy. Nếu chưa phải bài toán con nhỏ nhất thì bạn sẽ trả về công thức truy hồi thông qua lời gọi đệ quy</a:t>
            </a:r>
          </a:p>
        </p:txBody>
      </p:sp>
      <p:sp>
        <p:nvSpPr>
          <p:cNvPr id="12" name="TextBox 11"/>
          <p:cNvSpPr txBox="1"/>
          <p:nvPr/>
        </p:nvSpPr>
        <p:spPr>
          <a:xfrm>
            <a:off x="640080" y="4919472"/>
            <a:ext cx="10911535" cy="361188"/>
          </a:xfrm>
          <a:prstGeom prst="rect">
            <a:avLst/>
          </a:prstGeom>
          <a:noFill/>
        </p:spPr>
        <p:txBody>
          <a:bodyPr wrap="square" lIns="0" rIns="0" tIns="0" bIns="0">
            <a:spAutoFit/>
          </a:bodyPr>
          <a:lstStyle/>
          <a:p>
            <a:pPr algn="l"/>
            <a:r>
              <a:rPr b="1" sz="1650">
                <a:solidFill>
                  <a:srgbClr val="1F2A37"/>
                </a:solidFill>
                <a:latin typeface="Calibri"/>
              </a:rPr>
              <a:t>Ví dụ 1</a:t>
            </a:r>
            <a:r>
              <a:rPr sz="1650">
                <a:solidFill>
                  <a:srgbClr val="1F2A37"/>
                </a:solidFill>
                <a:latin typeface="Calibri"/>
              </a:rPr>
              <a:t> : Tìm số Fibonacci bằng đệ quy</a:t>
            </a:r>
          </a:p>
        </p:txBody>
      </p:sp>
      <p:sp>
        <p:nvSpPr>
          <p:cNvPr id="13" name="TextBox 12"/>
          <p:cNvSpPr txBox="1"/>
          <p:nvPr/>
        </p:nvSpPr>
        <p:spPr>
          <a:xfrm>
            <a:off x="640080" y="5280660"/>
            <a:ext cx="10911535" cy="361188"/>
          </a:xfrm>
          <a:prstGeom prst="rect">
            <a:avLst/>
          </a:prstGeom>
          <a:noFill/>
        </p:spPr>
        <p:txBody>
          <a:bodyPr wrap="square" lIns="0" rIns="0" tIns="0" bIns="0">
            <a:spAutoFit/>
          </a:bodyPr>
          <a:lstStyle/>
          <a:p>
            <a:pPr algn="l"/>
            <a:r>
              <a:rPr sz="1650">
                <a:solidFill>
                  <a:srgbClr val="1F2A37"/>
                </a:solidFill>
                <a:latin typeface="Calibri"/>
              </a:rPr>
              <a:t>Bài toán cơ sở : F0 = 0, F1 = 1</a:t>
            </a:r>
          </a:p>
        </p:txBody>
      </p:sp>
      <p:sp>
        <p:nvSpPr>
          <p:cNvPr id="14" name="TextBox 13"/>
          <p:cNvSpPr txBox="1"/>
          <p:nvPr/>
        </p:nvSpPr>
        <p:spPr>
          <a:xfrm>
            <a:off x="640080" y="5641848"/>
            <a:ext cx="10911535" cy="361188"/>
          </a:xfrm>
          <a:prstGeom prst="rect">
            <a:avLst/>
          </a:prstGeom>
          <a:noFill/>
        </p:spPr>
        <p:txBody>
          <a:bodyPr wrap="square" lIns="0" rIns="0" tIns="0" bIns="0">
            <a:spAutoFit/>
          </a:bodyPr>
          <a:lstStyle/>
          <a:p>
            <a:pPr algn="l"/>
            <a:r>
              <a:rPr sz="1650">
                <a:solidFill>
                  <a:srgbClr val="1F2A37"/>
                </a:solidFill>
                <a:latin typeface="Calibri"/>
              </a:rPr>
              <a:t>Công thức truy hồi : Fn = Fn-1 và Fn-2 với n &gt; 1</a:t>
            </a:r>
          </a:p>
        </p:txBody>
      </p:sp>
      <p:sp>
        <p:nvSpPr>
          <p:cNvPr id="15" name="TextBox 14"/>
          <p:cNvSpPr txBox="1"/>
          <p:nvPr/>
        </p:nvSpPr>
        <p:spPr>
          <a:xfrm>
            <a:off x="640080" y="6003036"/>
            <a:ext cx="10911535" cy="361188"/>
          </a:xfrm>
          <a:prstGeom prst="rect">
            <a:avLst/>
          </a:prstGeom>
          <a:noFill/>
        </p:spPr>
        <p:txBody>
          <a:bodyPr wrap="square" lIns="0" rIns="0" tIns="0" bIns="0">
            <a:spAutoFit/>
          </a:bodyPr>
          <a:lstStyle/>
          <a:p>
            <a:pPr algn="l"/>
            <a:r>
              <a:rPr sz="1650">
                <a:solidFill>
                  <a:srgbClr val="1F2A37"/>
                </a:solidFill>
                <a:latin typeface="Calibri"/>
              </a:rPr>
              <a:t>Lưu ý là code này chạy rất chậm nếu n lớn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Công Thức Truy Hồi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361188"/>
          </a:xfrm>
          <a:prstGeom prst="rect">
            <a:avLst/>
          </a:prstGeom>
          <a:noFill/>
        </p:spPr>
        <p:txBody>
          <a:bodyPr wrap="square" lIns="0" rIns="0" tIns="0" bIns="0">
            <a:spAutoFit/>
          </a:bodyPr>
          <a:lstStyle/>
          <a:p>
            <a:pPr algn="l"/>
            <a:r>
              <a:rPr b="1" sz="1650">
                <a:solidFill>
                  <a:srgbClr val="1F2A37"/>
                </a:solidFill>
                <a:latin typeface="Calibri"/>
              </a:rPr>
              <a:t>Code :</a:t>
            </a:r>
          </a:p>
        </p:txBody>
      </p:sp>
      <p:sp>
        <p:nvSpPr>
          <p:cNvPr id="7" name="Rectangle 6"/>
          <p:cNvSpPr/>
          <p:nvPr/>
        </p:nvSpPr>
        <p:spPr>
          <a:xfrm>
            <a:off x="640080" y="1659636"/>
            <a:ext cx="10911535" cy="405168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69364"/>
            <a:ext cx="10545775" cy="3850512"/>
          </a:xfrm>
          <a:prstGeom prst="rect">
            <a:avLst/>
          </a:prstGeom>
          <a:noFill/>
        </p:spPr>
        <p:txBody>
          <a:bodyPr wrap="none" lIns="0" rIns="0" tIns="0" bIns="0">
            <a:spAutoFit/>
          </a:bodyPr>
          <a:lstStyle/>
          <a:p>
            <a:pPr algn="l">
              <a:lnSpc>
                <a:spcPct val="100000"/>
              </a:lnSpc>
              <a:spcAft>
                <a:spcPts val="0"/>
              </a:spcAft>
            </a:pPr>
            <a:r>
              <a:rPr sz="1250">
                <a:solidFill>
                  <a:srgbClr val="E6EDF3"/>
                </a:solidFill>
                <a:latin typeface="Consolas"/>
              </a:rPr>
              <a:t>#include "iostream"</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using namespace std;</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F(int n){</a:t>
            </a:r>
          </a:p>
          <a:p>
            <a:pPr algn="l">
              <a:lnSpc>
                <a:spcPct val="100000"/>
              </a:lnSpc>
              <a:spcAft>
                <a:spcPts val="0"/>
              </a:spcAft>
            </a:pPr>
            <a:r>
              <a:rPr sz="1250">
                <a:solidFill>
                  <a:srgbClr val="E6EDF3"/>
                </a:solidFill>
                <a:latin typeface="Consolas"/>
              </a:rPr>
              <a:t>    if(n == 0 || n == 1){</a:t>
            </a:r>
          </a:p>
          <a:p>
            <a:pPr algn="l">
              <a:lnSpc>
                <a:spcPct val="100000"/>
              </a:lnSpc>
              <a:spcAft>
                <a:spcPts val="0"/>
              </a:spcAft>
            </a:pPr>
            <a:r>
              <a:rPr sz="1250">
                <a:solidFill>
                  <a:srgbClr val="E6EDF3"/>
                </a:solidFill>
                <a:latin typeface="Consolas"/>
              </a:rPr>
              <a:t>        return n;</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else{</a:t>
            </a:r>
          </a:p>
          <a:p>
            <a:pPr algn="l">
              <a:lnSpc>
                <a:spcPct val="100000"/>
              </a:lnSpc>
              <a:spcAft>
                <a:spcPts val="0"/>
              </a:spcAft>
            </a:pPr>
            <a:r>
              <a:rPr sz="1250">
                <a:solidFill>
                  <a:srgbClr val="E6EDF3"/>
                </a:solidFill>
                <a:latin typeface="Consolas"/>
              </a:rPr>
              <a:t>        return F(n - 1) + F(n - 2);</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main(){</a:t>
            </a:r>
          </a:p>
          <a:p>
            <a:pPr algn="l">
              <a:lnSpc>
                <a:spcPct val="100000"/>
              </a:lnSpc>
              <a:spcAft>
                <a:spcPts val="0"/>
              </a:spcAft>
            </a:pPr>
            <a:r>
              <a:rPr sz="1250">
                <a:solidFill>
                  <a:srgbClr val="E6EDF3"/>
                </a:solidFill>
                <a:latin typeface="Consolas"/>
              </a:rPr>
              <a:t>   cout &lt;&lt; "So fibonacci thu 10 : " &lt;&lt; F(10) &lt;&lt; endl;</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Công Thức Truy Hồi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361188"/>
          </a:xfrm>
          <a:prstGeom prst="rect">
            <a:avLst/>
          </a:prstGeom>
          <a:noFill/>
        </p:spPr>
        <p:txBody>
          <a:bodyPr wrap="square" lIns="0" rIns="0" tIns="0" bIns="0">
            <a:spAutoFit/>
          </a:bodyPr>
          <a:lstStyle/>
          <a:p>
            <a:pPr algn="l"/>
            <a:r>
              <a:rPr sz="1650">
                <a:solidFill>
                  <a:srgbClr val="1F2A37"/>
                </a:solidFill>
                <a:latin typeface="Calibri"/>
              </a:rPr>
              <a:t>Output :</a:t>
            </a:r>
          </a:p>
        </p:txBody>
      </p:sp>
      <p:sp>
        <p:nvSpPr>
          <p:cNvPr id="7" name="Rectangle 6"/>
          <p:cNvSpPr/>
          <p:nvPr/>
        </p:nvSpPr>
        <p:spPr>
          <a:xfrm>
            <a:off x="640080" y="1659636"/>
            <a:ext cx="10911535" cy="47193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69364"/>
            <a:ext cx="10545775" cy="270763"/>
          </a:xfrm>
          <a:prstGeom prst="rect">
            <a:avLst/>
          </a:prstGeom>
          <a:noFill/>
        </p:spPr>
        <p:txBody>
          <a:bodyPr wrap="none" lIns="0" rIns="0" tIns="0" bIns="0">
            <a:spAutoFit/>
          </a:bodyPr>
          <a:lstStyle/>
          <a:p>
            <a:pPr algn="l">
              <a:lnSpc>
                <a:spcPct val="100000"/>
              </a:lnSpc>
              <a:spcAft>
                <a:spcPts val="0"/>
              </a:spcAft>
            </a:pPr>
            <a:r>
              <a:rPr sz="1400">
                <a:solidFill>
                  <a:srgbClr val="E6EDF3"/>
                </a:solidFill>
                <a:latin typeface="Consolas"/>
              </a:rPr>
              <a:t>So fibonacci thu 10 : 55</a:t>
            </a:r>
          </a:p>
        </p:txBody>
      </p:sp>
      <p:sp>
        <p:nvSpPr>
          <p:cNvPr id="9" name="TextBox 8"/>
          <p:cNvSpPr txBox="1"/>
          <p:nvPr/>
        </p:nvSpPr>
        <p:spPr>
          <a:xfrm>
            <a:off x="640080" y="2223008"/>
            <a:ext cx="10911535" cy="361188"/>
          </a:xfrm>
          <a:prstGeom prst="rect">
            <a:avLst/>
          </a:prstGeom>
          <a:noFill/>
        </p:spPr>
        <p:txBody>
          <a:bodyPr wrap="square" lIns="0" rIns="0" tIns="0" bIns="0">
            <a:spAutoFit/>
          </a:bodyPr>
          <a:lstStyle/>
          <a:p>
            <a:pPr algn="l"/>
            <a:r>
              <a:rPr b="1" sz="1650">
                <a:solidFill>
                  <a:srgbClr val="1F2A37"/>
                </a:solidFill>
                <a:latin typeface="Calibri"/>
              </a:rPr>
              <a:t>Ví dụ 2</a:t>
            </a:r>
            <a:r>
              <a:rPr sz="1650">
                <a:solidFill>
                  <a:srgbClr val="1F2A37"/>
                </a:solidFill>
                <a:latin typeface="Calibri"/>
              </a:rPr>
              <a:t> : Tính giai thừa bằng đệ quy</a:t>
            </a:r>
          </a:p>
        </p:txBody>
      </p:sp>
      <p:sp>
        <p:nvSpPr>
          <p:cNvPr id="10" name="TextBox 9"/>
          <p:cNvSpPr txBox="1"/>
          <p:nvPr/>
        </p:nvSpPr>
        <p:spPr>
          <a:xfrm>
            <a:off x="640080" y="2584196"/>
            <a:ext cx="10911535" cy="361188"/>
          </a:xfrm>
          <a:prstGeom prst="rect">
            <a:avLst/>
          </a:prstGeom>
          <a:noFill/>
        </p:spPr>
        <p:txBody>
          <a:bodyPr wrap="square" lIns="0" rIns="0" tIns="0" bIns="0">
            <a:spAutoFit/>
          </a:bodyPr>
          <a:lstStyle/>
          <a:p>
            <a:pPr algn="l"/>
            <a:r>
              <a:rPr sz="1650">
                <a:solidFill>
                  <a:srgbClr val="1F2A37"/>
                </a:solidFill>
                <a:latin typeface="Calibri"/>
              </a:rPr>
              <a:t>Bài toán cơ sở : 0! = 1</a:t>
            </a:r>
          </a:p>
        </p:txBody>
      </p:sp>
      <p:sp>
        <p:nvSpPr>
          <p:cNvPr id="11" name="TextBox 10"/>
          <p:cNvSpPr txBox="1"/>
          <p:nvPr/>
        </p:nvSpPr>
        <p:spPr>
          <a:xfrm>
            <a:off x="640080" y="2945384"/>
            <a:ext cx="10911535" cy="361188"/>
          </a:xfrm>
          <a:prstGeom prst="rect">
            <a:avLst/>
          </a:prstGeom>
          <a:noFill/>
        </p:spPr>
        <p:txBody>
          <a:bodyPr wrap="square" lIns="0" rIns="0" tIns="0" bIns="0">
            <a:spAutoFit/>
          </a:bodyPr>
          <a:lstStyle/>
          <a:p>
            <a:pPr algn="l"/>
            <a:r>
              <a:rPr sz="1650">
                <a:solidFill>
                  <a:srgbClr val="1F2A37"/>
                </a:solidFill>
                <a:latin typeface="Calibri"/>
              </a:rPr>
              <a:t>Công thức truy hồi : N! = N * (N - 1)! với n &gt; 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Công Thức Truy Hồi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361188"/>
          </a:xfrm>
          <a:prstGeom prst="rect">
            <a:avLst/>
          </a:prstGeom>
          <a:noFill/>
        </p:spPr>
        <p:txBody>
          <a:bodyPr wrap="square" lIns="0" rIns="0" tIns="0" bIns="0">
            <a:spAutoFit/>
          </a:bodyPr>
          <a:lstStyle/>
          <a:p>
            <a:pPr algn="l"/>
            <a:r>
              <a:rPr b="1" sz="1650">
                <a:solidFill>
                  <a:srgbClr val="1F2A37"/>
                </a:solidFill>
                <a:latin typeface="Calibri"/>
              </a:rPr>
              <a:t>Code :</a:t>
            </a:r>
          </a:p>
        </p:txBody>
      </p:sp>
      <p:sp>
        <p:nvSpPr>
          <p:cNvPr id="7" name="Rectangle 6"/>
          <p:cNvSpPr/>
          <p:nvPr/>
        </p:nvSpPr>
        <p:spPr>
          <a:xfrm>
            <a:off x="640080" y="1659636"/>
            <a:ext cx="10911535" cy="405168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69364"/>
            <a:ext cx="10545775" cy="3850512"/>
          </a:xfrm>
          <a:prstGeom prst="rect">
            <a:avLst/>
          </a:prstGeom>
          <a:noFill/>
        </p:spPr>
        <p:txBody>
          <a:bodyPr wrap="none" lIns="0" rIns="0" tIns="0" bIns="0">
            <a:spAutoFit/>
          </a:bodyPr>
          <a:lstStyle/>
          <a:p>
            <a:pPr algn="l">
              <a:lnSpc>
                <a:spcPct val="100000"/>
              </a:lnSpc>
              <a:spcAft>
                <a:spcPts val="0"/>
              </a:spcAft>
            </a:pPr>
            <a:r>
              <a:rPr sz="1250">
                <a:solidFill>
                  <a:srgbClr val="E6EDF3"/>
                </a:solidFill>
                <a:latin typeface="Consolas"/>
              </a:rPr>
              <a:t>#include "iostream"</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using namespace std;</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long long factorial(int n){</a:t>
            </a:r>
          </a:p>
          <a:p>
            <a:pPr algn="l">
              <a:lnSpc>
                <a:spcPct val="100000"/>
              </a:lnSpc>
              <a:spcAft>
                <a:spcPts val="0"/>
              </a:spcAft>
            </a:pPr>
            <a:r>
              <a:rPr sz="1250">
                <a:solidFill>
                  <a:srgbClr val="E6EDF3"/>
                </a:solidFill>
                <a:latin typeface="Consolas"/>
              </a:rPr>
              <a:t>    if(n == 0){</a:t>
            </a:r>
          </a:p>
          <a:p>
            <a:pPr algn="l">
              <a:lnSpc>
                <a:spcPct val="100000"/>
              </a:lnSpc>
              <a:spcAft>
                <a:spcPts val="0"/>
              </a:spcAft>
            </a:pPr>
            <a:r>
              <a:rPr sz="1250">
                <a:solidFill>
                  <a:srgbClr val="E6EDF3"/>
                </a:solidFill>
                <a:latin typeface="Consolas"/>
              </a:rPr>
              <a:t>        return 1;</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else{</a:t>
            </a:r>
          </a:p>
          <a:p>
            <a:pPr algn="l">
              <a:lnSpc>
                <a:spcPct val="100000"/>
              </a:lnSpc>
              <a:spcAft>
                <a:spcPts val="0"/>
              </a:spcAft>
            </a:pPr>
            <a:r>
              <a:rPr sz="1250">
                <a:solidFill>
                  <a:srgbClr val="E6EDF3"/>
                </a:solidFill>
                <a:latin typeface="Consolas"/>
              </a:rPr>
              <a:t>        return n * factorial(n - 1);</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main(){</a:t>
            </a:r>
          </a:p>
          <a:p>
            <a:pPr algn="l">
              <a:lnSpc>
                <a:spcPct val="100000"/>
              </a:lnSpc>
              <a:spcAft>
                <a:spcPts val="0"/>
              </a:spcAft>
            </a:pPr>
            <a:r>
              <a:rPr sz="1250">
                <a:solidFill>
                  <a:srgbClr val="E6EDF3"/>
                </a:solidFill>
                <a:latin typeface="Consolas"/>
              </a:rPr>
              <a:t>   cout &lt;&lt; factorial(10) &lt;&lt; endl;</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Công Thức Truy Hồi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361188"/>
          </a:xfrm>
          <a:prstGeom prst="rect">
            <a:avLst/>
          </a:prstGeom>
          <a:noFill/>
        </p:spPr>
        <p:txBody>
          <a:bodyPr wrap="square" lIns="0" rIns="0" tIns="0" bIns="0">
            <a:spAutoFit/>
          </a:bodyPr>
          <a:lstStyle/>
          <a:p>
            <a:pPr algn="l"/>
            <a:r>
              <a:rPr sz="1650">
                <a:solidFill>
                  <a:srgbClr val="1F2A37"/>
                </a:solidFill>
                <a:latin typeface="Calibri"/>
              </a:rPr>
              <a:t>Output :</a:t>
            </a:r>
          </a:p>
        </p:txBody>
      </p:sp>
      <p:sp>
        <p:nvSpPr>
          <p:cNvPr id="7" name="Rectangle 6"/>
          <p:cNvSpPr/>
          <p:nvPr/>
        </p:nvSpPr>
        <p:spPr>
          <a:xfrm>
            <a:off x="640080" y="1659636"/>
            <a:ext cx="10911535" cy="47193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69364"/>
            <a:ext cx="10545775" cy="270763"/>
          </a:xfrm>
          <a:prstGeom prst="rect">
            <a:avLst/>
          </a:prstGeom>
          <a:noFill/>
        </p:spPr>
        <p:txBody>
          <a:bodyPr wrap="none" lIns="0" rIns="0" tIns="0" bIns="0">
            <a:spAutoFit/>
          </a:bodyPr>
          <a:lstStyle/>
          <a:p>
            <a:pPr algn="l">
              <a:lnSpc>
                <a:spcPct val="100000"/>
              </a:lnSpc>
              <a:spcAft>
                <a:spcPts val="0"/>
              </a:spcAft>
            </a:pPr>
            <a:r>
              <a:rPr sz="1400">
                <a:solidFill>
                  <a:srgbClr val="E6EDF3"/>
                </a:solidFill>
                <a:latin typeface="Consolas"/>
              </a:rPr>
              <a:t>3628800</a:t>
            </a:r>
          </a:p>
        </p:txBody>
      </p:sp>
      <p:sp>
        <p:nvSpPr>
          <p:cNvPr id="9" name="TextBox 8"/>
          <p:cNvSpPr txBox="1"/>
          <p:nvPr/>
        </p:nvSpPr>
        <p:spPr>
          <a:xfrm>
            <a:off x="640080" y="2223008"/>
            <a:ext cx="10911535" cy="361188"/>
          </a:xfrm>
          <a:prstGeom prst="rect">
            <a:avLst/>
          </a:prstGeom>
          <a:noFill/>
        </p:spPr>
        <p:txBody>
          <a:bodyPr wrap="square" lIns="0" rIns="0" tIns="0" bIns="0">
            <a:spAutoFit/>
          </a:bodyPr>
          <a:lstStyle/>
          <a:p>
            <a:pPr algn="l"/>
            <a:r>
              <a:rPr b="1" sz="1650">
                <a:solidFill>
                  <a:srgbClr val="1F2A37"/>
                </a:solidFill>
                <a:latin typeface="Calibri"/>
              </a:rPr>
              <a:t>Ví dụ 3</a:t>
            </a:r>
            <a:r>
              <a:rPr sz="1650">
                <a:solidFill>
                  <a:srgbClr val="1F2A37"/>
                </a:solidFill>
                <a:latin typeface="Calibri"/>
              </a:rPr>
              <a:t> : Tính tổng chữ số của số tự nhiên N</a:t>
            </a:r>
          </a:p>
        </p:txBody>
      </p:sp>
      <p:sp>
        <p:nvSpPr>
          <p:cNvPr id="10" name="TextBox 9"/>
          <p:cNvSpPr txBox="1"/>
          <p:nvPr/>
        </p:nvSpPr>
        <p:spPr>
          <a:xfrm>
            <a:off x="640080" y="2584196"/>
            <a:ext cx="10911535" cy="361188"/>
          </a:xfrm>
          <a:prstGeom prst="rect">
            <a:avLst/>
          </a:prstGeom>
          <a:noFill/>
        </p:spPr>
        <p:txBody>
          <a:bodyPr wrap="square" lIns="0" rIns="0" tIns="0" bIns="0">
            <a:spAutoFit/>
          </a:bodyPr>
          <a:lstStyle/>
          <a:p>
            <a:pPr algn="l"/>
            <a:r>
              <a:rPr sz="1650">
                <a:solidFill>
                  <a:srgbClr val="1F2A37"/>
                </a:solidFill>
                <a:latin typeface="Calibri"/>
              </a:rPr>
              <a:t>Gọi Sum(N) là hàm tính tổng chữ số của N</a:t>
            </a:r>
          </a:p>
        </p:txBody>
      </p:sp>
      <p:sp>
        <p:nvSpPr>
          <p:cNvPr id="11" name="TextBox 10"/>
          <p:cNvSpPr txBox="1"/>
          <p:nvPr/>
        </p:nvSpPr>
        <p:spPr>
          <a:xfrm>
            <a:off x="640080" y="2945384"/>
            <a:ext cx="10911535" cy="361188"/>
          </a:xfrm>
          <a:prstGeom prst="rect">
            <a:avLst/>
          </a:prstGeom>
          <a:noFill/>
        </p:spPr>
        <p:txBody>
          <a:bodyPr wrap="square" lIns="0" rIns="0" tIns="0" bIns="0">
            <a:spAutoFit/>
          </a:bodyPr>
          <a:lstStyle/>
          <a:p>
            <a:pPr algn="l"/>
            <a:r>
              <a:rPr sz="1650">
                <a:solidFill>
                  <a:srgbClr val="1F2A37"/>
                </a:solidFill>
                <a:latin typeface="Calibri"/>
              </a:rPr>
              <a:t>Bài toán cơ sở : Sum(N) = N nếu N &lt; 10</a:t>
            </a:r>
          </a:p>
        </p:txBody>
      </p:sp>
      <p:sp>
        <p:nvSpPr>
          <p:cNvPr id="12" name="TextBox 11"/>
          <p:cNvSpPr txBox="1"/>
          <p:nvPr/>
        </p:nvSpPr>
        <p:spPr>
          <a:xfrm>
            <a:off x="640080" y="3306572"/>
            <a:ext cx="10911535" cy="361188"/>
          </a:xfrm>
          <a:prstGeom prst="rect">
            <a:avLst/>
          </a:prstGeom>
          <a:noFill/>
        </p:spPr>
        <p:txBody>
          <a:bodyPr wrap="square" lIns="0" rIns="0" tIns="0" bIns="0">
            <a:spAutoFit/>
          </a:bodyPr>
          <a:lstStyle/>
          <a:p>
            <a:pPr algn="l"/>
            <a:r>
              <a:rPr sz="1650">
                <a:solidFill>
                  <a:srgbClr val="1F2A37"/>
                </a:solidFill>
                <a:latin typeface="Calibri"/>
              </a:rPr>
              <a:t>Công thức truy hồi : Sum(N) = N % 10 + Sum(N / 10) với N ≥ 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Công Thức Truy Hồi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361188"/>
          </a:xfrm>
          <a:prstGeom prst="rect">
            <a:avLst/>
          </a:prstGeom>
          <a:noFill/>
        </p:spPr>
        <p:txBody>
          <a:bodyPr wrap="square" lIns="0" rIns="0" tIns="0" bIns="0">
            <a:spAutoFit/>
          </a:bodyPr>
          <a:lstStyle/>
          <a:p>
            <a:pPr algn="l"/>
            <a:r>
              <a:rPr b="1" sz="1650">
                <a:solidFill>
                  <a:srgbClr val="1F2A37"/>
                </a:solidFill>
                <a:latin typeface="Calibri"/>
              </a:rPr>
              <a:t>Code :</a:t>
            </a:r>
          </a:p>
        </p:txBody>
      </p:sp>
      <p:sp>
        <p:nvSpPr>
          <p:cNvPr id="7" name="Rectangle 6"/>
          <p:cNvSpPr/>
          <p:nvPr/>
        </p:nvSpPr>
        <p:spPr>
          <a:xfrm>
            <a:off x="640080" y="1659636"/>
            <a:ext cx="10911535" cy="405168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69364"/>
            <a:ext cx="10545775" cy="3850512"/>
          </a:xfrm>
          <a:prstGeom prst="rect">
            <a:avLst/>
          </a:prstGeom>
          <a:noFill/>
        </p:spPr>
        <p:txBody>
          <a:bodyPr wrap="none" lIns="0" rIns="0" tIns="0" bIns="0">
            <a:spAutoFit/>
          </a:bodyPr>
          <a:lstStyle/>
          <a:p>
            <a:pPr algn="l">
              <a:lnSpc>
                <a:spcPct val="100000"/>
              </a:lnSpc>
              <a:spcAft>
                <a:spcPts val="0"/>
              </a:spcAft>
            </a:pPr>
            <a:r>
              <a:rPr sz="1250">
                <a:solidFill>
                  <a:srgbClr val="E6EDF3"/>
                </a:solidFill>
                <a:latin typeface="Consolas"/>
              </a:rPr>
              <a:t>#include "iostream"</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using namespace std;</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sum(int n){</a:t>
            </a:r>
          </a:p>
          <a:p>
            <a:pPr algn="l">
              <a:lnSpc>
                <a:spcPct val="100000"/>
              </a:lnSpc>
              <a:spcAft>
                <a:spcPts val="0"/>
              </a:spcAft>
            </a:pPr>
            <a:r>
              <a:rPr sz="1250">
                <a:solidFill>
                  <a:srgbClr val="E6EDF3"/>
                </a:solidFill>
                <a:latin typeface="Consolas"/>
              </a:rPr>
              <a:t>    if(n &lt; 10){</a:t>
            </a:r>
          </a:p>
          <a:p>
            <a:pPr algn="l">
              <a:lnSpc>
                <a:spcPct val="100000"/>
              </a:lnSpc>
              <a:spcAft>
                <a:spcPts val="0"/>
              </a:spcAft>
            </a:pPr>
            <a:r>
              <a:rPr sz="1250">
                <a:solidFill>
                  <a:srgbClr val="E6EDF3"/>
                </a:solidFill>
                <a:latin typeface="Consolas"/>
              </a:rPr>
              <a:t>        return n;</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    else{</a:t>
            </a:r>
          </a:p>
          <a:p>
            <a:pPr algn="l">
              <a:lnSpc>
                <a:spcPct val="100000"/>
              </a:lnSpc>
              <a:spcAft>
                <a:spcPts val="0"/>
              </a:spcAft>
            </a:pPr>
            <a:r>
              <a:rPr sz="1250">
                <a:solidFill>
                  <a:srgbClr val="E6EDF3"/>
                </a:solidFill>
                <a:latin typeface="Consolas"/>
              </a:rPr>
              <a:t>        return n % 10 + sum(n / 10);</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main(){</a:t>
            </a:r>
          </a:p>
          <a:p>
            <a:pPr algn="l">
              <a:lnSpc>
                <a:spcPct val="100000"/>
              </a:lnSpc>
              <a:spcAft>
                <a:spcPts val="0"/>
              </a:spcAft>
            </a:pPr>
            <a:r>
              <a:rPr sz="1250">
                <a:solidFill>
                  <a:srgbClr val="E6EDF3"/>
                </a:solidFill>
                <a:latin typeface="Consolas"/>
              </a:rPr>
              <a:t>   cout &lt;&lt; sum(12345) &lt;&lt; endl;</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3. Công Thức Truy Hồi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361188"/>
          </a:xfrm>
          <a:prstGeom prst="rect">
            <a:avLst/>
          </a:prstGeom>
          <a:noFill/>
        </p:spPr>
        <p:txBody>
          <a:bodyPr wrap="square" lIns="0" rIns="0" tIns="0" bIns="0">
            <a:spAutoFit/>
          </a:bodyPr>
          <a:lstStyle/>
          <a:p>
            <a:pPr algn="l"/>
            <a:r>
              <a:rPr sz="1650">
                <a:solidFill>
                  <a:srgbClr val="1F2A37"/>
                </a:solidFill>
                <a:latin typeface="Calibri"/>
              </a:rPr>
              <a:t>Output :</a:t>
            </a:r>
          </a:p>
        </p:txBody>
      </p:sp>
      <p:sp>
        <p:nvSpPr>
          <p:cNvPr id="7" name="Rectangle 6"/>
          <p:cNvSpPr/>
          <p:nvPr/>
        </p:nvSpPr>
        <p:spPr>
          <a:xfrm>
            <a:off x="640080" y="1659636"/>
            <a:ext cx="10911535" cy="471931"/>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69364"/>
            <a:ext cx="10545775" cy="270763"/>
          </a:xfrm>
          <a:prstGeom prst="rect">
            <a:avLst/>
          </a:prstGeom>
          <a:noFill/>
        </p:spPr>
        <p:txBody>
          <a:bodyPr wrap="none" lIns="0" rIns="0" tIns="0" bIns="0">
            <a:spAutoFit/>
          </a:bodyPr>
          <a:lstStyle/>
          <a:p>
            <a:pPr algn="l">
              <a:lnSpc>
                <a:spcPct val="100000"/>
              </a:lnSpc>
              <a:spcAft>
                <a:spcPts val="0"/>
              </a:spcAft>
            </a:pPr>
            <a:r>
              <a:rPr sz="1400">
                <a:solidFill>
                  <a:srgbClr val="E6EDF3"/>
                </a:solidFill>
                <a:latin typeface="Consolas"/>
              </a:rPr>
              <a:t>15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4. Stack Overflow</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594360"/>
          </a:xfrm>
          <a:prstGeom prst="rect">
            <a:avLst/>
          </a:prstGeom>
          <a:noFill/>
        </p:spPr>
        <p:txBody>
          <a:bodyPr wrap="square" lIns="0" rIns="0" tIns="0" bIns="0">
            <a:spAutoFit/>
          </a:bodyPr>
          <a:lstStyle/>
          <a:p>
            <a:pPr algn="l"/>
            <a:r>
              <a:rPr sz="1650">
                <a:solidFill>
                  <a:srgbClr val="1F2A37"/>
                </a:solidFill>
                <a:latin typeface="Calibri"/>
              </a:rPr>
              <a:t>Stack Overflow hay tràn bộ nhớ ngăn xếp là một tình trạng hay xảy ra khi bạn code đệ quy, bản chất của đệ quy là sinh ra các lời gọi hàm và mỗi lần lời gọi hàm được gọi thì nó sẽ chiếm 1 chỗ trong bộ nhớ ngăn xếp.</a:t>
            </a:r>
          </a:p>
        </p:txBody>
      </p:sp>
      <p:sp>
        <p:nvSpPr>
          <p:cNvPr id="7" name="TextBox 6"/>
          <p:cNvSpPr txBox="1"/>
          <p:nvPr/>
        </p:nvSpPr>
        <p:spPr>
          <a:xfrm>
            <a:off x="640080" y="1892807"/>
            <a:ext cx="10911535" cy="594360"/>
          </a:xfrm>
          <a:prstGeom prst="rect">
            <a:avLst/>
          </a:prstGeom>
          <a:noFill/>
        </p:spPr>
        <p:txBody>
          <a:bodyPr wrap="square" lIns="0" rIns="0" tIns="0" bIns="0">
            <a:spAutoFit/>
          </a:bodyPr>
          <a:lstStyle/>
          <a:p>
            <a:pPr algn="l"/>
            <a:r>
              <a:rPr sz="1650">
                <a:solidFill>
                  <a:srgbClr val="1F2A37"/>
                </a:solidFill>
                <a:latin typeface="Calibri"/>
              </a:rPr>
              <a:t>Nếu bộ nhớ ngăn xếp không được giải phóng thì tới một lúc nào đó nó sẽ bị tràn và làm chương trình của các bạn bị dừng đột ngột.</a:t>
            </a:r>
          </a:p>
        </p:txBody>
      </p:sp>
      <p:sp>
        <p:nvSpPr>
          <p:cNvPr id="8" name="TextBox 7"/>
          <p:cNvSpPr txBox="1"/>
          <p:nvPr/>
        </p:nvSpPr>
        <p:spPr>
          <a:xfrm>
            <a:off x="640080" y="2487168"/>
            <a:ext cx="10911535" cy="361188"/>
          </a:xfrm>
          <a:prstGeom prst="rect">
            <a:avLst/>
          </a:prstGeom>
          <a:noFill/>
        </p:spPr>
        <p:txBody>
          <a:bodyPr wrap="square" lIns="0" rIns="0" tIns="0" bIns="0">
            <a:spAutoFit/>
          </a:bodyPr>
          <a:lstStyle/>
          <a:p>
            <a:pPr algn="l"/>
            <a:r>
              <a:rPr sz="1650">
                <a:solidFill>
                  <a:srgbClr val="1F2A37"/>
                </a:solidFill>
                <a:latin typeface="Calibri"/>
              </a:rPr>
              <a:t>Ví dụ sau sẽ gây tràn bộ nhớ ngăn xếp :</a:t>
            </a:r>
          </a:p>
        </p:txBody>
      </p:sp>
      <p:sp>
        <p:nvSpPr>
          <p:cNvPr id="9" name="Rectangle 8"/>
          <p:cNvSpPr/>
          <p:nvPr/>
        </p:nvSpPr>
        <p:spPr>
          <a:xfrm>
            <a:off x="640080" y="2848356"/>
            <a:ext cx="10911535" cy="3375406"/>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58084"/>
            <a:ext cx="10545775" cy="3174238"/>
          </a:xfrm>
          <a:prstGeom prst="rect">
            <a:avLst/>
          </a:prstGeom>
          <a:noFill/>
        </p:spPr>
        <p:txBody>
          <a:bodyPr wrap="none" lIns="0" rIns="0" tIns="0" bIns="0">
            <a:spAutoFit/>
          </a:bodyPr>
          <a:lstStyle/>
          <a:p>
            <a:pPr algn="l">
              <a:lnSpc>
                <a:spcPct val="100000"/>
              </a:lnSpc>
              <a:spcAft>
                <a:spcPts val="0"/>
              </a:spcAft>
            </a:pPr>
            <a:r>
              <a:rPr sz="1250">
                <a:solidFill>
                  <a:srgbClr val="E6EDF3"/>
                </a:solidFill>
                <a:latin typeface="Consolas"/>
              </a:rPr>
              <a:t>#include "iostream"</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using namespace std;</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void stackoverflow(){</a:t>
            </a:r>
          </a:p>
          <a:p>
            <a:pPr algn="l">
              <a:lnSpc>
                <a:spcPct val="100000"/>
              </a:lnSpc>
              <a:spcAft>
                <a:spcPts val="0"/>
              </a:spcAft>
            </a:pPr>
            <a:r>
              <a:rPr sz="1250">
                <a:solidFill>
                  <a:srgbClr val="E6EDF3"/>
                </a:solidFill>
                <a:latin typeface="Consolas"/>
              </a:rPr>
              <a:t>    cout &lt;&lt; "28tech\n";</a:t>
            </a:r>
          </a:p>
          <a:p>
            <a:pPr algn="l">
              <a:lnSpc>
                <a:spcPct val="100000"/>
              </a:lnSpc>
              <a:spcAft>
                <a:spcPts val="0"/>
              </a:spcAft>
            </a:pPr>
            <a:r>
              <a:rPr sz="1250">
                <a:solidFill>
                  <a:srgbClr val="E6EDF3"/>
                </a:solidFill>
                <a:latin typeface="Consolas"/>
              </a:rPr>
              <a:t>    stackoverflow();</a:t>
            </a:r>
          </a:p>
          <a:p>
            <a:pPr algn="l">
              <a:lnSpc>
                <a:spcPct val="100000"/>
              </a:lnSpc>
              <a:spcAft>
                <a:spcPts val="0"/>
              </a:spcAft>
            </a:pPr>
            <a:r>
              <a:rPr sz="1250">
                <a:solidFill>
                  <a:srgbClr val="E6EDF3"/>
                </a:solidFill>
                <a:latin typeface="Consolas"/>
              </a:rPr>
              <a:t>    cout &lt;&lt; "end\n";</a:t>
            </a:r>
          </a:p>
          <a:p>
            <a:pPr algn="l">
              <a:lnSpc>
                <a:spcPct val="100000"/>
              </a:lnSpc>
              <a:spcAft>
                <a:spcPts val="0"/>
              </a:spcAft>
            </a:pPr>
            <a:r>
              <a:rPr sz="1250">
                <a:solidFill>
                  <a:srgbClr val="E6EDF3"/>
                </a:solidFill>
                <a:latin typeface="Consolas"/>
              </a:rPr>
              <a:t>}</a:t>
            </a:r>
          </a:p>
          <a:p>
            <a:pPr algn="l">
              <a:lnSpc>
                <a:spcPct val="100000"/>
              </a:lnSpc>
              <a:spcAft>
                <a:spcPts val="0"/>
              </a:spcAft>
            </a:pPr>
            <a:r>
              <a:rPr sz="1250">
                <a:solidFill>
                  <a:srgbClr val="E6EDF3"/>
                </a:solidFill>
                <a:latin typeface="Consolas"/>
              </a:rPr>
              <a:t> </a:t>
            </a:r>
          </a:p>
          <a:p>
            <a:pPr algn="l">
              <a:lnSpc>
                <a:spcPct val="100000"/>
              </a:lnSpc>
              <a:spcAft>
                <a:spcPts val="0"/>
              </a:spcAft>
            </a:pPr>
            <a:r>
              <a:rPr sz="1250">
                <a:solidFill>
                  <a:srgbClr val="E6EDF3"/>
                </a:solidFill>
                <a:latin typeface="Consolas"/>
              </a:rPr>
              <a:t>int main(){</a:t>
            </a:r>
          </a:p>
          <a:p>
            <a:pPr algn="l">
              <a:lnSpc>
                <a:spcPct val="100000"/>
              </a:lnSpc>
              <a:spcAft>
                <a:spcPts val="0"/>
              </a:spcAft>
            </a:pPr>
            <a:r>
              <a:rPr sz="1250">
                <a:solidFill>
                  <a:srgbClr val="E6EDF3"/>
                </a:solidFill>
                <a:latin typeface="Consolas"/>
              </a:rPr>
              <a:t>   stackoverflow();</a:t>
            </a:r>
          </a:p>
          <a:p>
            <a:pPr algn="l">
              <a:lnSpc>
                <a:spcPct val="100000"/>
              </a:lnSpc>
              <a:spcAft>
                <a:spcPts val="0"/>
              </a:spcAft>
            </a:pPr>
            <a:r>
              <a:rPr sz="1250">
                <a:solidFill>
                  <a:srgbClr val="E6EDF3"/>
                </a:solidFill>
                <a:latin typeface="Consolas"/>
              </a:rPr>
              <a:t>   return 0;</a:t>
            </a:r>
          </a:p>
          <a:p>
            <a:pPr algn="l">
              <a:lnSpc>
                <a:spcPct val="100000"/>
              </a:lnSpc>
              <a:spcAft>
                <a:spcPts val="0"/>
              </a:spcAft>
            </a:pPr>
            <a:r>
              <a:rPr sz="1250">
                <a:solidFill>
                  <a:srgbClr val="E6EDF3"/>
                </a:solidFill>
                <a:latin typeface="Consolas"/>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4. Stack Overflow (tiếp)</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827532"/>
          </a:xfrm>
          <a:prstGeom prst="rect">
            <a:avLst/>
          </a:prstGeom>
          <a:noFill/>
        </p:spPr>
        <p:txBody>
          <a:bodyPr wrap="square" lIns="0" rIns="0" tIns="0" bIns="0">
            <a:spAutoFit/>
          </a:bodyPr>
          <a:lstStyle/>
          <a:p>
            <a:pPr algn="l"/>
            <a:r>
              <a:rPr sz="1650">
                <a:solidFill>
                  <a:srgbClr val="1F2A37"/>
                </a:solidFill>
                <a:latin typeface="Calibri"/>
              </a:rPr>
              <a:t>Trong ví dụ, hàm stackoverflow() sẽ chỉ thực hiện được câu lệnh đầu tiên in ra 28tech, sau đó nó lại gọi hàm stackoverflow(), quá trình này lặp đi lặp lại nhưng không có lời gọi hàm stackoverflow() nào được kết thúc để các lời gọi ban đầu được thực hiện câu lệnh thứ 3 và kết thúc hàm.</a:t>
            </a:r>
          </a:p>
        </p:txBody>
      </p:sp>
      <p:sp>
        <p:nvSpPr>
          <p:cNvPr id="7" name="TextBox 6"/>
          <p:cNvSpPr txBox="1"/>
          <p:nvPr/>
        </p:nvSpPr>
        <p:spPr>
          <a:xfrm>
            <a:off x="640080" y="2125980"/>
            <a:ext cx="10911535" cy="594360"/>
          </a:xfrm>
          <a:prstGeom prst="rect">
            <a:avLst/>
          </a:prstGeom>
          <a:noFill/>
        </p:spPr>
        <p:txBody>
          <a:bodyPr wrap="square" lIns="0" rIns="0" tIns="0" bIns="0">
            <a:spAutoFit/>
          </a:bodyPr>
          <a:lstStyle/>
          <a:p>
            <a:pPr algn="l"/>
            <a:r>
              <a:rPr sz="1650">
                <a:solidFill>
                  <a:srgbClr val="1F2A37"/>
                </a:solidFill>
                <a:latin typeface="Calibri"/>
              </a:rPr>
              <a:t>Đây như là một quá trình gọi hàm liên tục và không có hồi kết cho tới khi bộ nhớ ngăn xếp không đủ để lưu thông tin các lời gọi hàm đã được gọi.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530352"/>
            <a:ext cx="77724" cy="457200"/>
          </a:xfrm>
          <a:prstGeom prst="rect">
            <a:avLst/>
          </a:prstGeom>
          <a:solidFill>
            <a:srgbClr val="3598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37215" cy="731520"/>
          </a:xfrm>
          <a:prstGeom prst="rect">
            <a:avLst/>
          </a:prstGeom>
          <a:noFill/>
        </p:spPr>
        <p:txBody>
          <a:bodyPr wrap="square">
            <a:spAutoFit/>
          </a:bodyPr>
          <a:lstStyle/>
          <a:p>
            <a:r>
              <a:rPr sz="2500" b="1">
                <a:solidFill>
                  <a:srgbClr val="142B45"/>
                </a:solidFill>
                <a:latin typeface="Calibri"/>
              </a:rPr>
              <a:t>[C++]. Hàm Đệ Quy</a:t>
            </a:r>
          </a:p>
        </p:txBody>
      </p:sp>
      <p:sp>
        <p:nvSpPr>
          <p:cNvPr id="5" name="TextBox 4"/>
          <p:cNvSpPr txBox="1"/>
          <p:nvPr/>
        </p:nvSpPr>
        <p:spPr>
          <a:xfrm>
            <a:off x="640080" y="100584"/>
            <a:ext cx="10911535" cy="256032"/>
          </a:xfrm>
          <a:prstGeom prst="rect">
            <a:avLst/>
          </a:prstGeom>
          <a:noFill/>
        </p:spPr>
        <p:txBody>
          <a:bodyPr wrap="none">
            <a:spAutoFit/>
          </a:bodyPr>
          <a:lstStyle/>
          <a:p>
            <a:pPr algn="r"/>
            <a:r>
              <a:rPr sz="1050">
                <a:solidFill>
                  <a:srgbClr val="6B7280"/>
                </a:solidFill>
                <a:latin typeface="Calibri"/>
              </a:rPr>
              <a:t>[C++]. Hàm Đệ Quy</a:t>
            </a:r>
          </a:p>
        </p:txBody>
      </p:sp>
      <p:sp>
        <p:nvSpPr>
          <p:cNvPr id="6" name="TextBox 5"/>
          <p:cNvSpPr txBox="1"/>
          <p:nvPr/>
        </p:nvSpPr>
        <p:spPr>
          <a:xfrm>
            <a:off x="640080" y="1298448"/>
            <a:ext cx="10911535" cy="361188"/>
          </a:xfrm>
          <a:prstGeom prst="rect">
            <a:avLst/>
          </a:prstGeom>
          <a:noFill/>
        </p:spPr>
        <p:txBody>
          <a:bodyPr wrap="square" lIns="0" rIns="0" tIns="0" bIns="0">
            <a:spAutoFit/>
          </a:bodyPr>
          <a:lstStyle/>
          <a:p>
            <a:pPr algn="l"/>
            <a:r>
              <a:rPr b="1" sz="1650">
                <a:solidFill>
                  <a:srgbClr val="1F2A37"/>
                </a:solidFill>
                <a:latin typeface="Calibri"/>
              </a:rPr>
              <a:t>Video tutorial về đệ quy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