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29984"/>
            <a:ext cx="12191695" cy="128016"/>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2240280"/>
            <a:ext cx="10241280" cy="2194560"/>
          </a:xfrm>
          <a:prstGeom prst="rect">
            <a:avLst/>
          </a:prstGeom>
          <a:noFill/>
        </p:spPr>
        <p:txBody>
          <a:bodyPr wrap="square">
            <a:spAutoFit/>
          </a:bodyPr>
          <a:lstStyle/>
          <a:p>
            <a:r>
              <a:rPr sz="3800" b="1">
                <a:solidFill>
                  <a:srgbClr val="FFFFFF"/>
                </a:solidFill>
                <a:latin typeface="Calibri"/>
              </a:rPr>
              <a:t>[C++]. Vòng Lặp For</a:t>
            </a:r>
          </a:p>
          <a:p>
            <a:pPr>
              <a:spcBef>
                <a:spcPts val="1200"/>
              </a:spcBef>
            </a:pPr>
            <a:r>
              <a:rPr sz="1700">
                <a:solidFill>
                  <a:srgbClr val="3598DB"/>
                </a:solidFill>
                <a:latin typeface="Calibri"/>
              </a:rPr>
              <a:t>C++ Cơ Bản</a:t>
            </a:r>
          </a:p>
          <a:p>
            <a:pPr>
              <a:spcBef>
                <a:spcPts val="2400"/>
              </a:spcBef>
            </a:pPr>
            <a:r>
              <a:rPr sz="1050">
                <a:solidFill>
                  <a:srgbClr val="8C9AAF"/>
                </a:solidFill>
                <a:latin typeface="Calibri"/>
              </a:rPr>
              <a:t>https://blog.28tech.com.vn/cpp-vong-lap-for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30352"/>
            <a:ext cx="77724" cy="457200"/>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37215" cy="731520"/>
          </a:xfrm>
          <a:prstGeom prst="rect">
            <a:avLst/>
          </a:prstGeom>
          <a:noFill/>
        </p:spPr>
        <p:txBody>
          <a:bodyPr wrap="square">
            <a:spAutoFit/>
          </a:bodyPr>
          <a:lstStyle/>
          <a:p>
            <a:r>
              <a:rPr sz="2500" b="1">
                <a:solidFill>
                  <a:srgbClr val="142B45"/>
                </a:solidFill>
                <a:latin typeface="Calibri"/>
              </a:rPr>
              <a:t>[C++]. Vòng Lặp For</a:t>
            </a:r>
          </a:p>
        </p:txBody>
      </p:sp>
      <p:sp>
        <p:nvSpPr>
          <p:cNvPr id="5" name="TextBox 4"/>
          <p:cNvSpPr txBox="1"/>
          <p:nvPr/>
        </p:nvSpPr>
        <p:spPr>
          <a:xfrm>
            <a:off x="640080" y="100584"/>
            <a:ext cx="10911535" cy="256032"/>
          </a:xfrm>
          <a:prstGeom prst="rect">
            <a:avLst/>
          </a:prstGeom>
          <a:noFill/>
        </p:spPr>
        <p:txBody>
          <a:bodyPr wrap="none">
            <a:spAutoFit/>
          </a:bodyPr>
          <a:lstStyle/>
          <a:p>
            <a:pPr algn="r"/>
            <a:r>
              <a:rPr sz="1050">
                <a:solidFill>
                  <a:srgbClr val="6B7280"/>
                </a:solidFill>
                <a:latin typeface="Calibri"/>
              </a:rPr>
              <a:t>[C++]. Vòng Lặp For</a:t>
            </a:r>
          </a:p>
        </p:txBody>
      </p:sp>
      <p:sp>
        <p:nvSpPr>
          <p:cNvPr id="6" name="TextBox 5"/>
          <p:cNvSpPr txBox="1"/>
          <p:nvPr/>
        </p:nvSpPr>
        <p:spPr>
          <a:xfrm>
            <a:off x="640080" y="1298448"/>
            <a:ext cx="10911535" cy="630936"/>
          </a:xfrm>
          <a:prstGeom prst="rect">
            <a:avLst/>
          </a:prstGeom>
          <a:noFill/>
        </p:spPr>
        <p:txBody>
          <a:bodyPr wrap="square" lIns="0" rIns="0" tIns="0" bIns="0" anchor="t">
            <a:noAutofit/>
          </a:bodyPr>
          <a:lstStyle/>
          <a:p>
            <a:pPr algn="l"/>
            <a:r>
              <a:rPr sz="1650">
                <a:solidFill>
                  <a:srgbClr val="1F2A37"/>
                </a:solidFill>
                <a:latin typeface="Calibri"/>
              </a:rPr>
              <a:t>Trong bài học này các bạn sẽ học kiến thức về vòng lặp </a:t>
            </a:r>
            <a:r>
              <a:rPr b="1" sz="1650">
                <a:solidFill>
                  <a:srgbClr val="1F2A37"/>
                </a:solidFill>
                <a:latin typeface="Calibri"/>
              </a:rPr>
              <a:t>For</a:t>
            </a:r>
            <a:r>
              <a:rPr sz="1650">
                <a:solidFill>
                  <a:srgbClr val="1F2A37"/>
                </a:solidFill>
                <a:latin typeface="Calibri"/>
              </a:rPr>
              <a:t>, một kiến thức cơ bản nhưng cực kỳ quan trọng trong ngôn ngữ lập trình C++</a:t>
            </a:r>
          </a:p>
        </p:txBody>
      </p:sp>
      <p:sp>
        <p:nvSpPr>
          <p:cNvPr id="7" name="TextBox 6"/>
          <p:cNvSpPr txBox="1"/>
          <p:nvPr/>
        </p:nvSpPr>
        <p:spPr>
          <a:xfrm>
            <a:off x="640080" y="1929384"/>
            <a:ext cx="10911535" cy="379476"/>
          </a:xfrm>
          <a:prstGeom prst="rect">
            <a:avLst/>
          </a:prstGeom>
          <a:noFill/>
        </p:spPr>
        <p:txBody>
          <a:bodyPr wrap="square" lIns="0" rIns="0" tIns="0" bIns="0" anchor="t">
            <a:noAutofit/>
          </a:bodyPr>
          <a:lstStyle/>
          <a:p>
            <a:pPr algn="l"/>
            <a:r>
              <a:rPr b="1" sz="1650">
                <a:solidFill>
                  <a:srgbClr val="1F2A37"/>
                </a:solidFill>
                <a:latin typeface="Calibri"/>
              </a:rPr>
              <a:t>NỘI DUNG :</a:t>
            </a:r>
          </a:p>
        </p:txBody>
      </p:sp>
      <p:sp>
        <p:nvSpPr>
          <p:cNvPr id="8" name="TextBox 7"/>
          <p:cNvSpPr txBox="1"/>
          <p:nvPr/>
        </p:nvSpPr>
        <p:spPr>
          <a:xfrm>
            <a:off x="640080" y="2308860"/>
            <a:ext cx="10911535" cy="1650492"/>
          </a:xfrm>
          <a:prstGeom prst="rect">
            <a:avLst/>
          </a:prstGeom>
          <a:noFill/>
        </p:spPr>
        <p:txBody>
          <a:bodyPr wrap="square" lIns="0" rIns="0" tIns="0" bIns="0" anchor="t">
            <a:noAutofit/>
          </a:bodyPr>
          <a:lstStyle/>
          <a:p>
            <a:pPr algn="l">
              <a:spcAft>
                <a:spcPts val="500"/>
              </a:spcAft>
            </a:pPr>
            <a:r>
              <a:rPr sz="1550">
                <a:solidFill>
                  <a:srgbClr val="3598DB"/>
                </a:solidFill>
                <a:latin typeface="Calibri"/>
              </a:rPr>
              <a:t>•  </a:t>
            </a:r>
            <a:r>
              <a:rPr b="1" sz="1550">
                <a:solidFill>
                  <a:srgbClr val="1F2A37"/>
                </a:solidFill>
                <a:latin typeface="Calibri"/>
              </a:rPr>
              <a:t>Vòng Lặp For</a:t>
            </a:r>
          </a:p>
          <a:p>
            <a:pPr algn="l">
              <a:spcAft>
                <a:spcPts val="500"/>
              </a:spcAft>
            </a:pPr>
            <a:r>
              <a:rPr sz="1550">
                <a:solidFill>
                  <a:srgbClr val="3598DB"/>
                </a:solidFill>
                <a:latin typeface="Calibri"/>
              </a:rPr>
              <a:t>•  </a:t>
            </a:r>
            <a:r>
              <a:rPr b="1" sz="1550">
                <a:solidFill>
                  <a:srgbClr val="1F2A37"/>
                </a:solidFill>
                <a:latin typeface="Calibri"/>
              </a:rPr>
              <a:t>Sơ Đồ Khối</a:t>
            </a:r>
          </a:p>
          <a:p>
            <a:pPr algn="l">
              <a:spcAft>
                <a:spcPts val="500"/>
              </a:spcAft>
            </a:pPr>
            <a:r>
              <a:rPr sz="1550">
                <a:solidFill>
                  <a:srgbClr val="3598DB"/>
                </a:solidFill>
                <a:latin typeface="Calibri"/>
              </a:rPr>
              <a:t>•  </a:t>
            </a:r>
            <a:r>
              <a:rPr b="1" sz="1550">
                <a:solidFill>
                  <a:srgbClr val="1F2A37"/>
                </a:solidFill>
                <a:latin typeface="Calibri"/>
              </a:rPr>
              <a:t>Ví Dụ Áp Dụng</a:t>
            </a:r>
          </a:p>
          <a:p>
            <a:pPr algn="l">
              <a:spcAft>
                <a:spcPts val="500"/>
              </a:spcAft>
            </a:pPr>
            <a:r>
              <a:rPr sz="1550">
                <a:solidFill>
                  <a:srgbClr val="3598DB"/>
                </a:solidFill>
                <a:latin typeface="Calibri"/>
              </a:rPr>
              <a:t>•  </a:t>
            </a:r>
            <a:r>
              <a:rPr b="1" sz="1550">
                <a:solidFill>
                  <a:srgbClr val="1F2A37"/>
                </a:solidFill>
                <a:latin typeface="Calibri"/>
              </a:rPr>
              <a:t>Một Số Vòng Lặp For Đặc Biệt</a:t>
            </a:r>
          </a:p>
          <a:p>
            <a:pPr algn="l">
              <a:spcAft>
                <a:spcPts val="500"/>
              </a:spcAft>
            </a:pPr>
            <a:r>
              <a:rPr sz="1550">
                <a:solidFill>
                  <a:srgbClr val="3598DB"/>
                </a:solidFill>
                <a:latin typeface="Calibri"/>
              </a:rPr>
              <a:t>•  </a:t>
            </a:r>
            <a:r>
              <a:rPr b="1" sz="1550">
                <a:solidFill>
                  <a:srgbClr val="1F2A37"/>
                </a:solidFill>
                <a:latin typeface="Calibri"/>
              </a:rPr>
              <a:t>Video Tutorial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30352"/>
            <a:ext cx="77724" cy="457200"/>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37215" cy="731520"/>
          </a:xfrm>
          <a:prstGeom prst="rect">
            <a:avLst/>
          </a:prstGeom>
          <a:noFill/>
        </p:spPr>
        <p:txBody>
          <a:bodyPr wrap="square">
            <a:spAutoFit/>
          </a:bodyPr>
          <a:lstStyle/>
          <a:p>
            <a:r>
              <a:rPr sz="2500" b="1">
                <a:solidFill>
                  <a:srgbClr val="142B45"/>
                </a:solidFill>
                <a:latin typeface="Calibri"/>
              </a:rPr>
              <a:t>[C++]. Vòng Lặp For</a:t>
            </a:r>
          </a:p>
        </p:txBody>
      </p:sp>
      <p:sp>
        <p:nvSpPr>
          <p:cNvPr id="5" name="TextBox 4"/>
          <p:cNvSpPr txBox="1"/>
          <p:nvPr/>
        </p:nvSpPr>
        <p:spPr>
          <a:xfrm>
            <a:off x="640080" y="100584"/>
            <a:ext cx="10911535" cy="256032"/>
          </a:xfrm>
          <a:prstGeom prst="rect">
            <a:avLst/>
          </a:prstGeom>
          <a:noFill/>
        </p:spPr>
        <p:txBody>
          <a:bodyPr wrap="none">
            <a:spAutoFit/>
          </a:bodyPr>
          <a:lstStyle/>
          <a:p>
            <a:pPr algn="r"/>
            <a:r>
              <a:rPr sz="1050">
                <a:solidFill>
                  <a:srgbClr val="6B7280"/>
                </a:solidFill>
                <a:latin typeface="Calibri"/>
              </a:rPr>
              <a:t>[C++]. Vòng Lặp For</a:t>
            </a:r>
          </a:p>
        </p:txBody>
      </p:sp>
      <p:pic>
        <p:nvPicPr>
          <p:cNvPr id="6" name="Picture 5" descr="c9bdf7971c82e519.png"/>
          <p:cNvPicPr>
            <a:picLocks noChangeAspect="1"/>
          </p:cNvPicPr>
          <p:nvPr/>
        </p:nvPicPr>
        <p:blipFill>
          <a:blip r:embed="rId2"/>
          <a:stretch>
            <a:fillRect/>
          </a:stretch>
        </p:blipFill>
        <p:spPr>
          <a:xfrm>
            <a:off x="1039215" y="1298448"/>
            <a:ext cx="10113264" cy="5056632"/>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30352"/>
            <a:ext cx="77724" cy="457200"/>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37215" cy="731520"/>
          </a:xfrm>
          <a:prstGeom prst="rect">
            <a:avLst/>
          </a:prstGeom>
          <a:noFill/>
        </p:spPr>
        <p:txBody>
          <a:bodyPr wrap="square">
            <a:spAutoFit/>
          </a:bodyPr>
          <a:lstStyle/>
          <a:p>
            <a:r>
              <a:rPr sz="2500" b="1">
                <a:solidFill>
                  <a:srgbClr val="142B45"/>
                </a:solidFill>
                <a:latin typeface="Calibri"/>
              </a:rPr>
              <a:t>1. Vòng Lặp For</a:t>
            </a:r>
          </a:p>
        </p:txBody>
      </p:sp>
      <p:sp>
        <p:nvSpPr>
          <p:cNvPr id="5" name="TextBox 4"/>
          <p:cNvSpPr txBox="1"/>
          <p:nvPr/>
        </p:nvSpPr>
        <p:spPr>
          <a:xfrm>
            <a:off x="640080" y="100584"/>
            <a:ext cx="10911535" cy="256032"/>
          </a:xfrm>
          <a:prstGeom prst="rect">
            <a:avLst/>
          </a:prstGeom>
          <a:noFill/>
        </p:spPr>
        <p:txBody>
          <a:bodyPr wrap="none">
            <a:spAutoFit/>
          </a:bodyPr>
          <a:lstStyle/>
          <a:p>
            <a:pPr algn="r"/>
            <a:r>
              <a:rPr sz="1050">
                <a:solidFill>
                  <a:srgbClr val="6B7280"/>
                </a:solidFill>
                <a:latin typeface="Calibri"/>
              </a:rPr>
              <a:t>[C++]. Vòng Lặp For</a:t>
            </a:r>
          </a:p>
        </p:txBody>
      </p:sp>
      <p:sp>
        <p:nvSpPr>
          <p:cNvPr id="6" name="TextBox 5"/>
          <p:cNvSpPr txBox="1"/>
          <p:nvPr/>
        </p:nvSpPr>
        <p:spPr>
          <a:xfrm>
            <a:off x="640080" y="1298448"/>
            <a:ext cx="10911535" cy="882396"/>
          </a:xfrm>
          <a:prstGeom prst="rect">
            <a:avLst/>
          </a:prstGeom>
          <a:noFill/>
        </p:spPr>
        <p:txBody>
          <a:bodyPr wrap="square" lIns="0" rIns="0" tIns="0" bIns="0" anchor="t">
            <a:noAutofit/>
          </a:bodyPr>
          <a:lstStyle/>
          <a:p>
            <a:pPr algn="l"/>
            <a:r>
              <a:rPr sz="1650">
                <a:solidFill>
                  <a:srgbClr val="1F2A37"/>
                </a:solidFill>
                <a:latin typeface="Calibri"/>
              </a:rPr>
              <a:t>Vòng lặp giúp bạn thực hiện các câu lệnh nhiều lần tùy theo ý bạn muốn. Ví dụ bạn muốn in ra 1000 dòng chữ "28tech.com.vn" thì thay vì bạn viết 1000 câu lệnh cout bạn có thể viết 1 câu lệnh cout và cho nó lặp 1000 lần.</a:t>
            </a:r>
          </a:p>
        </p:txBody>
      </p:sp>
      <p:sp>
        <p:nvSpPr>
          <p:cNvPr id="7" name="TextBox 6"/>
          <p:cNvSpPr txBox="1"/>
          <p:nvPr/>
        </p:nvSpPr>
        <p:spPr>
          <a:xfrm>
            <a:off x="640080" y="2180844"/>
            <a:ext cx="10911535" cy="379476"/>
          </a:xfrm>
          <a:prstGeom prst="rect">
            <a:avLst/>
          </a:prstGeom>
          <a:noFill/>
        </p:spPr>
        <p:txBody>
          <a:bodyPr wrap="square" lIns="0" rIns="0" tIns="0" bIns="0" anchor="t">
            <a:noAutofit/>
          </a:bodyPr>
          <a:lstStyle/>
          <a:p>
            <a:pPr algn="l"/>
            <a:r>
              <a:rPr b="1" sz="1650">
                <a:solidFill>
                  <a:srgbClr val="1F2A37"/>
                </a:solidFill>
                <a:latin typeface="Calibri"/>
              </a:rPr>
              <a:t>Cú pháp :</a:t>
            </a:r>
          </a:p>
        </p:txBody>
      </p:sp>
      <p:sp>
        <p:nvSpPr>
          <p:cNvPr id="8" name="Rectangle 7"/>
          <p:cNvSpPr/>
          <p:nvPr/>
        </p:nvSpPr>
        <p:spPr>
          <a:xfrm>
            <a:off x="640080" y="2560320"/>
            <a:ext cx="10911535" cy="976883"/>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670048"/>
            <a:ext cx="10545775" cy="775715"/>
          </a:xfrm>
          <a:prstGeom prst="rect">
            <a:avLst/>
          </a:prstGeom>
          <a:noFill/>
        </p:spPr>
        <p:txBody>
          <a:bodyPr wrap="square" lIns="0" rIns="0" tIns="0" bIns="0" anchor="t">
            <a:noAutofit/>
          </a:bodyPr>
          <a:lstStyle/>
          <a:p>
            <a:pPr algn="l">
              <a:lnSpc>
                <a:spcPct val="100000"/>
              </a:lnSpc>
              <a:spcAft>
                <a:spcPts val="0"/>
              </a:spcAft>
            </a:pPr>
            <a:r>
              <a:rPr sz="1400">
                <a:solidFill>
                  <a:srgbClr val="E6EDF3"/>
                </a:solidFill>
                <a:latin typeface="Consolas"/>
              </a:rPr>
              <a:t>for(Câu_lệnh_khởi_tạo ; Điều_kiện_lặp; Câu_lệnh_cập_nhật){</a:t>
            </a:r>
          </a:p>
          <a:p>
            <a:pPr algn="l">
              <a:lnSpc>
                <a:spcPct val="100000"/>
              </a:lnSpc>
              <a:spcAft>
                <a:spcPts val="0"/>
              </a:spcAft>
            </a:pPr>
            <a:r>
              <a:rPr sz="1400">
                <a:solidFill>
                  <a:srgbClr val="E6EDF3"/>
                </a:solidFill>
                <a:latin typeface="Consolas"/>
              </a:rPr>
              <a:t>    //code</a:t>
            </a:r>
          </a:p>
          <a:p>
            <a:pPr algn="l">
              <a:lnSpc>
                <a:spcPct val="100000"/>
              </a:lnSpc>
              <a:spcAft>
                <a:spcPts val="0"/>
              </a:spcAft>
            </a:pPr>
            <a:r>
              <a:rPr sz="1400">
                <a:solidFill>
                  <a:srgbClr val="E6EDF3"/>
                </a:solidFill>
                <a:latin typeface="Consolas"/>
              </a:rPr>
              <a:t>}</a:t>
            </a:r>
          </a:p>
        </p:txBody>
      </p:sp>
      <p:sp>
        <p:nvSpPr>
          <p:cNvPr id="10" name="TextBox 9"/>
          <p:cNvSpPr txBox="1"/>
          <p:nvPr/>
        </p:nvSpPr>
        <p:spPr>
          <a:xfrm>
            <a:off x="640080" y="3628643"/>
            <a:ext cx="10911535" cy="379476"/>
          </a:xfrm>
          <a:prstGeom prst="rect">
            <a:avLst/>
          </a:prstGeom>
          <a:noFill/>
        </p:spPr>
        <p:txBody>
          <a:bodyPr wrap="square" lIns="0" rIns="0" tIns="0" bIns="0" anchor="t">
            <a:noAutofit/>
          </a:bodyPr>
          <a:lstStyle/>
          <a:p>
            <a:pPr algn="l"/>
            <a:r>
              <a:rPr b="1" sz="1650">
                <a:solidFill>
                  <a:srgbClr val="1F2A37"/>
                </a:solidFill>
                <a:latin typeface="Calibri"/>
              </a:rPr>
              <a:t>Cách vòng lặp For hoạt động :</a:t>
            </a:r>
          </a:p>
        </p:txBody>
      </p:sp>
      <p:sp>
        <p:nvSpPr>
          <p:cNvPr id="11" name="TextBox 10"/>
          <p:cNvSpPr txBox="1"/>
          <p:nvPr/>
        </p:nvSpPr>
        <p:spPr>
          <a:xfrm>
            <a:off x="640080" y="4008119"/>
            <a:ext cx="10911535" cy="2061972"/>
          </a:xfrm>
          <a:prstGeom prst="rect">
            <a:avLst/>
          </a:prstGeom>
          <a:noFill/>
        </p:spPr>
        <p:txBody>
          <a:bodyPr wrap="square" lIns="0" rIns="0" tIns="0" bIns="0" anchor="t">
            <a:noAutofit/>
          </a:bodyPr>
          <a:lstStyle/>
          <a:p>
            <a:pPr algn="l">
              <a:spcAft>
                <a:spcPts val="500"/>
              </a:spcAft>
            </a:pPr>
            <a:r>
              <a:rPr sz="1550">
                <a:solidFill>
                  <a:srgbClr val="3598DB"/>
                </a:solidFill>
                <a:latin typeface="Calibri"/>
              </a:rPr>
              <a:t>•  </a:t>
            </a:r>
            <a:r>
              <a:rPr sz="1550">
                <a:solidFill>
                  <a:srgbClr val="1F2A37"/>
                </a:solidFill>
                <a:latin typeface="Calibri"/>
              </a:rPr>
              <a:t>Câu lệnh khởi tạo được thực hiện 1 lần duy nhất khi bắt đầu vào vòng lặp</a:t>
            </a:r>
          </a:p>
          <a:p>
            <a:pPr algn="l">
              <a:spcAft>
                <a:spcPts val="500"/>
              </a:spcAft>
            </a:pPr>
            <a:r>
              <a:rPr sz="1550">
                <a:solidFill>
                  <a:srgbClr val="3598DB"/>
                </a:solidFill>
                <a:latin typeface="Calibri"/>
              </a:rPr>
              <a:t>•  </a:t>
            </a:r>
            <a:r>
              <a:rPr sz="1550">
                <a:solidFill>
                  <a:srgbClr val="1F2A37"/>
                </a:solidFill>
                <a:latin typeface="Calibri"/>
              </a:rPr>
              <a:t>Sau đó điều kiện lặp được kiểm tra, nếu đúng thì sẽ tiến thành thực hiện các câu lệnh trong for, sai sẽ không thực hiện và kết thúc vòng lặp</a:t>
            </a:r>
          </a:p>
          <a:p>
            <a:pPr algn="l">
              <a:spcAft>
                <a:spcPts val="500"/>
              </a:spcAft>
            </a:pPr>
            <a:r>
              <a:rPr sz="1550">
                <a:solidFill>
                  <a:srgbClr val="3598DB"/>
                </a:solidFill>
                <a:latin typeface="Calibri"/>
              </a:rPr>
              <a:t>•  </a:t>
            </a:r>
            <a:r>
              <a:rPr sz="1550">
                <a:solidFill>
                  <a:srgbClr val="1F2A37"/>
                </a:solidFill>
                <a:latin typeface="Calibri"/>
              </a:rPr>
              <a:t>Sau khi các câu lệnh trong vòng lặp được thực hiện xong thì tới phần câu lệnh cập nhật được thực thi</a:t>
            </a:r>
          </a:p>
          <a:p>
            <a:pPr algn="l">
              <a:spcAft>
                <a:spcPts val="500"/>
              </a:spcAft>
            </a:pPr>
            <a:r>
              <a:rPr sz="1550">
                <a:solidFill>
                  <a:srgbClr val="3598DB"/>
                </a:solidFill>
                <a:latin typeface="Calibri"/>
              </a:rPr>
              <a:t>•  </a:t>
            </a:r>
            <a:r>
              <a:rPr sz="1550">
                <a:solidFill>
                  <a:srgbClr val="1F2A37"/>
                </a:solidFill>
                <a:latin typeface="Calibri"/>
              </a:rPr>
              <a:t>Câu lệnh cập nhật được thực hiện xong sẽ tiếp tục kiểm tra điều kiện lặp và nếu đúng tiếp tục thực hiện code trong vòng lặp, sai sẽ kết thúc vòng lặp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30352"/>
            <a:ext cx="77724" cy="457200"/>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37215" cy="731520"/>
          </a:xfrm>
          <a:prstGeom prst="rect">
            <a:avLst/>
          </a:prstGeom>
          <a:noFill/>
        </p:spPr>
        <p:txBody>
          <a:bodyPr wrap="square">
            <a:spAutoFit/>
          </a:bodyPr>
          <a:lstStyle/>
          <a:p>
            <a:r>
              <a:rPr sz="2500" b="1">
                <a:solidFill>
                  <a:srgbClr val="142B45"/>
                </a:solidFill>
                <a:latin typeface="Calibri"/>
              </a:rPr>
              <a:t>1. Vòng Lặp For (tiếp)</a:t>
            </a:r>
          </a:p>
        </p:txBody>
      </p:sp>
      <p:sp>
        <p:nvSpPr>
          <p:cNvPr id="5" name="TextBox 4"/>
          <p:cNvSpPr txBox="1"/>
          <p:nvPr/>
        </p:nvSpPr>
        <p:spPr>
          <a:xfrm>
            <a:off x="640080" y="100584"/>
            <a:ext cx="10911535" cy="256032"/>
          </a:xfrm>
          <a:prstGeom prst="rect">
            <a:avLst/>
          </a:prstGeom>
          <a:noFill/>
        </p:spPr>
        <p:txBody>
          <a:bodyPr wrap="none">
            <a:spAutoFit/>
          </a:bodyPr>
          <a:lstStyle/>
          <a:p>
            <a:pPr algn="r"/>
            <a:r>
              <a:rPr sz="1050">
                <a:solidFill>
                  <a:srgbClr val="6B7280"/>
                </a:solidFill>
                <a:latin typeface="Calibri"/>
              </a:rPr>
              <a:t>[C++]. Vòng Lặp For</a:t>
            </a:r>
          </a:p>
        </p:txBody>
      </p:sp>
      <p:sp>
        <p:nvSpPr>
          <p:cNvPr id="6" name="TextBox 5"/>
          <p:cNvSpPr txBox="1"/>
          <p:nvPr/>
        </p:nvSpPr>
        <p:spPr>
          <a:xfrm>
            <a:off x="640080" y="1298448"/>
            <a:ext cx="10911535" cy="379476"/>
          </a:xfrm>
          <a:prstGeom prst="rect">
            <a:avLst/>
          </a:prstGeom>
          <a:noFill/>
        </p:spPr>
        <p:txBody>
          <a:bodyPr wrap="square" lIns="0" rIns="0" tIns="0" bIns="0" anchor="t">
            <a:noAutofit/>
          </a:bodyPr>
          <a:lstStyle/>
          <a:p>
            <a:pPr algn="l"/>
            <a:r>
              <a:rPr sz="1650">
                <a:solidFill>
                  <a:srgbClr val="1F2A37"/>
                </a:solidFill>
                <a:latin typeface="Calibri"/>
              </a:rPr>
              <a:t>Ví dụ 1 : In ra 4 dòng "28tech.com.vn"</a:t>
            </a:r>
          </a:p>
        </p:txBody>
      </p:sp>
      <p:sp>
        <p:nvSpPr>
          <p:cNvPr id="7" name="Rectangle 6"/>
          <p:cNvSpPr/>
          <p:nvPr/>
        </p:nvSpPr>
        <p:spPr>
          <a:xfrm>
            <a:off x="640080" y="1677924"/>
            <a:ext cx="10911535" cy="2996691"/>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787652"/>
            <a:ext cx="10545775" cy="2795523"/>
          </a:xfrm>
          <a:prstGeom prst="rect">
            <a:avLst/>
          </a:prstGeom>
          <a:noFill/>
        </p:spPr>
        <p:txBody>
          <a:bodyPr wrap="square" lIns="0" rIns="0" tIns="0" bIns="0" anchor="t">
            <a:noAutofit/>
          </a:bodyPr>
          <a:lstStyle/>
          <a:p>
            <a:pPr algn="l">
              <a:lnSpc>
                <a:spcPct val="100000"/>
              </a:lnSpc>
              <a:spcAft>
                <a:spcPts val="0"/>
              </a:spcAft>
            </a:pPr>
            <a:r>
              <a:rPr sz="1400">
                <a:solidFill>
                  <a:srgbClr val="E6EDF3"/>
                </a:solidFill>
                <a:latin typeface="Consolas"/>
              </a:rPr>
              <a:t>#include "iostream"</a:t>
            </a:r>
          </a:p>
          <a:p>
            <a:pPr algn="l">
              <a:lnSpc>
                <a:spcPct val="100000"/>
              </a:lnSpc>
              <a:spcAft>
                <a:spcPts val="0"/>
              </a:spcAft>
            </a:pPr>
            <a:r>
              <a:rPr sz="1400">
                <a:solidFill>
                  <a:srgbClr val="E6EDF3"/>
                </a:solidFill>
                <a:latin typeface="Consolas"/>
              </a:rPr>
              <a:t> </a:t>
            </a:r>
          </a:p>
          <a:p>
            <a:pPr algn="l">
              <a:lnSpc>
                <a:spcPct val="100000"/>
              </a:lnSpc>
              <a:spcAft>
                <a:spcPts val="0"/>
              </a:spcAft>
            </a:pPr>
            <a:r>
              <a:rPr sz="1400">
                <a:solidFill>
                  <a:srgbClr val="E6EDF3"/>
                </a:solidFill>
                <a:latin typeface="Consolas"/>
              </a:rPr>
              <a:t>using namespace std;</a:t>
            </a:r>
          </a:p>
          <a:p>
            <a:pPr algn="l">
              <a:lnSpc>
                <a:spcPct val="100000"/>
              </a:lnSpc>
              <a:spcAft>
                <a:spcPts val="0"/>
              </a:spcAft>
            </a:pPr>
            <a:r>
              <a:rPr sz="1400">
                <a:solidFill>
                  <a:srgbClr val="E6EDF3"/>
                </a:solidFill>
                <a:latin typeface="Consolas"/>
              </a:rPr>
              <a:t> </a:t>
            </a:r>
          </a:p>
          <a:p>
            <a:pPr algn="l">
              <a:lnSpc>
                <a:spcPct val="100000"/>
              </a:lnSpc>
              <a:spcAft>
                <a:spcPts val="0"/>
              </a:spcAft>
            </a:pPr>
            <a:r>
              <a:rPr sz="1400">
                <a:solidFill>
                  <a:srgbClr val="E6EDF3"/>
                </a:solidFill>
                <a:latin typeface="Consolas"/>
              </a:rPr>
              <a:t>int main(){</a:t>
            </a:r>
          </a:p>
          <a:p>
            <a:pPr algn="l">
              <a:lnSpc>
                <a:spcPct val="100000"/>
              </a:lnSpc>
              <a:spcAft>
                <a:spcPts val="0"/>
              </a:spcAft>
            </a:pPr>
            <a:r>
              <a:rPr sz="1400">
                <a:solidFill>
                  <a:srgbClr val="E6EDF3"/>
                </a:solidFill>
                <a:latin typeface="Consolas"/>
              </a:rPr>
              <a:t>    int i;</a:t>
            </a:r>
          </a:p>
          <a:p>
            <a:pPr algn="l">
              <a:lnSpc>
                <a:spcPct val="100000"/>
              </a:lnSpc>
              <a:spcAft>
                <a:spcPts val="0"/>
              </a:spcAft>
            </a:pPr>
            <a:r>
              <a:rPr sz="1400">
                <a:solidFill>
                  <a:srgbClr val="E6EDF3"/>
                </a:solidFill>
                <a:latin typeface="Consolas"/>
              </a:rPr>
              <a:t>    for(i = 1; i &lt;= 4; i++){</a:t>
            </a:r>
          </a:p>
          <a:p>
            <a:pPr algn="l">
              <a:lnSpc>
                <a:spcPct val="100000"/>
              </a:lnSpc>
              <a:spcAft>
                <a:spcPts val="0"/>
              </a:spcAft>
            </a:pPr>
            <a:r>
              <a:rPr sz="1400">
                <a:solidFill>
                  <a:srgbClr val="E6EDF3"/>
                </a:solidFill>
                <a:latin typeface="Consolas"/>
              </a:rPr>
              <a:t>        cout &lt;&lt; "28tech.com.vn\n";</a:t>
            </a:r>
          </a:p>
          <a:p>
            <a:pPr algn="l">
              <a:lnSpc>
                <a:spcPct val="100000"/>
              </a:lnSpc>
              <a:spcAft>
                <a:spcPts val="0"/>
              </a:spcAft>
            </a:pPr>
            <a:r>
              <a:rPr sz="1400">
                <a:solidFill>
                  <a:srgbClr val="E6EDF3"/>
                </a:solidFill>
                <a:latin typeface="Consolas"/>
              </a:rPr>
              <a:t>    }</a:t>
            </a:r>
          </a:p>
          <a:p>
            <a:pPr algn="l">
              <a:lnSpc>
                <a:spcPct val="100000"/>
              </a:lnSpc>
              <a:spcAft>
                <a:spcPts val="0"/>
              </a:spcAft>
            </a:pPr>
            <a:r>
              <a:rPr sz="1400">
                <a:solidFill>
                  <a:srgbClr val="E6EDF3"/>
                </a:solidFill>
                <a:latin typeface="Consolas"/>
              </a:rPr>
              <a:t>    return 0;</a:t>
            </a:r>
          </a:p>
          <a:p>
            <a:pPr algn="l">
              <a:lnSpc>
                <a:spcPct val="100000"/>
              </a:lnSpc>
              <a:spcAft>
                <a:spcPts val="0"/>
              </a:spcAft>
            </a:pPr>
            <a:r>
              <a:rPr sz="1400">
                <a:solidFill>
                  <a:srgbClr val="E6EDF3"/>
                </a:solidFill>
                <a:latin typeface="Consolas"/>
              </a:rPr>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30352"/>
            <a:ext cx="77724" cy="457200"/>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37215" cy="731520"/>
          </a:xfrm>
          <a:prstGeom prst="rect">
            <a:avLst/>
          </a:prstGeom>
          <a:noFill/>
        </p:spPr>
        <p:txBody>
          <a:bodyPr wrap="square">
            <a:spAutoFit/>
          </a:bodyPr>
          <a:lstStyle/>
          <a:p>
            <a:r>
              <a:rPr sz="2500" b="1">
                <a:solidFill>
                  <a:srgbClr val="142B45"/>
                </a:solidFill>
                <a:latin typeface="Calibri"/>
              </a:rPr>
              <a:t>1. Vòng Lặp For (tiếp)</a:t>
            </a:r>
          </a:p>
        </p:txBody>
      </p:sp>
      <p:sp>
        <p:nvSpPr>
          <p:cNvPr id="5" name="TextBox 4"/>
          <p:cNvSpPr txBox="1"/>
          <p:nvPr/>
        </p:nvSpPr>
        <p:spPr>
          <a:xfrm>
            <a:off x="640080" y="100584"/>
            <a:ext cx="10911535" cy="256032"/>
          </a:xfrm>
          <a:prstGeom prst="rect">
            <a:avLst/>
          </a:prstGeom>
          <a:noFill/>
        </p:spPr>
        <p:txBody>
          <a:bodyPr wrap="none">
            <a:spAutoFit/>
          </a:bodyPr>
          <a:lstStyle/>
          <a:p>
            <a:pPr algn="r"/>
            <a:r>
              <a:rPr sz="1050">
                <a:solidFill>
                  <a:srgbClr val="6B7280"/>
                </a:solidFill>
                <a:latin typeface="Calibri"/>
              </a:rPr>
              <a:t>[C++]. Vòng Lặp For</a:t>
            </a:r>
          </a:p>
        </p:txBody>
      </p:sp>
      <p:sp>
        <p:nvSpPr>
          <p:cNvPr id="6" name="TextBox 5"/>
          <p:cNvSpPr txBox="1"/>
          <p:nvPr/>
        </p:nvSpPr>
        <p:spPr>
          <a:xfrm>
            <a:off x="640080" y="1298448"/>
            <a:ext cx="10911535" cy="379476"/>
          </a:xfrm>
          <a:prstGeom prst="rect">
            <a:avLst/>
          </a:prstGeom>
          <a:noFill/>
        </p:spPr>
        <p:txBody>
          <a:bodyPr wrap="square" lIns="0" rIns="0" tIns="0" bIns="0" anchor="t">
            <a:noAutofit/>
          </a:bodyPr>
          <a:lstStyle/>
          <a:p>
            <a:pPr algn="l"/>
            <a:r>
              <a:rPr sz="1650">
                <a:solidFill>
                  <a:srgbClr val="1F2A37"/>
                </a:solidFill>
                <a:latin typeface="Calibri"/>
              </a:rPr>
              <a:t>Output :</a:t>
            </a:r>
          </a:p>
        </p:txBody>
      </p:sp>
      <p:sp>
        <p:nvSpPr>
          <p:cNvPr id="7" name="Rectangle 6"/>
          <p:cNvSpPr/>
          <p:nvPr/>
        </p:nvSpPr>
        <p:spPr>
          <a:xfrm>
            <a:off x="640080" y="1677924"/>
            <a:ext cx="10911535" cy="122936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787652"/>
            <a:ext cx="10545775" cy="1028191"/>
          </a:xfrm>
          <a:prstGeom prst="rect">
            <a:avLst/>
          </a:prstGeom>
          <a:noFill/>
        </p:spPr>
        <p:txBody>
          <a:bodyPr wrap="square" lIns="0" rIns="0" tIns="0" bIns="0" anchor="t">
            <a:noAutofit/>
          </a:bodyPr>
          <a:lstStyle/>
          <a:p>
            <a:pPr algn="l">
              <a:lnSpc>
                <a:spcPct val="100000"/>
              </a:lnSpc>
              <a:spcAft>
                <a:spcPts val="0"/>
              </a:spcAft>
            </a:pPr>
            <a:r>
              <a:rPr sz="1400">
                <a:solidFill>
                  <a:srgbClr val="E6EDF3"/>
                </a:solidFill>
                <a:latin typeface="Consolas"/>
              </a:rPr>
              <a:t>28tech.com.vn</a:t>
            </a:r>
          </a:p>
          <a:p>
            <a:pPr algn="l">
              <a:lnSpc>
                <a:spcPct val="100000"/>
              </a:lnSpc>
              <a:spcAft>
                <a:spcPts val="0"/>
              </a:spcAft>
            </a:pPr>
            <a:r>
              <a:rPr sz="1400">
                <a:solidFill>
                  <a:srgbClr val="E6EDF3"/>
                </a:solidFill>
                <a:latin typeface="Consolas"/>
              </a:rPr>
              <a:t>28tech.com.vn</a:t>
            </a:r>
          </a:p>
          <a:p>
            <a:pPr algn="l">
              <a:lnSpc>
                <a:spcPct val="100000"/>
              </a:lnSpc>
              <a:spcAft>
                <a:spcPts val="0"/>
              </a:spcAft>
            </a:pPr>
            <a:r>
              <a:rPr sz="1400">
                <a:solidFill>
                  <a:srgbClr val="E6EDF3"/>
                </a:solidFill>
                <a:latin typeface="Consolas"/>
              </a:rPr>
              <a:t>28tech.com.vn</a:t>
            </a:r>
          </a:p>
          <a:p>
            <a:pPr algn="l">
              <a:lnSpc>
                <a:spcPct val="100000"/>
              </a:lnSpc>
              <a:spcAft>
                <a:spcPts val="0"/>
              </a:spcAft>
            </a:pPr>
            <a:r>
              <a:rPr sz="1400">
                <a:solidFill>
                  <a:srgbClr val="E6EDF3"/>
                </a:solidFill>
                <a:latin typeface="Consolas"/>
              </a:rPr>
              <a:t>28tech.com.vn</a:t>
            </a:r>
          </a:p>
        </p:txBody>
      </p:sp>
      <p:sp>
        <p:nvSpPr>
          <p:cNvPr id="9" name="TextBox 8"/>
          <p:cNvSpPr txBox="1"/>
          <p:nvPr/>
        </p:nvSpPr>
        <p:spPr>
          <a:xfrm>
            <a:off x="640080" y="2998724"/>
            <a:ext cx="10911535" cy="379476"/>
          </a:xfrm>
          <a:prstGeom prst="rect">
            <a:avLst/>
          </a:prstGeom>
          <a:noFill/>
        </p:spPr>
        <p:txBody>
          <a:bodyPr wrap="square" lIns="0" rIns="0" tIns="0" bIns="0" anchor="t">
            <a:noAutofit/>
          </a:bodyPr>
          <a:lstStyle/>
          <a:p>
            <a:pPr algn="l"/>
            <a:r>
              <a:rPr sz="1650">
                <a:solidFill>
                  <a:srgbClr val="1F2A37"/>
                </a:solidFill>
                <a:latin typeface="Calibri"/>
              </a:rPr>
              <a:t>Giải thích :</a:t>
            </a:r>
          </a:p>
        </p:txBody>
      </p:sp>
      <p:sp>
        <p:nvSpPr>
          <p:cNvPr id="10" name="TextBox 9"/>
          <p:cNvSpPr txBox="1"/>
          <p:nvPr/>
        </p:nvSpPr>
        <p:spPr>
          <a:xfrm>
            <a:off x="640080" y="3378200"/>
            <a:ext cx="10911535" cy="2862072"/>
          </a:xfrm>
          <a:prstGeom prst="rect">
            <a:avLst/>
          </a:prstGeom>
          <a:noFill/>
        </p:spPr>
        <p:txBody>
          <a:bodyPr wrap="square" lIns="0" rIns="0" tIns="0" bIns="0" anchor="t">
            <a:noAutofit/>
          </a:bodyPr>
          <a:lstStyle/>
          <a:p>
            <a:pPr algn="l">
              <a:spcAft>
                <a:spcPts val="500"/>
              </a:spcAft>
            </a:pPr>
            <a:r>
              <a:rPr sz="1550">
                <a:solidFill>
                  <a:srgbClr val="3598DB"/>
                </a:solidFill>
                <a:latin typeface="Calibri"/>
              </a:rPr>
              <a:t>•  </a:t>
            </a:r>
            <a:r>
              <a:rPr sz="1550">
                <a:solidFill>
                  <a:srgbClr val="1F2A37"/>
                </a:solidFill>
                <a:latin typeface="Calibri"/>
              </a:rPr>
              <a:t>Biến i được khởi tạo giá trị bằng 1, sau đó kiểm tra điều kiện i &lt;= 4 sẽ có giá trị đúng. Vòng lặp thực hiện lần thứ 1 và in ra 28tech.com.vn</a:t>
            </a:r>
          </a:p>
          <a:p>
            <a:pPr algn="l">
              <a:spcAft>
                <a:spcPts val="500"/>
              </a:spcAft>
            </a:pPr>
            <a:r>
              <a:rPr sz="1550">
                <a:solidFill>
                  <a:srgbClr val="3598DB"/>
                </a:solidFill>
                <a:latin typeface="Calibri"/>
              </a:rPr>
              <a:t>•  </a:t>
            </a:r>
            <a:r>
              <a:rPr sz="1550">
                <a:solidFill>
                  <a:srgbClr val="1F2A37"/>
                </a:solidFill>
                <a:latin typeface="Calibri"/>
              </a:rPr>
              <a:t>Biến i sau câu lệnh cập nhật i++ sẽ có giá trị 2, kiểm tra điều kiện i &lt;= 4 sẽ có giá trị đúng. Vòng lặp thực hiện lần thứ 2 và in ra 28tech.com.vn</a:t>
            </a:r>
          </a:p>
          <a:p>
            <a:pPr algn="l">
              <a:spcAft>
                <a:spcPts val="500"/>
              </a:spcAft>
            </a:pPr>
            <a:r>
              <a:rPr sz="1550">
                <a:solidFill>
                  <a:srgbClr val="3598DB"/>
                </a:solidFill>
                <a:latin typeface="Calibri"/>
              </a:rPr>
              <a:t>•  </a:t>
            </a:r>
            <a:r>
              <a:rPr sz="1550">
                <a:solidFill>
                  <a:srgbClr val="1F2A37"/>
                </a:solidFill>
                <a:latin typeface="Calibri"/>
              </a:rPr>
              <a:t>Biến i sau câu lệnh cập nhật i++ sẽ có giá trị 3, kiểm tra điều kiện i &lt;= 4 sẽ có giá trị đúng. Vòng lặp thực hiện lần thứ 3 và in ra 28tech.com.vn</a:t>
            </a:r>
          </a:p>
          <a:p>
            <a:pPr algn="l">
              <a:spcAft>
                <a:spcPts val="500"/>
              </a:spcAft>
            </a:pPr>
            <a:r>
              <a:rPr sz="1550">
                <a:solidFill>
                  <a:srgbClr val="3598DB"/>
                </a:solidFill>
                <a:latin typeface="Calibri"/>
              </a:rPr>
              <a:t>•  </a:t>
            </a:r>
            <a:r>
              <a:rPr sz="1550">
                <a:solidFill>
                  <a:srgbClr val="1F2A37"/>
                </a:solidFill>
                <a:latin typeface="Calibri"/>
              </a:rPr>
              <a:t>Biến i sau câu lệnh cập nhật i++ sẽ có giá trị 4, kiểm tra điều kiện i &lt;= 4 sẽ có giá trị đúng. Vòng lặp thực hiện lần thứ 4 và in ra 28tech.com.vn</a:t>
            </a:r>
          </a:p>
          <a:p>
            <a:pPr algn="l">
              <a:spcAft>
                <a:spcPts val="500"/>
              </a:spcAft>
            </a:pPr>
            <a:r>
              <a:rPr sz="1550">
                <a:solidFill>
                  <a:srgbClr val="3598DB"/>
                </a:solidFill>
                <a:latin typeface="Calibri"/>
              </a:rPr>
              <a:t>•  </a:t>
            </a:r>
            <a:r>
              <a:rPr sz="1550">
                <a:solidFill>
                  <a:srgbClr val="1F2A37"/>
                </a:solidFill>
                <a:latin typeface="Calibri"/>
              </a:rPr>
              <a:t>Biến i sau câu lệnh cập nhật i++ sẽ có giá trị 5, kiểm tra điều kiện i &lt;= 5 sẽ có giá trị sai. Vòng lặp kết thúc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30352"/>
            <a:ext cx="77724" cy="457200"/>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37215" cy="731520"/>
          </a:xfrm>
          <a:prstGeom prst="rect">
            <a:avLst/>
          </a:prstGeom>
          <a:noFill/>
        </p:spPr>
        <p:txBody>
          <a:bodyPr wrap="square">
            <a:spAutoFit/>
          </a:bodyPr>
          <a:lstStyle/>
          <a:p>
            <a:r>
              <a:rPr sz="2500" b="1">
                <a:solidFill>
                  <a:srgbClr val="142B45"/>
                </a:solidFill>
                <a:latin typeface="Calibri"/>
              </a:rPr>
              <a:t>2. Sơ Đồ Khối Vòng Lặp For</a:t>
            </a:r>
          </a:p>
        </p:txBody>
      </p:sp>
      <p:sp>
        <p:nvSpPr>
          <p:cNvPr id="5" name="TextBox 4"/>
          <p:cNvSpPr txBox="1"/>
          <p:nvPr/>
        </p:nvSpPr>
        <p:spPr>
          <a:xfrm>
            <a:off x="640080" y="100584"/>
            <a:ext cx="10911535" cy="256032"/>
          </a:xfrm>
          <a:prstGeom prst="rect">
            <a:avLst/>
          </a:prstGeom>
          <a:noFill/>
        </p:spPr>
        <p:txBody>
          <a:bodyPr wrap="none">
            <a:spAutoFit/>
          </a:bodyPr>
          <a:lstStyle/>
          <a:p>
            <a:pPr algn="r"/>
            <a:r>
              <a:rPr sz="1050">
                <a:solidFill>
                  <a:srgbClr val="6B7280"/>
                </a:solidFill>
                <a:latin typeface="Calibri"/>
              </a:rPr>
              <a:t>[C++]. Vòng Lặp For</a:t>
            </a:r>
          </a:p>
        </p:txBody>
      </p:sp>
      <p:sp>
        <p:nvSpPr>
          <p:cNvPr id="6" name="TextBox 5"/>
          <p:cNvSpPr txBox="1"/>
          <p:nvPr/>
        </p:nvSpPr>
        <p:spPr>
          <a:xfrm>
            <a:off x="640080" y="1298448"/>
            <a:ext cx="10911535" cy="379476"/>
          </a:xfrm>
          <a:prstGeom prst="rect">
            <a:avLst/>
          </a:prstGeom>
          <a:noFill/>
        </p:spPr>
        <p:txBody>
          <a:bodyPr wrap="square" lIns="0" rIns="0" tIns="0" bIns="0" anchor="t">
            <a:noAutofit/>
          </a:bodyPr>
          <a:lstStyle/>
          <a:p>
            <a:pPr algn="l"/>
            <a:r>
              <a:rPr sz="1650">
                <a:solidFill>
                  <a:srgbClr val="1F2A37"/>
                </a:solidFill>
                <a:latin typeface="Calibri"/>
              </a:rPr>
              <a:t>Sơ đồ khối mô tả trực quan cách vòng for hoạt động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30352"/>
            <a:ext cx="77724" cy="457200"/>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37215" cy="731520"/>
          </a:xfrm>
          <a:prstGeom prst="rect">
            <a:avLst/>
          </a:prstGeom>
          <a:noFill/>
        </p:spPr>
        <p:txBody>
          <a:bodyPr wrap="square">
            <a:spAutoFit/>
          </a:bodyPr>
          <a:lstStyle/>
          <a:p>
            <a:r>
              <a:rPr sz="2500" b="1">
                <a:solidFill>
                  <a:srgbClr val="142B45"/>
                </a:solidFill>
                <a:latin typeface="Calibri"/>
              </a:rPr>
              <a:t>2. Sơ Đồ Khối Vòng Lặp For (tiếp)</a:t>
            </a:r>
          </a:p>
        </p:txBody>
      </p:sp>
      <p:sp>
        <p:nvSpPr>
          <p:cNvPr id="5" name="TextBox 4"/>
          <p:cNvSpPr txBox="1"/>
          <p:nvPr/>
        </p:nvSpPr>
        <p:spPr>
          <a:xfrm>
            <a:off x="640080" y="100584"/>
            <a:ext cx="10911535" cy="256032"/>
          </a:xfrm>
          <a:prstGeom prst="rect">
            <a:avLst/>
          </a:prstGeom>
          <a:noFill/>
        </p:spPr>
        <p:txBody>
          <a:bodyPr wrap="none">
            <a:spAutoFit/>
          </a:bodyPr>
          <a:lstStyle/>
          <a:p>
            <a:pPr algn="r"/>
            <a:r>
              <a:rPr sz="1050">
                <a:solidFill>
                  <a:srgbClr val="6B7280"/>
                </a:solidFill>
                <a:latin typeface="Calibri"/>
              </a:rPr>
              <a:t>[C++]. Vòng Lặp For</a:t>
            </a:r>
          </a:p>
        </p:txBody>
      </p:sp>
      <p:pic>
        <p:nvPicPr>
          <p:cNvPr id="6" name="Picture 5" descr="4e670b8162c46167.png"/>
          <p:cNvPicPr>
            <a:picLocks noChangeAspect="1"/>
          </p:cNvPicPr>
          <p:nvPr/>
        </p:nvPicPr>
        <p:blipFill>
          <a:blip r:embed="rId2"/>
          <a:stretch>
            <a:fillRect/>
          </a:stretch>
        </p:blipFill>
        <p:spPr>
          <a:xfrm>
            <a:off x="3591643" y="1298448"/>
            <a:ext cx="5008407" cy="505663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30352"/>
            <a:ext cx="77724" cy="457200"/>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37215" cy="731520"/>
          </a:xfrm>
          <a:prstGeom prst="rect">
            <a:avLst/>
          </a:prstGeom>
          <a:noFill/>
        </p:spPr>
        <p:txBody>
          <a:bodyPr wrap="square">
            <a:spAutoFit/>
          </a:bodyPr>
          <a:lstStyle/>
          <a:p>
            <a:r>
              <a:rPr sz="2500" b="1">
                <a:solidFill>
                  <a:srgbClr val="142B45"/>
                </a:solidFill>
                <a:latin typeface="Calibri"/>
              </a:rPr>
              <a:t>3. Ví Dụ</a:t>
            </a:r>
          </a:p>
        </p:txBody>
      </p:sp>
      <p:sp>
        <p:nvSpPr>
          <p:cNvPr id="5" name="TextBox 4"/>
          <p:cNvSpPr txBox="1"/>
          <p:nvPr/>
        </p:nvSpPr>
        <p:spPr>
          <a:xfrm>
            <a:off x="640080" y="100584"/>
            <a:ext cx="10911535" cy="256032"/>
          </a:xfrm>
          <a:prstGeom prst="rect">
            <a:avLst/>
          </a:prstGeom>
          <a:noFill/>
        </p:spPr>
        <p:txBody>
          <a:bodyPr wrap="none">
            <a:spAutoFit/>
          </a:bodyPr>
          <a:lstStyle/>
          <a:p>
            <a:pPr algn="r"/>
            <a:r>
              <a:rPr sz="1050">
                <a:solidFill>
                  <a:srgbClr val="6B7280"/>
                </a:solidFill>
                <a:latin typeface="Calibri"/>
              </a:rPr>
              <a:t>[C++]. Vòng Lặp For</a:t>
            </a:r>
          </a:p>
        </p:txBody>
      </p:sp>
      <p:sp>
        <p:nvSpPr>
          <p:cNvPr id="6" name="TextBox 5"/>
          <p:cNvSpPr txBox="1"/>
          <p:nvPr/>
        </p:nvSpPr>
        <p:spPr>
          <a:xfrm>
            <a:off x="640080" y="1298448"/>
            <a:ext cx="10911535" cy="882396"/>
          </a:xfrm>
          <a:prstGeom prst="rect">
            <a:avLst/>
          </a:prstGeom>
          <a:noFill/>
        </p:spPr>
        <p:txBody>
          <a:bodyPr wrap="square" lIns="0" rIns="0" tIns="0" bIns="0" anchor="t">
            <a:noAutofit/>
          </a:bodyPr>
          <a:lstStyle/>
          <a:p>
            <a:pPr algn="l"/>
            <a:r>
              <a:rPr sz="1650">
                <a:solidFill>
                  <a:srgbClr val="1F2A37"/>
                </a:solidFill>
                <a:latin typeface="Calibri"/>
              </a:rPr>
              <a:t>Các ví dụ dưới đây sẽ giúp các bạn làm quen với các vòng lặp thường xuyên được sử dụng, bạn cố gắng viết ra giấy từng bước của vòng lặp như phần giải thích của mình ở mục 1 để hiểu rõ hơn cách vòng for chạy.</a:t>
            </a:r>
          </a:p>
        </p:txBody>
      </p:sp>
      <p:sp>
        <p:nvSpPr>
          <p:cNvPr id="7" name="TextBox 6"/>
          <p:cNvSpPr txBox="1"/>
          <p:nvPr/>
        </p:nvSpPr>
        <p:spPr>
          <a:xfrm>
            <a:off x="640080" y="2180844"/>
            <a:ext cx="10911535" cy="379476"/>
          </a:xfrm>
          <a:prstGeom prst="rect">
            <a:avLst/>
          </a:prstGeom>
          <a:noFill/>
        </p:spPr>
        <p:txBody>
          <a:bodyPr wrap="square" lIns="0" rIns="0" tIns="0" bIns="0" anchor="t">
            <a:noAutofit/>
          </a:bodyPr>
          <a:lstStyle/>
          <a:p>
            <a:pPr algn="l"/>
            <a:r>
              <a:rPr sz="1650">
                <a:solidFill>
                  <a:srgbClr val="1F2A37"/>
                </a:solidFill>
                <a:latin typeface="Calibri"/>
              </a:rPr>
              <a:t>Ví dụ 1 : In ra các số từ 1 đến n và từ n về 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30352"/>
            <a:ext cx="77724" cy="457200"/>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37215" cy="731520"/>
          </a:xfrm>
          <a:prstGeom prst="rect">
            <a:avLst/>
          </a:prstGeom>
          <a:noFill/>
        </p:spPr>
        <p:txBody>
          <a:bodyPr wrap="square">
            <a:spAutoFit/>
          </a:bodyPr>
          <a:lstStyle/>
          <a:p>
            <a:r>
              <a:rPr sz="2500" b="1">
                <a:solidFill>
                  <a:srgbClr val="142B45"/>
                </a:solidFill>
                <a:latin typeface="Calibri"/>
              </a:rPr>
              <a:t>3. Ví Dụ (tiếp)</a:t>
            </a:r>
          </a:p>
        </p:txBody>
      </p:sp>
      <p:sp>
        <p:nvSpPr>
          <p:cNvPr id="5" name="TextBox 4"/>
          <p:cNvSpPr txBox="1"/>
          <p:nvPr/>
        </p:nvSpPr>
        <p:spPr>
          <a:xfrm>
            <a:off x="640080" y="100584"/>
            <a:ext cx="10911535" cy="256032"/>
          </a:xfrm>
          <a:prstGeom prst="rect">
            <a:avLst/>
          </a:prstGeom>
          <a:noFill/>
        </p:spPr>
        <p:txBody>
          <a:bodyPr wrap="none">
            <a:spAutoFit/>
          </a:bodyPr>
          <a:lstStyle/>
          <a:p>
            <a:pPr algn="r"/>
            <a:r>
              <a:rPr sz="1050">
                <a:solidFill>
                  <a:srgbClr val="6B7280"/>
                </a:solidFill>
                <a:latin typeface="Calibri"/>
              </a:rPr>
              <a:t>[C++]. Vòng Lặp For</a:t>
            </a:r>
          </a:p>
        </p:txBody>
      </p:sp>
      <p:sp>
        <p:nvSpPr>
          <p:cNvPr id="6" name="TextBox 5"/>
          <p:cNvSpPr txBox="1"/>
          <p:nvPr/>
        </p:nvSpPr>
        <p:spPr>
          <a:xfrm>
            <a:off x="640080" y="1298448"/>
            <a:ext cx="10911535" cy="630936"/>
          </a:xfrm>
          <a:prstGeom prst="rect">
            <a:avLst/>
          </a:prstGeom>
          <a:noFill/>
        </p:spPr>
        <p:txBody>
          <a:bodyPr wrap="square" lIns="0" rIns="0" tIns="0" bIns="0" anchor="t">
            <a:noAutofit/>
          </a:bodyPr>
          <a:lstStyle/>
          <a:p>
            <a:pPr algn="l"/>
            <a:r>
              <a:rPr sz="1650">
                <a:solidFill>
                  <a:srgbClr val="1F2A37"/>
                </a:solidFill>
                <a:latin typeface="Calibri"/>
              </a:rPr>
              <a:t>Thông thường nếu bạn muốn thực hiện các khối lệnh n lần thì bạn làm vòng for chạy từ 1 tới n.</a:t>
            </a:r>
          </a:p>
        </p:txBody>
      </p:sp>
      <p:sp>
        <p:nvSpPr>
          <p:cNvPr id="7" name="Rectangle 6"/>
          <p:cNvSpPr/>
          <p:nvPr/>
        </p:nvSpPr>
        <p:spPr>
          <a:xfrm>
            <a:off x="640080" y="1929384"/>
            <a:ext cx="10911535" cy="3600831"/>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039112"/>
            <a:ext cx="10545775" cy="3399663"/>
          </a:xfrm>
          <a:prstGeom prst="rect">
            <a:avLst/>
          </a:prstGeom>
          <a:noFill/>
        </p:spPr>
        <p:txBody>
          <a:bodyPr wrap="square" lIns="0" rIns="0" tIns="0" bIns="0" anchor="t">
            <a:noAutofit/>
          </a:bodyPr>
          <a:lstStyle/>
          <a:p>
            <a:pPr algn="l">
              <a:lnSpc>
                <a:spcPct val="100000"/>
              </a:lnSpc>
              <a:spcAft>
                <a:spcPts val="0"/>
              </a:spcAft>
            </a:pPr>
            <a:r>
              <a:rPr sz="1250">
                <a:solidFill>
                  <a:srgbClr val="E6EDF3"/>
                </a:solidFill>
                <a:latin typeface="Consolas"/>
              </a:rPr>
              <a:t>#include "iostream"</a:t>
            </a:r>
          </a:p>
          <a:p>
            <a:pPr algn="l">
              <a:lnSpc>
                <a:spcPct val="100000"/>
              </a:lnSpc>
              <a:spcAft>
                <a:spcPts val="0"/>
              </a:spcAft>
            </a:pPr>
            <a:r>
              <a:rPr sz="1250">
                <a:solidFill>
                  <a:srgbClr val="E6EDF3"/>
                </a:solidFill>
                <a:latin typeface="Consolas"/>
              </a:rPr>
              <a:t> </a:t>
            </a:r>
          </a:p>
          <a:p>
            <a:pPr algn="l">
              <a:lnSpc>
                <a:spcPct val="100000"/>
              </a:lnSpc>
              <a:spcAft>
                <a:spcPts val="0"/>
              </a:spcAft>
            </a:pPr>
            <a:r>
              <a:rPr sz="1250">
                <a:solidFill>
                  <a:srgbClr val="E6EDF3"/>
                </a:solidFill>
                <a:latin typeface="Consolas"/>
              </a:rPr>
              <a:t>using namespace std;</a:t>
            </a:r>
          </a:p>
          <a:p>
            <a:pPr algn="l">
              <a:lnSpc>
                <a:spcPct val="100000"/>
              </a:lnSpc>
              <a:spcAft>
                <a:spcPts val="0"/>
              </a:spcAft>
            </a:pPr>
            <a:r>
              <a:rPr sz="1250">
                <a:solidFill>
                  <a:srgbClr val="E6EDF3"/>
                </a:solidFill>
                <a:latin typeface="Consolas"/>
              </a:rPr>
              <a:t> </a:t>
            </a:r>
          </a:p>
          <a:p>
            <a:pPr algn="l">
              <a:lnSpc>
                <a:spcPct val="100000"/>
              </a:lnSpc>
              <a:spcAft>
                <a:spcPts val="0"/>
              </a:spcAft>
            </a:pPr>
            <a:r>
              <a:rPr sz="1250">
                <a:solidFill>
                  <a:srgbClr val="E6EDF3"/>
                </a:solidFill>
                <a:latin typeface="Consolas"/>
              </a:rPr>
              <a:t>int main(){</a:t>
            </a:r>
          </a:p>
          <a:p>
            <a:pPr algn="l">
              <a:lnSpc>
                <a:spcPct val="100000"/>
              </a:lnSpc>
              <a:spcAft>
                <a:spcPts val="0"/>
              </a:spcAft>
            </a:pPr>
            <a:r>
              <a:rPr sz="1250">
                <a:solidFill>
                  <a:srgbClr val="E6EDF3"/>
                </a:solidFill>
                <a:latin typeface="Consolas"/>
              </a:rPr>
              <a:t>    int n = 10;</a:t>
            </a:r>
          </a:p>
          <a:p>
            <a:pPr algn="l">
              <a:lnSpc>
                <a:spcPct val="100000"/>
              </a:lnSpc>
              <a:spcAft>
                <a:spcPts val="0"/>
              </a:spcAft>
            </a:pPr>
            <a:r>
              <a:rPr sz="1250">
                <a:solidFill>
                  <a:srgbClr val="E6EDF3"/>
                </a:solidFill>
                <a:latin typeface="Consolas"/>
              </a:rPr>
              <a:t>    for(int i = 1; i &lt;= n; i++){</a:t>
            </a:r>
          </a:p>
          <a:p>
            <a:pPr algn="l">
              <a:lnSpc>
                <a:spcPct val="100000"/>
              </a:lnSpc>
              <a:spcAft>
                <a:spcPts val="0"/>
              </a:spcAft>
            </a:pPr>
            <a:r>
              <a:rPr sz="1250">
                <a:solidFill>
                  <a:srgbClr val="E6EDF3"/>
                </a:solidFill>
                <a:latin typeface="Consolas"/>
              </a:rPr>
              <a:t>        cout &lt;&lt; i &lt;&lt; " ";</a:t>
            </a:r>
          </a:p>
          <a:p>
            <a:pPr algn="l">
              <a:lnSpc>
                <a:spcPct val="100000"/>
              </a:lnSpc>
              <a:spcAft>
                <a:spcPts val="0"/>
              </a:spcAft>
            </a:pPr>
            <a:r>
              <a:rPr sz="1250">
                <a:solidFill>
                  <a:srgbClr val="E6EDF3"/>
                </a:solidFill>
                <a:latin typeface="Consolas"/>
              </a:rPr>
              <a:t>    }</a:t>
            </a:r>
          </a:p>
          <a:p>
            <a:pPr algn="l">
              <a:lnSpc>
                <a:spcPct val="100000"/>
              </a:lnSpc>
              <a:spcAft>
                <a:spcPts val="0"/>
              </a:spcAft>
            </a:pPr>
            <a:r>
              <a:rPr sz="1250">
                <a:solidFill>
                  <a:srgbClr val="E6EDF3"/>
                </a:solidFill>
                <a:latin typeface="Consolas"/>
              </a:rPr>
              <a:t>    cout &lt;&lt; endl;</a:t>
            </a:r>
          </a:p>
          <a:p>
            <a:pPr algn="l">
              <a:lnSpc>
                <a:spcPct val="100000"/>
              </a:lnSpc>
              <a:spcAft>
                <a:spcPts val="0"/>
              </a:spcAft>
            </a:pPr>
            <a:r>
              <a:rPr sz="1250">
                <a:solidFill>
                  <a:srgbClr val="E6EDF3"/>
                </a:solidFill>
                <a:latin typeface="Consolas"/>
              </a:rPr>
              <a:t>    for(int i = n; i &gt;= 0; i--){</a:t>
            </a:r>
          </a:p>
          <a:p>
            <a:pPr algn="l">
              <a:lnSpc>
                <a:spcPct val="100000"/>
              </a:lnSpc>
              <a:spcAft>
                <a:spcPts val="0"/>
              </a:spcAft>
            </a:pPr>
            <a:r>
              <a:rPr sz="1250">
                <a:solidFill>
                  <a:srgbClr val="E6EDF3"/>
                </a:solidFill>
                <a:latin typeface="Consolas"/>
              </a:rPr>
              <a:t>        cout &lt;&lt; i &lt;&lt; " ";</a:t>
            </a:r>
          </a:p>
          <a:p>
            <a:pPr algn="l">
              <a:lnSpc>
                <a:spcPct val="100000"/>
              </a:lnSpc>
              <a:spcAft>
                <a:spcPts val="0"/>
              </a:spcAft>
            </a:pPr>
            <a:r>
              <a:rPr sz="1250">
                <a:solidFill>
                  <a:srgbClr val="E6EDF3"/>
                </a:solidFill>
                <a:latin typeface="Consolas"/>
              </a:rPr>
              <a:t>    }</a:t>
            </a:r>
          </a:p>
          <a:p>
            <a:pPr algn="l">
              <a:lnSpc>
                <a:spcPct val="100000"/>
              </a:lnSpc>
              <a:spcAft>
                <a:spcPts val="0"/>
              </a:spcAft>
            </a:pPr>
            <a:r>
              <a:rPr sz="1250">
                <a:solidFill>
                  <a:srgbClr val="E6EDF3"/>
                </a:solidFill>
                <a:latin typeface="Consolas"/>
              </a:rPr>
              <a:t>    return 0;</a:t>
            </a:r>
          </a:p>
          <a:p>
            <a:pPr algn="l">
              <a:lnSpc>
                <a:spcPct val="100000"/>
              </a:lnSpc>
              <a:spcAft>
                <a:spcPts val="0"/>
              </a:spcAft>
            </a:pPr>
            <a:r>
              <a:rPr sz="1250">
                <a:solidFill>
                  <a:srgbClr val="E6EDF3"/>
                </a:solidFill>
                <a:latin typeface="Consolas"/>
              </a:rP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30352"/>
            <a:ext cx="77724" cy="457200"/>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37215" cy="731520"/>
          </a:xfrm>
          <a:prstGeom prst="rect">
            <a:avLst/>
          </a:prstGeom>
          <a:noFill/>
        </p:spPr>
        <p:txBody>
          <a:bodyPr wrap="square">
            <a:spAutoFit/>
          </a:bodyPr>
          <a:lstStyle/>
          <a:p>
            <a:r>
              <a:rPr sz="2500" b="1">
                <a:solidFill>
                  <a:srgbClr val="142B45"/>
                </a:solidFill>
                <a:latin typeface="Calibri"/>
              </a:rPr>
              <a:t>3. Ví Dụ (tiếp)</a:t>
            </a:r>
          </a:p>
        </p:txBody>
      </p:sp>
      <p:sp>
        <p:nvSpPr>
          <p:cNvPr id="5" name="TextBox 4"/>
          <p:cNvSpPr txBox="1"/>
          <p:nvPr/>
        </p:nvSpPr>
        <p:spPr>
          <a:xfrm>
            <a:off x="640080" y="100584"/>
            <a:ext cx="10911535" cy="256032"/>
          </a:xfrm>
          <a:prstGeom prst="rect">
            <a:avLst/>
          </a:prstGeom>
          <a:noFill/>
        </p:spPr>
        <p:txBody>
          <a:bodyPr wrap="none">
            <a:spAutoFit/>
          </a:bodyPr>
          <a:lstStyle/>
          <a:p>
            <a:pPr algn="r"/>
            <a:r>
              <a:rPr sz="1050">
                <a:solidFill>
                  <a:srgbClr val="6B7280"/>
                </a:solidFill>
                <a:latin typeface="Calibri"/>
              </a:rPr>
              <a:t>[C++]. Vòng Lặp For</a:t>
            </a:r>
          </a:p>
        </p:txBody>
      </p:sp>
      <p:sp>
        <p:nvSpPr>
          <p:cNvPr id="6" name="TextBox 5"/>
          <p:cNvSpPr txBox="1"/>
          <p:nvPr/>
        </p:nvSpPr>
        <p:spPr>
          <a:xfrm>
            <a:off x="640080" y="1298448"/>
            <a:ext cx="10911535" cy="379476"/>
          </a:xfrm>
          <a:prstGeom prst="rect">
            <a:avLst/>
          </a:prstGeom>
          <a:noFill/>
        </p:spPr>
        <p:txBody>
          <a:bodyPr wrap="square" lIns="0" rIns="0" tIns="0" bIns="0" anchor="t">
            <a:noAutofit/>
          </a:bodyPr>
          <a:lstStyle/>
          <a:p>
            <a:pPr algn="l"/>
            <a:r>
              <a:rPr sz="1650">
                <a:solidFill>
                  <a:srgbClr val="1F2A37"/>
                </a:solidFill>
                <a:latin typeface="Calibri"/>
              </a:rPr>
              <a:t>Output :</a:t>
            </a:r>
          </a:p>
        </p:txBody>
      </p:sp>
      <p:sp>
        <p:nvSpPr>
          <p:cNvPr id="7" name="Rectangle 6"/>
          <p:cNvSpPr/>
          <p:nvPr/>
        </p:nvSpPr>
        <p:spPr>
          <a:xfrm>
            <a:off x="640080" y="1677924"/>
            <a:ext cx="10911535" cy="72440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787652"/>
            <a:ext cx="10545775" cy="523239"/>
          </a:xfrm>
          <a:prstGeom prst="rect">
            <a:avLst/>
          </a:prstGeom>
          <a:noFill/>
        </p:spPr>
        <p:txBody>
          <a:bodyPr wrap="square" lIns="0" rIns="0" tIns="0" bIns="0" anchor="t">
            <a:noAutofit/>
          </a:bodyPr>
          <a:lstStyle/>
          <a:p>
            <a:pPr algn="l">
              <a:lnSpc>
                <a:spcPct val="100000"/>
              </a:lnSpc>
              <a:spcAft>
                <a:spcPts val="0"/>
              </a:spcAft>
            </a:pPr>
            <a:r>
              <a:rPr sz="1400">
                <a:solidFill>
                  <a:srgbClr val="E6EDF3"/>
                </a:solidFill>
                <a:latin typeface="Consolas"/>
              </a:rPr>
              <a:t>1 2 3 4 5 6 7 8 9 10 </a:t>
            </a:r>
          </a:p>
          <a:p>
            <a:pPr algn="l">
              <a:lnSpc>
                <a:spcPct val="100000"/>
              </a:lnSpc>
              <a:spcAft>
                <a:spcPts val="0"/>
              </a:spcAft>
            </a:pPr>
            <a:r>
              <a:rPr sz="1400">
                <a:solidFill>
                  <a:srgbClr val="E6EDF3"/>
                </a:solidFill>
                <a:latin typeface="Consolas"/>
              </a:rPr>
              <a:t>10 9 8 7 6 5 4 3 2 1 0</a:t>
            </a:r>
          </a:p>
        </p:txBody>
      </p:sp>
      <p:sp>
        <p:nvSpPr>
          <p:cNvPr id="9" name="TextBox 8"/>
          <p:cNvSpPr txBox="1"/>
          <p:nvPr/>
        </p:nvSpPr>
        <p:spPr>
          <a:xfrm>
            <a:off x="640080" y="2493772"/>
            <a:ext cx="10911535" cy="379476"/>
          </a:xfrm>
          <a:prstGeom prst="rect">
            <a:avLst/>
          </a:prstGeom>
          <a:noFill/>
        </p:spPr>
        <p:txBody>
          <a:bodyPr wrap="square" lIns="0" rIns="0" tIns="0" bIns="0" anchor="t">
            <a:noAutofit/>
          </a:bodyPr>
          <a:lstStyle/>
          <a:p>
            <a:pPr algn="l"/>
            <a:r>
              <a:rPr sz="1650">
                <a:solidFill>
                  <a:srgbClr val="1F2A37"/>
                </a:solidFill>
                <a:latin typeface="Calibri"/>
              </a:rPr>
              <a:t>Ví dụ 2 : In ra các ước của N</a:t>
            </a:r>
          </a:p>
        </p:txBody>
      </p:sp>
      <p:sp>
        <p:nvSpPr>
          <p:cNvPr id="10" name="Rectangle 9"/>
          <p:cNvSpPr/>
          <p:nvPr/>
        </p:nvSpPr>
        <p:spPr>
          <a:xfrm>
            <a:off x="640080" y="2873248"/>
            <a:ext cx="10911535" cy="3149981"/>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982976"/>
            <a:ext cx="10545775" cy="2948813"/>
          </a:xfrm>
          <a:prstGeom prst="rect">
            <a:avLst/>
          </a:prstGeom>
          <a:noFill/>
        </p:spPr>
        <p:txBody>
          <a:bodyPr wrap="square" lIns="0" rIns="0" tIns="0" bIns="0" anchor="t">
            <a:noAutofit/>
          </a:bodyPr>
          <a:lstStyle/>
          <a:p>
            <a:pPr algn="l">
              <a:lnSpc>
                <a:spcPct val="100000"/>
              </a:lnSpc>
              <a:spcAft>
                <a:spcPts val="0"/>
              </a:spcAft>
            </a:pPr>
            <a:r>
              <a:rPr sz="1250">
                <a:solidFill>
                  <a:srgbClr val="E6EDF3"/>
                </a:solidFill>
                <a:latin typeface="Consolas"/>
              </a:rPr>
              <a:t>#include "iostream"</a:t>
            </a:r>
          </a:p>
          <a:p>
            <a:pPr algn="l">
              <a:lnSpc>
                <a:spcPct val="100000"/>
              </a:lnSpc>
              <a:spcAft>
                <a:spcPts val="0"/>
              </a:spcAft>
            </a:pPr>
            <a:r>
              <a:rPr sz="1250">
                <a:solidFill>
                  <a:srgbClr val="E6EDF3"/>
                </a:solidFill>
                <a:latin typeface="Consolas"/>
              </a:rPr>
              <a:t> </a:t>
            </a:r>
          </a:p>
          <a:p>
            <a:pPr algn="l">
              <a:lnSpc>
                <a:spcPct val="100000"/>
              </a:lnSpc>
              <a:spcAft>
                <a:spcPts val="0"/>
              </a:spcAft>
            </a:pPr>
            <a:r>
              <a:rPr sz="1250">
                <a:solidFill>
                  <a:srgbClr val="E6EDF3"/>
                </a:solidFill>
                <a:latin typeface="Consolas"/>
              </a:rPr>
              <a:t>using namespace std;</a:t>
            </a:r>
          </a:p>
          <a:p>
            <a:pPr algn="l">
              <a:lnSpc>
                <a:spcPct val="100000"/>
              </a:lnSpc>
              <a:spcAft>
                <a:spcPts val="0"/>
              </a:spcAft>
            </a:pPr>
            <a:r>
              <a:rPr sz="1250">
                <a:solidFill>
                  <a:srgbClr val="E6EDF3"/>
                </a:solidFill>
                <a:latin typeface="Consolas"/>
              </a:rPr>
              <a:t> </a:t>
            </a:r>
          </a:p>
          <a:p>
            <a:pPr algn="l">
              <a:lnSpc>
                <a:spcPct val="100000"/>
              </a:lnSpc>
              <a:spcAft>
                <a:spcPts val="0"/>
              </a:spcAft>
            </a:pPr>
            <a:r>
              <a:rPr sz="1250">
                <a:solidFill>
                  <a:srgbClr val="E6EDF3"/>
                </a:solidFill>
                <a:latin typeface="Consolas"/>
              </a:rPr>
              <a:t>int main(){</a:t>
            </a:r>
          </a:p>
          <a:p>
            <a:pPr algn="l">
              <a:lnSpc>
                <a:spcPct val="100000"/>
              </a:lnSpc>
              <a:spcAft>
                <a:spcPts val="0"/>
              </a:spcAft>
            </a:pPr>
            <a:r>
              <a:rPr sz="1250">
                <a:solidFill>
                  <a:srgbClr val="E6EDF3"/>
                </a:solidFill>
                <a:latin typeface="Consolas"/>
              </a:rPr>
              <a:t>    int n = 100;</a:t>
            </a:r>
          </a:p>
          <a:p>
            <a:pPr algn="l">
              <a:lnSpc>
                <a:spcPct val="100000"/>
              </a:lnSpc>
              <a:spcAft>
                <a:spcPts val="0"/>
              </a:spcAft>
            </a:pPr>
            <a:r>
              <a:rPr sz="1250">
                <a:solidFill>
                  <a:srgbClr val="E6EDF3"/>
                </a:solidFill>
                <a:latin typeface="Consolas"/>
              </a:rPr>
              <a:t>    for(int i = 1; i &lt;= n; i++){</a:t>
            </a:r>
          </a:p>
          <a:p>
            <a:pPr algn="l">
              <a:lnSpc>
                <a:spcPct val="100000"/>
              </a:lnSpc>
              <a:spcAft>
                <a:spcPts val="0"/>
              </a:spcAft>
            </a:pPr>
            <a:r>
              <a:rPr sz="1250">
                <a:solidFill>
                  <a:srgbClr val="E6EDF3"/>
                </a:solidFill>
                <a:latin typeface="Consolas"/>
              </a:rPr>
              <a:t>        if(n % i == 0){</a:t>
            </a:r>
          </a:p>
          <a:p>
            <a:pPr algn="l">
              <a:lnSpc>
                <a:spcPct val="100000"/>
              </a:lnSpc>
              <a:spcAft>
                <a:spcPts val="0"/>
              </a:spcAft>
            </a:pPr>
            <a:r>
              <a:rPr sz="1250">
                <a:solidFill>
                  <a:srgbClr val="E6EDF3"/>
                </a:solidFill>
                <a:latin typeface="Consolas"/>
              </a:rPr>
              <a:t>            cout &lt;&lt; i &lt;&lt; ' ';</a:t>
            </a:r>
          </a:p>
          <a:p>
            <a:pPr algn="l">
              <a:lnSpc>
                <a:spcPct val="100000"/>
              </a:lnSpc>
              <a:spcAft>
                <a:spcPts val="0"/>
              </a:spcAft>
            </a:pPr>
            <a:r>
              <a:rPr sz="1250">
                <a:solidFill>
                  <a:srgbClr val="E6EDF3"/>
                </a:solidFill>
                <a:latin typeface="Consolas"/>
              </a:rPr>
              <a:t>        }</a:t>
            </a:r>
          </a:p>
          <a:p>
            <a:pPr algn="l">
              <a:lnSpc>
                <a:spcPct val="100000"/>
              </a:lnSpc>
              <a:spcAft>
                <a:spcPts val="0"/>
              </a:spcAft>
            </a:pPr>
            <a:r>
              <a:rPr sz="1250">
                <a:solidFill>
                  <a:srgbClr val="E6EDF3"/>
                </a:solidFill>
                <a:latin typeface="Consolas"/>
              </a:rPr>
              <a:t>    }</a:t>
            </a:r>
          </a:p>
          <a:p>
            <a:pPr algn="l">
              <a:lnSpc>
                <a:spcPct val="100000"/>
              </a:lnSpc>
              <a:spcAft>
                <a:spcPts val="0"/>
              </a:spcAft>
            </a:pPr>
            <a:r>
              <a:rPr sz="1250">
                <a:solidFill>
                  <a:srgbClr val="E6EDF3"/>
                </a:solidFill>
                <a:latin typeface="Consolas"/>
              </a:rPr>
              <a:t>    return 0;</a:t>
            </a:r>
          </a:p>
          <a:p>
            <a:pPr algn="l">
              <a:lnSpc>
                <a:spcPct val="100000"/>
              </a:lnSpc>
              <a:spcAft>
                <a:spcPts val="0"/>
              </a:spcAft>
            </a:pPr>
            <a:r>
              <a:rPr sz="1250">
                <a:solidFill>
                  <a:srgbClr val="E6EDF3"/>
                </a:solidFill>
                <a:latin typeface="Consolas"/>
              </a:rPr>
              <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30352"/>
            <a:ext cx="77724" cy="457200"/>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37215" cy="731520"/>
          </a:xfrm>
          <a:prstGeom prst="rect">
            <a:avLst/>
          </a:prstGeom>
          <a:noFill/>
        </p:spPr>
        <p:txBody>
          <a:bodyPr wrap="square">
            <a:spAutoFit/>
          </a:bodyPr>
          <a:lstStyle/>
          <a:p>
            <a:r>
              <a:rPr sz="2500" b="1">
                <a:solidFill>
                  <a:srgbClr val="142B45"/>
                </a:solidFill>
                <a:latin typeface="Calibri"/>
              </a:rPr>
              <a:t>3. Ví Dụ (tiếp)</a:t>
            </a:r>
          </a:p>
        </p:txBody>
      </p:sp>
      <p:sp>
        <p:nvSpPr>
          <p:cNvPr id="5" name="TextBox 4"/>
          <p:cNvSpPr txBox="1"/>
          <p:nvPr/>
        </p:nvSpPr>
        <p:spPr>
          <a:xfrm>
            <a:off x="640080" y="100584"/>
            <a:ext cx="10911535" cy="256032"/>
          </a:xfrm>
          <a:prstGeom prst="rect">
            <a:avLst/>
          </a:prstGeom>
          <a:noFill/>
        </p:spPr>
        <p:txBody>
          <a:bodyPr wrap="none">
            <a:spAutoFit/>
          </a:bodyPr>
          <a:lstStyle/>
          <a:p>
            <a:pPr algn="r"/>
            <a:r>
              <a:rPr sz="1050">
                <a:solidFill>
                  <a:srgbClr val="6B7280"/>
                </a:solidFill>
                <a:latin typeface="Calibri"/>
              </a:rPr>
              <a:t>[C++]. Vòng Lặp For</a:t>
            </a:r>
          </a:p>
        </p:txBody>
      </p:sp>
      <p:sp>
        <p:nvSpPr>
          <p:cNvPr id="6" name="TextBox 5"/>
          <p:cNvSpPr txBox="1"/>
          <p:nvPr/>
        </p:nvSpPr>
        <p:spPr>
          <a:xfrm>
            <a:off x="640080" y="1298448"/>
            <a:ext cx="10911535" cy="379476"/>
          </a:xfrm>
          <a:prstGeom prst="rect">
            <a:avLst/>
          </a:prstGeom>
          <a:noFill/>
        </p:spPr>
        <p:txBody>
          <a:bodyPr wrap="square" lIns="0" rIns="0" tIns="0" bIns="0" anchor="t">
            <a:noAutofit/>
          </a:bodyPr>
          <a:lstStyle/>
          <a:p>
            <a:pPr algn="l"/>
            <a:r>
              <a:rPr sz="1650">
                <a:solidFill>
                  <a:srgbClr val="1F2A37"/>
                </a:solidFill>
                <a:latin typeface="Calibri"/>
              </a:rPr>
              <a:t>Output :</a:t>
            </a:r>
          </a:p>
        </p:txBody>
      </p:sp>
      <p:sp>
        <p:nvSpPr>
          <p:cNvPr id="7" name="Rectangle 6"/>
          <p:cNvSpPr/>
          <p:nvPr/>
        </p:nvSpPr>
        <p:spPr>
          <a:xfrm>
            <a:off x="640080" y="1677924"/>
            <a:ext cx="10911535" cy="471931"/>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787652"/>
            <a:ext cx="10545775" cy="270763"/>
          </a:xfrm>
          <a:prstGeom prst="rect">
            <a:avLst/>
          </a:prstGeom>
          <a:noFill/>
        </p:spPr>
        <p:txBody>
          <a:bodyPr wrap="square" lIns="0" rIns="0" tIns="0" bIns="0" anchor="t">
            <a:noAutofit/>
          </a:bodyPr>
          <a:lstStyle/>
          <a:p>
            <a:pPr algn="l">
              <a:lnSpc>
                <a:spcPct val="100000"/>
              </a:lnSpc>
              <a:spcAft>
                <a:spcPts val="0"/>
              </a:spcAft>
            </a:pPr>
            <a:r>
              <a:rPr sz="1400">
                <a:solidFill>
                  <a:srgbClr val="E6EDF3"/>
                </a:solidFill>
                <a:latin typeface="Consolas"/>
              </a:rPr>
              <a:t>1 2 4 5 10 20 25 50 100</a:t>
            </a:r>
          </a:p>
        </p:txBody>
      </p:sp>
      <p:sp>
        <p:nvSpPr>
          <p:cNvPr id="9" name="TextBox 8"/>
          <p:cNvSpPr txBox="1"/>
          <p:nvPr/>
        </p:nvSpPr>
        <p:spPr>
          <a:xfrm>
            <a:off x="640080" y="2241296"/>
            <a:ext cx="10911535" cy="379476"/>
          </a:xfrm>
          <a:prstGeom prst="rect">
            <a:avLst/>
          </a:prstGeom>
          <a:noFill/>
        </p:spPr>
        <p:txBody>
          <a:bodyPr wrap="square" lIns="0" rIns="0" tIns="0" bIns="0" anchor="t">
            <a:noAutofit/>
          </a:bodyPr>
          <a:lstStyle/>
          <a:p>
            <a:pPr algn="l"/>
            <a:r>
              <a:rPr sz="1650">
                <a:solidFill>
                  <a:srgbClr val="1F2A37"/>
                </a:solidFill>
                <a:latin typeface="Calibri"/>
              </a:rPr>
              <a:t>Ví dụ 3 : Tính tổng các ước của N</a:t>
            </a:r>
          </a:p>
        </p:txBody>
      </p:sp>
      <p:sp>
        <p:nvSpPr>
          <p:cNvPr id="10" name="Rectangle 9"/>
          <p:cNvSpPr/>
          <p:nvPr/>
        </p:nvSpPr>
        <p:spPr>
          <a:xfrm>
            <a:off x="640080" y="2620772"/>
            <a:ext cx="10911535" cy="3600831"/>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730500"/>
            <a:ext cx="10545775" cy="3399663"/>
          </a:xfrm>
          <a:prstGeom prst="rect">
            <a:avLst/>
          </a:prstGeom>
          <a:noFill/>
        </p:spPr>
        <p:txBody>
          <a:bodyPr wrap="square" lIns="0" rIns="0" tIns="0" bIns="0" anchor="t">
            <a:noAutofit/>
          </a:bodyPr>
          <a:lstStyle/>
          <a:p>
            <a:pPr algn="l">
              <a:lnSpc>
                <a:spcPct val="100000"/>
              </a:lnSpc>
              <a:spcAft>
                <a:spcPts val="0"/>
              </a:spcAft>
            </a:pPr>
            <a:r>
              <a:rPr sz="1250">
                <a:solidFill>
                  <a:srgbClr val="E6EDF3"/>
                </a:solidFill>
                <a:latin typeface="Consolas"/>
              </a:rPr>
              <a:t>#include "iostream"</a:t>
            </a:r>
          </a:p>
          <a:p>
            <a:pPr algn="l">
              <a:lnSpc>
                <a:spcPct val="100000"/>
              </a:lnSpc>
              <a:spcAft>
                <a:spcPts val="0"/>
              </a:spcAft>
            </a:pPr>
            <a:r>
              <a:rPr sz="1250">
                <a:solidFill>
                  <a:srgbClr val="E6EDF3"/>
                </a:solidFill>
                <a:latin typeface="Consolas"/>
              </a:rPr>
              <a:t> </a:t>
            </a:r>
          </a:p>
          <a:p>
            <a:pPr algn="l">
              <a:lnSpc>
                <a:spcPct val="100000"/>
              </a:lnSpc>
              <a:spcAft>
                <a:spcPts val="0"/>
              </a:spcAft>
            </a:pPr>
            <a:r>
              <a:rPr sz="1250">
                <a:solidFill>
                  <a:srgbClr val="E6EDF3"/>
                </a:solidFill>
                <a:latin typeface="Consolas"/>
              </a:rPr>
              <a:t>using namespace std;</a:t>
            </a:r>
          </a:p>
          <a:p>
            <a:pPr algn="l">
              <a:lnSpc>
                <a:spcPct val="100000"/>
              </a:lnSpc>
              <a:spcAft>
                <a:spcPts val="0"/>
              </a:spcAft>
            </a:pPr>
            <a:r>
              <a:rPr sz="1250">
                <a:solidFill>
                  <a:srgbClr val="E6EDF3"/>
                </a:solidFill>
                <a:latin typeface="Consolas"/>
              </a:rPr>
              <a:t> </a:t>
            </a:r>
          </a:p>
          <a:p>
            <a:pPr algn="l">
              <a:lnSpc>
                <a:spcPct val="100000"/>
              </a:lnSpc>
              <a:spcAft>
                <a:spcPts val="0"/>
              </a:spcAft>
            </a:pPr>
            <a:r>
              <a:rPr sz="1250">
                <a:solidFill>
                  <a:srgbClr val="E6EDF3"/>
                </a:solidFill>
                <a:latin typeface="Consolas"/>
              </a:rPr>
              <a:t>int main(){</a:t>
            </a:r>
          </a:p>
          <a:p>
            <a:pPr algn="l">
              <a:lnSpc>
                <a:spcPct val="100000"/>
              </a:lnSpc>
              <a:spcAft>
                <a:spcPts val="0"/>
              </a:spcAft>
            </a:pPr>
            <a:r>
              <a:rPr sz="1250">
                <a:solidFill>
                  <a:srgbClr val="E6EDF3"/>
                </a:solidFill>
                <a:latin typeface="Consolas"/>
              </a:rPr>
              <a:t>    int n = 100;</a:t>
            </a:r>
          </a:p>
          <a:p>
            <a:pPr algn="l">
              <a:lnSpc>
                <a:spcPct val="100000"/>
              </a:lnSpc>
              <a:spcAft>
                <a:spcPts val="0"/>
              </a:spcAft>
            </a:pPr>
            <a:r>
              <a:rPr sz="1250">
                <a:solidFill>
                  <a:srgbClr val="E6EDF3"/>
                </a:solidFill>
                <a:latin typeface="Consolas"/>
              </a:rPr>
              <a:t>    int tong = 0;</a:t>
            </a:r>
          </a:p>
          <a:p>
            <a:pPr algn="l">
              <a:lnSpc>
                <a:spcPct val="100000"/>
              </a:lnSpc>
              <a:spcAft>
                <a:spcPts val="0"/>
              </a:spcAft>
            </a:pPr>
            <a:r>
              <a:rPr sz="1250">
                <a:solidFill>
                  <a:srgbClr val="E6EDF3"/>
                </a:solidFill>
                <a:latin typeface="Consolas"/>
              </a:rPr>
              <a:t>    for(int i = 1; i &lt;= n; i++){</a:t>
            </a:r>
          </a:p>
          <a:p>
            <a:pPr algn="l">
              <a:lnSpc>
                <a:spcPct val="100000"/>
              </a:lnSpc>
              <a:spcAft>
                <a:spcPts val="0"/>
              </a:spcAft>
            </a:pPr>
            <a:r>
              <a:rPr sz="1250">
                <a:solidFill>
                  <a:srgbClr val="E6EDF3"/>
                </a:solidFill>
                <a:latin typeface="Consolas"/>
              </a:rPr>
              <a:t>        if(n % i == 0){</a:t>
            </a:r>
          </a:p>
          <a:p>
            <a:pPr algn="l">
              <a:lnSpc>
                <a:spcPct val="100000"/>
              </a:lnSpc>
              <a:spcAft>
                <a:spcPts val="0"/>
              </a:spcAft>
            </a:pPr>
            <a:r>
              <a:rPr sz="1250">
                <a:solidFill>
                  <a:srgbClr val="E6EDF3"/>
                </a:solidFill>
                <a:latin typeface="Consolas"/>
              </a:rPr>
              <a:t>            tong += i;</a:t>
            </a:r>
          </a:p>
          <a:p>
            <a:pPr algn="l">
              <a:lnSpc>
                <a:spcPct val="100000"/>
              </a:lnSpc>
              <a:spcAft>
                <a:spcPts val="0"/>
              </a:spcAft>
            </a:pPr>
            <a:r>
              <a:rPr sz="1250">
                <a:solidFill>
                  <a:srgbClr val="E6EDF3"/>
                </a:solidFill>
                <a:latin typeface="Consolas"/>
              </a:rPr>
              <a:t>        }</a:t>
            </a:r>
          </a:p>
          <a:p>
            <a:pPr algn="l">
              <a:lnSpc>
                <a:spcPct val="100000"/>
              </a:lnSpc>
              <a:spcAft>
                <a:spcPts val="0"/>
              </a:spcAft>
            </a:pPr>
            <a:r>
              <a:rPr sz="1250">
                <a:solidFill>
                  <a:srgbClr val="E6EDF3"/>
                </a:solidFill>
                <a:latin typeface="Consolas"/>
              </a:rPr>
              <a:t>    }</a:t>
            </a:r>
          </a:p>
          <a:p>
            <a:pPr algn="l">
              <a:lnSpc>
                <a:spcPct val="100000"/>
              </a:lnSpc>
              <a:spcAft>
                <a:spcPts val="0"/>
              </a:spcAft>
            </a:pPr>
            <a:r>
              <a:rPr sz="1250">
                <a:solidFill>
                  <a:srgbClr val="E6EDF3"/>
                </a:solidFill>
                <a:latin typeface="Consolas"/>
              </a:rPr>
              <a:t>    cout &lt;&lt; tong &lt;&lt; endl;</a:t>
            </a:r>
          </a:p>
          <a:p>
            <a:pPr algn="l">
              <a:lnSpc>
                <a:spcPct val="100000"/>
              </a:lnSpc>
              <a:spcAft>
                <a:spcPts val="0"/>
              </a:spcAft>
            </a:pPr>
            <a:r>
              <a:rPr sz="1250">
                <a:solidFill>
                  <a:srgbClr val="E6EDF3"/>
                </a:solidFill>
                <a:latin typeface="Consolas"/>
              </a:rPr>
              <a:t>    return 0;</a:t>
            </a:r>
          </a:p>
          <a:p>
            <a:pPr algn="l">
              <a:lnSpc>
                <a:spcPct val="100000"/>
              </a:lnSpc>
              <a:spcAft>
                <a:spcPts val="0"/>
              </a:spcAft>
            </a:pPr>
            <a:r>
              <a:rPr sz="1250">
                <a:solidFill>
                  <a:srgbClr val="E6EDF3"/>
                </a:solidFill>
                <a:latin typeface="Consolas"/>
              </a:rPr>
              <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30352"/>
            <a:ext cx="77724" cy="457200"/>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37215" cy="731520"/>
          </a:xfrm>
          <a:prstGeom prst="rect">
            <a:avLst/>
          </a:prstGeom>
          <a:noFill/>
        </p:spPr>
        <p:txBody>
          <a:bodyPr wrap="square">
            <a:spAutoFit/>
          </a:bodyPr>
          <a:lstStyle/>
          <a:p>
            <a:r>
              <a:rPr sz="2500" b="1">
                <a:solidFill>
                  <a:srgbClr val="142B45"/>
                </a:solidFill>
                <a:latin typeface="Calibri"/>
              </a:rPr>
              <a:t>3. Ví Dụ (tiếp)</a:t>
            </a:r>
          </a:p>
        </p:txBody>
      </p:sp>
      <p:sp>
        <p:nvSpPr>
          <p:cNvPr id="5" name="TextBox 4"/>
          <p:cNvSpPr txBox="1"/>
          <p:nvPr/>
        </p:nvSpPr>
        <p:spPr>
          <a:xfrm>
            <a:off x="640080" y="100584"/>
            <a:ext cx="10911535" cy="256032"/>
          </a:xfrm>
          <a:prstGeom prst="rect">
            <a:avLst/>
          </a:prstGeom>
          <a:noFill/>
        </p:spPr>
        <p:txBody>
          <a:bodyPr wrap="none">
            <a:spAutoFit/>
          </a:bodyPr>
          <a:lstStyle/>
          <a:p>
            <a:pPr algn="r"/>
            <a:r>
              <a:rPr sz="1050">
                <a:solidFill>
                  <a:srgbClr val="6B7280"/>
                </a:solidFill>
                <a:latin typeface="Calibri"/>
              </a:rPr>
              <a:t>[C++]. Vòng Lặp For</a:t>
            </a:r>
          </a:p>
        </p:txBody>
      </p:sp>
      <p:sp>
        <p:nvSpPr>
          <p:cNvPr id="6" name="TextBox 5"/>
          <p:cNvSpPr txBox="1"/>
          <p:nvPr/>
        </p:nvSpPr>
        <p:spPr>
          <a:xfrm>
            <a:off x="640080" y="1298448"/>
            <a:ext cx="10911535" cy="379476"/>
          </a:xfrm>
          <a:prstGeom prst="rect">
            <a:avLst/>
          </a:prstGeom>
          <a:noFill/>
        </p:spPr>
        <p:txBody>
          <a:bodyPr wrap="square" lIns="0" rIns="0" tIns="0" bIns="0" anchor="t">
            <a:noAutofit/>
          </a:bodyPr>
          <a:lstStyle/>
          <a:p>
            <a:pPr algn="l"/>
            <a:r>
              <a:rPr sz="1650">
                <a:solidFill>
                  <a:srgbClr val="1F2A37"/>
                </a:solidFill>
                <a:latin typeface="Calibri"/>
              </a:rPr>
              <a:t>Output :</a:t>
            </a:r>
          </a:p>
        </p:txBody>
      </p:sp>
      <p:sp>
        <p:nvSpPr>
          <p:cNvPr id="7" name="Rectangle 6"/>
          <p:cNvSpPr/>
          <p:nvPr/>
        </p:nvSpPr>
        <p:spPr>
          <a:xfrm>
            <a:off x="640080" y="1677924"/>
            <a:ext cx="10911535" cy="471931"/>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787652"/>
            <a:ext cx="10545775" cy="270763"/>
          </a:xfrm>
          <a:prstGeom prst="rect">
            <a:avLst/>
          </a:prstGeom>
          <a:noFill/>
        </p:spPr>
        <p:txBody>
          <a:bodyPr wrap="square" lIns="0" rIns="0" tIns="0" bIns="0" anchor="t">
            <a:noAutofit/>
          </a:bodyPr>
          <a:lstStyle/>
          <a:p>
            <a:pPr algn="l">
              <a:lnSpc>
                <a:spcPct val="100000"/>
              </a:lnSpc>
              <a:spcAft>
                <a:spcPts val="0"/>
              </a:spcAft>
            </a:pPr>
            <a:r>
              <a:rPr sz="1400">
                <a:solidFill>
                  <a:srgbClr val="E6EDF3"/>
                </a:solidFill>
                <a:latin typeface="Consolas"/>
              </a:rPr>
              <a:t>217</a:t>
            </a:r>
          </a:p>
        </p:txBody>
      </p:sp>
      <p:sp>
        <p:nvSpPr>
          <p:cNvPr id="9" name="TextBox 8"/>
          <p:cNvSpPr txBox="1"/>
          <p:nvPr/>
        </p:nvSpPr>
        <p:spPr>
          <a:xfrm>
            <a:off x="640080" y="2241296"/>
            <a:ext cx="10911535" cy="379476"/>
          </a:xfrm>
          <a:prstGeom prst="rect">
            <a:avLst/>
          </a:prstGeom>
          <a:noFill/>
        </p:spPr>
        <p:txBody>
          <a:bodyPr wrap="square" lIns="0" rIns="0" tIns="0" bIns="0" anchor="t">
            <a:noAutofit/>
          </a:bodyPr>
          <a:lstStyle/>
          <a:p>
            <a:pPr algn="l"/>
            <a:r>
              <a:rPr sz="1650">
                <a:solidFill>
                  <a:srgbClr val="1F2A37"/>
                </a:solidFill>
                <a:latin typeface="Calibri"/>
              </a:rPr>
              <a:t>Ví dụ 4 : Tính N giai thừa (N! = 1.2.3....N)</a:t>
            </a:r>
          </a:p>
        </p:txBody>
      </p:sp>
      <p:sp>
        <p:nvSpPr>
          <p:cNvPr id="10" name="Rectangle 9"/>
          <p:cNvSpPr/>
          <p:nvPr/>
        </p:nvSpPr>
        <p:spPr>
          <a:xfrm>
            <a:off x="640080" y="2620772"/>
            <a:ext cx="10911535" cy="3149981"/>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730500"/>
            <a:ext cx="10545775" cy="2948813"/>
          </a:xfrm>
          <a:prstGeom prst="rect">
            <a:avLst/>
          </a:prstGeom>
          <a:noFill/>
        </p:spPr>
        <p:txBody>
          <a:bodyPr wrap="square" lIns="0" rIns="0" tIns="0" bIns="0" anchor="t">
            <a:noAutofit/>
          </a:bodyPr>
          <a:lstStyle/>
          <a:p>
            <a:pPr algn="l">
              <a:lnSpc>
                <a:spcPct val="100000"/>
              </a:lnSpc>
              <a:spcAft>
                <a:spcPts val="0"/>
              </a:spcAft>
            </a:pPr>
            <a:r>
              <a:rPr sz="1250">
                <a:solidFill>
                  <a:srgbClr val="E6EDF3"/>
                </a:solidFill>
                <a:latin typeface="Consolas"/>
              </a:rPr>
              <a:t>#include "iostream"</a:t>
            </a:r>
          </a:p>
          <a:p>
            <a:pPr algn="l">
              <a:lnSpc>
                <a:spcPct val="100000"/>
              </a:lnSpc>
              <a:spcAft>
                <a:spcPts val="0"/>
              </a:spcAft>
            </a:pPr>
            <a:r>
              <a:rPr sz="1250">
                <a:solidFill>
                  <a:srgbClr val="E6EDF3"/>
                </a:solidFill>
                <a:latin typeface="Consolas"/>
              </a:rPr>
              <a:t> </a:t>
            </a:r>
          </a:p>
          <a:p>
            <a:pPr algn="l">
              <a:lnSpc>
                <a:spcPct val="100000"/>
              </a:lnSpc>
              <a:spcAft>
                <a:spcPts val="0"/>
              </a:spcAft>
            </a:pPr>
            <a:r>
              <a:rPr sz="1250">
                <a:solidFill>
                  <a:srgbClr val="E6EDF3"/>
                </a:solidFill>
                <a:latin typeface="Consolas"/>
              </a:rPr>
              <a:t>using namespace std;</a:t>
            </a:r>
          </a:p>
          <a:p>
            <a:pPr algn="l">
              <a:lnSpc>
                <a:spcPct val="100000"/>
              </a:lnSpc>
              <a:spcAft>
                <a:spcPts val="0"/>
              </a:spcAft>
            </a:pPr>
            <a:r>
              <a:rPr sz="1250">
                <a:solidFill>
                  <a:srgbClr val="E6EDF3"/>
                </a:solidFill>
                <a:latin typeface="Consolas"/>
              </a:rPr>
              <a:t> </a:t>
            </a:r>
          </a:p>
          <a:p>
            <a:pPr algn="l">
              <a:lnSpc>
                <a:spcPct val="100000"/>
              </a:lnSpc>
              <a:spcAft>
                <a:spcPts val="0"/>
              </a:spcAft>
            </a:pPr>
            <a:r>
              <a:rPr sz="1250">
                <a:solidFill>
                  <a:srgbClr val="E6EDF3"/>
                </a:solidFill>
                <a:latin typeface="Consolas"/>
              </a:rPr>
              <a:t>int main(){</a:t>
            </a:r>
          </a:p>
          <a:p>
            <a:pPr algn="l">
              <a:lnSpc>
                <a:spcPct val="100000"/>
              </a:lnSpc>
              <a:spcAft>
                <a:spcPts val="0"/>
              </a:spcAft>
            </a:pPr>
            <a:r>
              <a:rPr sz="1250">
                <a:solidFill>
                  <a:srgbClr val="E6EDF3"/>
                </a:solidFill>
                <a:latin typeface="Consolas"/>
              </a:rPr>
              <a:t>    int n = 5;</a:t>
            </a:r>
          </a:p>
          <a:p>
            <a:pPr algn="l">
              <a:lnSpc>
                <a:spcPct val="100000"/>
              </a:lnSpc>
              <a:spcAft>
                <a:spcPts val="0"/>
              </a:spcAft>
            </a:pPr>
            <a:r>
              <a:rPr sz="1250">
                <a:solidFill>
                  <a:srgbClr val="E6EDF3"/>
                </a:solidFill>
                <a:latin typeface="Consolas"/>
              </a:rPr>
              <a:t>    int giaithua = 1;</a:t>
            </a:r>
          </a:p>
          <a:p>
            <a:pPr algn="l">
              <a:lnSpc>
                <a:spcPct val="100000"/>
              </a:lnSpc>
              <a:spcAft>
                <a:spcPts val="0"/>
              </a:spcAft>
            </a:pPr>
            <a:r>
              <a:rPr sz="1250">
                <a:solidFill>
                  <a:srgbClr val="E6EDF3"/>
                </a:solidFill>
                <a:latin typeface="Consolas"/>
              </a:rPr>
              <a:t>    for(int i = 1; i &lt;= n; i++){</a:t>
            </a:r>
          </a:p>
          <a:p>
            <a:pPr algn="l">
              <a:lnSpc>
                <a:spcPct val="100000"/>
              </a:lnSpc>
              <a:spcAft>
                <a:spcPts val="0"/>
              </a:spcAft>
            </a:pPr>
            <a:r>
              <a:rPr sz="1250">
                <a:solidFill>
                  <a:srgbClr val="E6EDF3"/>
                </a:solidFill>
                <a:latin typeface="Consolas"/>
              </a:rPr>
              <a:t>        giaithua *= i;</a:t>
            </a:r>
          </a:p>
          <a:p>
            <a:pPr algn="l">
              <a:lnSpc>
                <a:spcPct val="100000"/>
              </a:lnSpc>
              <a:spcAft>
                <a:spcPts val="0"/>
              </a:spcAft>
            </a:pPr>
            <a:r>
              <a:rPr sz="1250">
                <a:solidFill>
                  <a:srgbClr val="E6EDF3"/>
                </a:solidFill>
                <a:latin typeface="Consolas"/>
              </a:rPr>
              <a:t>    }</a:t>
            </a:r>
          </a:p>
          <a:p>
            <a:pPr algn="l">
              <a:lnSpc>
                <a:spcPct val="100000"/>
              </a:lnSpc>
              <a:spcAft>
                <a:spcPts val="0"/>
              </a:spcAft>
            </a:pPr>
            <a:r>
              <a:rPr sz="1250">
                <a:solidFill>
                  <a:srgbClr val="E6EDF3"/>
                </a:solidFill>
                <a:latin typeface="Consolas"/>
              </a:rPr>
              <a:t>    cout &lt;&lt; giaithua &lt;&lt; endl;</a:t>
            </a:r>
          </a:p>
          <a:p>
            <a:pPr algn="l">
              <a:lnSpc>
                <a:spcPct val="100000"/>
              </a:lnSpc>
              <a:spcAft>
                <a:spcPts val="0"/>
              </a:spcAft>
            </a:pPr>
            <a:r>
              <a:rPr sz="1250">
                <a:solidFill>
                  <a:srgbClr val="E6EDF3"/>
                </a:solidFill>
                <a:latin typeface="Consolas"/>
              </a:rPr>
              <a:t>    return 0;</a:t>
            </a:r>
          </a:p>
          <a:p>
            <a:pPr algn="l">
              <a:lnSpc>
                <a:spcPct val="100000"/>
              </a:lnSpc>
              <a:spcAft>
                <a:spcPts val="0"/>
              </a:spcAft>
            </a:pPr>
            <a:r>
              <a:rPr sz="1250">
                <a:solidFill>
                  <a:srgbClr val="E6EDF3"/>
                </a:solidFill>
                <a:latin typeface="Consolas"/>
              </a:rPr>
              <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30352"/>
            <a:ext cx="77724" cy="457200"/>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37215" cy="731520"/>
          </a:xfrm>
          <a:prstGeom prst="rect">
            <a:avLst/>
          </a:prstGeom>
          <a:noFill/>
        </p:spPr>
        <p:txBody>
          <a:bodyPr wrap="square">
            <a:spAutoFit/>
          </a:bodyPr>
          <a:lstStyle/>
          <a:p>
            <a:r>
              <a:rPr sz="2500" b="1">
                <a:solidFill>
                  <a:srgbClr val="142B45"/>
                </a:solidFill>
                <a:latin typeface="Calibri"/>
              </a:rPr>
              <a:t>3. Ví Dụ (tiếp)</a:t>
            </a:r>
          </a:p>
        </p:txBody>
      </p:sp>
      <p:sp>
        <p:nvSpPr>
          <p:cNvPr id="5" name="TextBox 4"/>
          <p:cNvSpPr txBox="1"/>
          <p:nvPr/>
        </p:nvSpPr>
        <p:spPr>
          <a:xfrm>
            <a:off x="640080" y="100584"/>
            <a:ext cx="10911535" cy="256032"/>
          </a:xfrm>
          <a:prstGeom prst="rect">
            <a:avLst/>
          </a:prstGeom>
          <a:noFill/>
        </p:spPr>
        <p:txBody>
          <a:bodyPr wrap="none">
            <a:spAutoFit/>
          </a:bodyPr>
          <a:lstStyle/>
          <a:p>
            <a:pPr algn="r"/>
            <a:r>
              <a:rPr sz="1050">
                <a:solidFill>
                  <a:srgbClr val="6B7280"/>
                </a:solidFill>
                <a:latin typeface="Calibri"/>
              </a:rPr>
              <a:t>[C++]. Vòng Lặp For</a:t>
            </a:r>
          </a:p>
        </p:txBody>
      </p:sp>
      <p:sp>
        <p:nvSpPr>
          <p:cNvPr id="6" name="TextBox 5"/>
          <p:cNvSpPr txBox="1"/>
          <p:nvPr/>
        </p:nvSpPr>
        <p:spPr>
          <a:xfrm>
            <a:off x="640080" y="1298448"/>
            <a:ext cx="10911535" cy="379476"/>
          </a:xfrm>
          <a:prstGeom prst="rect">
            <a:avLst/>
          </a:prstGeom>
          <a:noFill/>
        </p:spPr>
        <p:txBody>
          <a:bodyPr wrap="square" lIns="0" rIns="0" tIns="0" bIns="0" anchor="t">
            <a:noAutofit/>
          </a:bodyPr>
          <a:lstStyle/>
          <a:p>
            <a:pPr algn="l"/>
            <a:r>
              <a:rPr sz="1650">
                <a:solidFill>
                  <a:srgbClr val="1F2A37"/>
                </a:solidFill>
                <a:latin typeface="Calibri"/>
              </a:rPr>
              <a:t>Output :</a:t>
            </a:r>
          </a:p>
        </p:txBody>
      </p:sp>
      <p:sp>
        <p:nvSpPr>
          <p:cNvPr id="7" name="Rectangle 6"/>
          <p:cNvSpPr/>
          <p:nvPr/>
        </p:nvSpPr>
        <p:spPr>
          <a:xfrm>
            <a:off x="640080" y="1677924"/>
            <a:ext cx="10911535" cy="471931"/>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787652"/>
            <a:ext cx="10545775" cy="270763"/>
          </a:xfrm>
          <a:prstGeom prst="rect">
            <a:avLst/>
          </a:prstGeom>
          <a:noFill/>
        </p:spPr>
        <p:txBody>
          <a:bodyPr wrap="square" lIns="0" rIns="0" tIns="0" bIns="0" anchor="t">
            <a:noAutofit/>
          </a:bodyPr>
          <a:lstStyle/>
          <a:p>
            <a:pPr algn="l">
              <a:lnSpc>
                <a:spcPct val="100000"/>
              </a:lnSpc>
              <a:spcAft>
                <a:spcPts val="0"/>
              </a:spcAft>
            </a:pPr>
            <a:r>
              <a:rPr sz="1400">
                <a:solidFill>
                  <a:srgbClr val="E6EDF3"/>
                </a:solidFill>
                <a:latin typeface="Consolas"/>
              </a:rPr>
              <a:t>120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30352"/>
            <a:ext cx="77724" cy="457200"/>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37215" cy="731520"/>
          </a:xfrm>
          <a:prstGeom prst="rect">
            <a:avLst/>
          </a:prstGeom>
          <a:noFill/>
        </p:spPr>
        <p:txBody>
          <a:bodyPr wrap="square">
            <a:spAutoFit/>
          </a:bodyPr>
          <a:lstStyle/>
          <a:p>
            <a:r>
              <a:rPr sz="2500" b="1">
                <a:solidFill>
                  <a:srgbClr val="142B45"/>
                </a:solidFill>
                <a:latin typeface="Calibri"/>
              </a:rPr>
              <a:t>3. Ví Dụ (tiếp)</a:t>
            </a:r>
          </a:p>
        </p:txBody>
      </p:sp>
      <p:sp>
        <p:nvSpPr>
          <p:cNvPr id="5" name="TextBox 4"/>
          <p:cNvSpPr txBox="1"/>
          <p:nvPr/>
        </p:nvSpPr>
        <p:spPr>
          <a:xfrm>
            <a:off x="640080" y="100584"/>
            <a:ext cx="10911535" cy="256032"/>
          </a:xfrm>
          <a:prstGeom prst="rect">
            <a:avLst/>
          </a:prstGeom>
          <a:noFill/>
        </p:spPr>
        <p:txBody>
          <a:bodyPr wrap="none">
            <a:spAutoFit/>
          </a:bodyPr>
          <a:lstStyle/>
          <a:p>
            <a:pPr algn="r"/>
            <a:r>
              <a:rPr sz="1050">
                <a:solidFill>
                  <a:srgbClr val="6B7280"/>
                </a:solidFill>
                <a:latin typeface="Calibri"/>
              </a:rPr>
              <a:t>[C++]. Vòng Lặp For</a:t>
            </a:r>
          </a:p>
        </p:txBody>
      </p:sp>
      <p:sp>
        <p:nvSpPr>
          <p:cNvPr id="6" name="TextBox 5"/>
          <p:cNvSpPr txBox="1"/>
          <p:nvPr/>
        </p:nvSpPr>
        <p:spPr>
          <a:xfrm>
            <a:off x="640080" y="1298448"/>
            <a:ext cx="10911535" cy="379476"/>
          </a:xfrm>
          <a:prstGeom prst="rect">
            <a:avLst/>
          </a:prstGeom>
          <a:noFill/>
        </p:spPr>
        <p:txBody>
          <a:bodyPr wrap="square" lIns="0" rIns="0" tIns="0" bIns="0" anchor="t">
            <a:noAutofit/>
          </a:bodyPr>
          <a:lstStyle/>
          <a:p>
            <a:pPr algn="l"/>
            <a:r>
              <a:rPr sz="1650">
                <a:solidFill>
                  <a:srgbClr val="1F2A37"/>
                </a:solidFill>
                <a:latin typeface="Calibri"/>
              </a:rPr>
              <a:t>Ví dụ 5 : Tính tổng và in ra bội số của 3 trong đoạn [a, b]</a:t>
            </a:r>
          </a:p>
        </p:txBody>
      </p:sp>
      <p:sp>
        <p:nvSpPr>
          <p:cNvPr id="7" name="Rectangle 6"/>
          <p:cNvSpPr/>
          <p:nvPr/>
        </p:nvSpPr>
        <p:spPr>
          <a:xfrm>
            <a:off x="640080" y="1677924"/>
            <a:ext cx="10911535" cy="3826256"/>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787652"/>
            <a:ext cx="10545775" cy="3625088"/>
          </a:xfrm>
          <a:prstGeom prst="rect">
            <a:avLst/>
          </a:prstGeom>
          <a:noFill/>
        </p:spPr>
        <p:txBody>
          <a:bodyPr wrap="square" lIns="0" rIns="0" tIns="0" bIns="0" anchor="t">
            <a:noAutofit/>
          </a:bodyPr>
          <a:lstStyle/>
          <a:p>
            <a:pPr algn="l">
              <a:lnSpc>
                <a:spcPct val="100000"/>
              </a:lnSpc>
              <a:spcAft>
                <a:spcPts val="0"/>
              </a:spcAft>
            </a:pPr>
            <a:r>
              <a:rPr sz="1250">
                <a:solidFill>
                  <a:srgbClr val="E6EDF3"/>
                </a:solidFill>
                <a:latin typeface="Consolas"/>
              </a:rPr>
              <a:t>#include "iostream"</a:t>
            </a:r>
          </a:p>
          <a:p>
            <a:pPr algn="l">
              <a:lnSpc>
                <a:spcPct val="100000"/>
              </a:lnSpc>
              <a:spcAft>
                <a:spcPts val="0"/>
              </a:spcAft>
            </a:pPr>
            <a:r>
              <a:rPr sz="1250">
                <a:solidFill>
                  <a:srgbClr val="E6EDF3"/>
                </a:solidFill>
                <a:latin typeface="Consolas"/>
              </a:rPr>
              <a:t> </a:t>
            </a:r>
          </a:p>
          <a:p>
            <a:pPr algn="l">
              <a:lnSpc>
                <a:spcPct val="100000"/>
              </a:lnSpc>
              <a:spcAft>
                <a:spcPts val="0"/>
              </a:spcAft>
            </a:pPr>
            <a:r>
              <a:rPr sz="1250">
                <a:solidFill>
                  <a:srgbClr val="E6EDF3"/>
                </a:solidFill>
                <a:latin typeface="Consolas"/>
              </a:rPr>
              <a:t>using namespace std;</a:t>
            </a:r>
          </a:p>
          <a:p>
            <a:pPr algn="l">
              <a:lnSpc>
                <a:spcPct val="100000"/>
              </a:lnSpc>
              <a:spcAft>
                <a:spcPts val="0"/>
              </a:spcAft>
            </a:pPr>
            <a:r>
              <a:rPr sz="1250">
                <a:solidFill>
                  <a:srgbClr val="E6EDF3"/>
                </a:solidFill>
                <a:latin typeface="Consolas"/>
              </a:rPr>
              <a:t> </a:t>
            </a:r>
          </a:p>
          <a:p>
            <a:pPr algn="l">
              <a:lnSpc>
                <a:spcPct val="100000"/>
              </a:lnSpc>
              <a:spcAft>
                <a:spcPts val="0"/>
              </a:spcAft>
            </a:pPr>
            <a:r>
              <a:rPr sz="1250">
                <a:solidFill>
                  <a:srgbClr val="E6EDF3"/>
                </a:solidFill>
                <a:latin typeface="Consolas"/>
              </a:rPr>
              <a:t>int main(){</a:t>
            </a:r>
          </a:p>
          <a:p>
            <a:pPr algn="l">
              <a:lnSpc>
                <a:spcPct val="100000"/>
              </a:lnSpc>
              <a:spcAft>
                <a:spcPts val="0"/>
              </a:spcAft>
            </a:pPr>
            <a:r>
              <a:rPr sz="1250">
                <a:solidFill>
                  <a:srgbClr val="E6EDF3"/>
                </a:solidFill>
                <a:latin typeface="Consolas"/>
              </a:rPr>
              <a:t>    int a = 10, b = 31;</a:t>
            </a:r>
          </a:p>
          <a:p>
            <a:pPr algn="l">
              <a:lnSpc>
                <a:spcPct val="100000"/>
              </a:lnSpc>
              <a:spcAft>
                <a:spcPts val="0"/>
              </a:spcAft>
            </a:pPr>
            <a:r>
              <a:rPr sz="1250">
                <a:solidFill>
                  <a:srgbClr val="E6EDF3"/>
                </a:solidFill>
                <a:latin typeface="Consolas"/>
              </a:rPr>
              <a:t>    int tong = 0;</a:t>
            </a:r>
          </a:p>
          <a:p>
            <a:pPr algn="l">
              <a:lnSpc>
                <a:spcPct val="100000"/>
              </a:lnSpc>
              <a:spcAft>
                <a:spcPts val="0"/>
              </a:spcAft>
            </a:pPr>
            <a:r>
              <a:rPr sz="1250">
                <a:solidFill>
                  <a:srgbClr val="E6EDF3"/>
                </a:solidFill>
                <a:latin typeface="Consolas"/>
              </a:rPr>
              <a:t>    for(int i = a; i &lt;= b; i++){</a:t>
            </a:r>
          </a:p>
          <a:p>
            <a:pPr algn="l">
              <a:lnSpc>
                <a:spcPct val="100000"/>
              </a:lnSpc>
              <a:spcAft>
                <a:spcPts val="0"/>
              </a:spcAft>
            </a:pPr>
            <a:r>
              <a:rPr sz="1250">
                <a:solidFill>
                  <a:srgbClr val="E6EDF3"/>
                </a:solidFill>
                <a:latin typeface="Consolas"/>
              </a:rPr>
              <a:t>        if(i % 3 == 0){</a:t>
            </a:r>
          </a:p>
          <a:p>
            <a:pPr algn="l">
              <a:lnSpc>
                <a:spcPct val="100000"/>
              </a:lnSpc>
              <a:spcAft>
                <a:spcPts val="0"/>
              </a:spcAft>
            </a:pPr>
            <a:r>
              <a:rPr sz="1250">
                <a:solidFill>
                  <a:srgbClr val="E6EDF3"/>
                </a:solidFill>
                <a:latin typeface="Consolas"/>
              </a:rPr>
              <a:t>            cout &lt;&lt; i &lt;&lt; " ";</a:t>
            </a:r>
          </a:p>
          <a:p>
            <a:pPr algn="l">
              <a:lnSpc>
                <a:spcPct val="100000"/>
              </a:lnSpc>
              <a:spcAft>
                <a:spcPts val="0"/>
              </a:spcAft>
            </a:pPr>
            <a:r>
              <a:rPr sz="1250">
                <a:solidFill>
                  <a:srgbClr val="E6EDF3"/>
                </a:solidFill>
                <a:latin typeface="Consolas"/>
              </a:rPr>
              <a:t>            tong += i;</a:t>
            </a:r>
          </a:p>
          <a:p>
            <a:pPr algn="l">
              <a:lnSpc>
                <a:spcPct val="100000"/>
              </a:lnSpc>
              <a:spcAft>
                <a:spcPts val="0"/>
              </a:spcAft>
            </a:pPr>
            <a:r>
              <a:rPr sz="1250">
                <a:solidFill>
                  <a:srgbClr val="E6EDF3"/>
                </a:solidFill>
                <a:latin typeface="Consolas"/>
              </a:rPr>
              <a:t>        }</a:t>
            </a:r>
          </a:p>
          <a:p>
            <a:pPr algn="l">
              <a:lnSpc>
                <a:spcPct val="100000"/>
              </a:lnSpc>
              <a:spcAft>
                <a:spcPts val="0"/>
              </a:spcAft>
            </a:pPr>
            <a:r>
              <a:rPr sz="1250">
                <a:solidFill>
                  <a:srgbClr val="E6EDF3"/>
                </a:solidFill>
                <a:latin typeface="Consolas"/>
              </a:rPr>
              <a:t>    }</a:t>
            </a:r>
          </a:p>
          <a:p>
            <a:pPr algn="l">
              <a:lnSpc>
                <a:spcPct val="100000"/>
              </a:lnSpc>
              <a:spcAft>
                <a:spcPts val="0"/>
              </a:spcAft>
            </a:pPr>
            <a:r>
              <a:rPr sz="1250">
                <a:solidFill>
                  <a:srgbClr val="E6EDF3"/>
                </a:solidFill>
                <a:latin typeface="Consolas"/>
              </a:rPr>
              <a:t>    cout &lt;&lt; "\nTong boi cua 3 la : " &lt;&lt; tong &lt;&lt; endl;</a:t>
            </a:r>
          </a:p>
          <a:p>
            <a:pPr algn="l">
              <a:lnSpc>
                <a:spcPct val="100000"/>
              </a:lnSpc>
              <a:spcAft>
                <a:spcPts val="0"/>
              </a:spcAft>
            </a:pPr>
            <a:r>
              <a:rPr sz="1250">
                <a:solidFill>
                  <a:srgbClr val="E6EDF3"/>
                </a:solidFill>
                <a:latin typeface="Consolas"/>
              </a:rPr>
              <a:t>    return 0;</a:t>
            </a:r>
          </a:p>
          <a:p>
            <a:pPr algn="l">
              <a:lnSpc>
                <a:spcPct val="100000"/>
              </a:lnSpc>
              <a:spcAft>
                <a:spcPts val="0"/>
              </a:spcAft>
            </a:pPr>
            <a:r>
              <a:rPr sz="1250">
                <a:solidFill>
                  <a:srgbClr val="E6EDF3"/>
                </a:solidFill>
                <a:latin typeface="Consolas"/>
              </a:rPr>
              <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30352"/>
            <a:ext cx="77724" cy="457200"/>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37215" cy="731520"/>
          </a:xfrm>
          <a:prstGeom prst="rect">
            <a:avLst/>
          </a:prstGeom>
          <a:noFill/>
        </p:spPr>
        <p:txBody>
          <a:bodyPr wrap="square">
            <a:spAutoFit/>
          </a:bodyPr>
          <a:lstStyle/>
          <a:p>
            <a:r>
              <a:rPr sz="2500" b="1">
                <a:solidFill>
                  <a:srgbClr val="142B45"/>
                </a:solidFill>
                <a:latin typeface="Calibri"/>
              </a:rPr>
              <a:t>3. Ví Dụ (tiếp)</a:t>
            </a:r>
          </a:p>
        </p:txBody>
      </p:sp>
      <p:sp>
        <p:nvSpPr>
          <p:cNvPr id="5" name="TextBox 4"/>
          <p:cNvSpPr txBox="1"/>
          <p:nvPr/>
        </p:nvSpPr>
        <p:spPr>
          <a:xfrm>
            <a:off x="640080" y="100584"/>
            <a:ext cx="10911535" cy="256032"/>
          </a:xfrm>
          <a:prstGeom prst="rect">
            <a:avLst/>
          </a:prstGeom>
          <a:noFill/>
        </p:spPr>
        <p:txBody>
          <a:bodyPr wrap="none">
            <a:spAutoFit/>
          </a:bodyPr>
          <a:lstStyle/>
          <a:p>
            <a:pPr algn="r"/>
            <a:r>
              <a:rPr sz="1050">
                <a:solidFill>
                  <a:srgbClr val="6B7280"/>
                </a:solidFill>
                <a:latin typeface="Calibri"/>
              </a:rPr>
              <a:t>[C++]. Vòng Lặp For</a:t>
            </a:r>
          </a:p>
        </p:txBody>
      </p:sp>
      <p:sp>
        <p:nvSpPr>
          <p:cNvPr id="6" name="TextBox 5"/>
          <p:cNvSpPr txBox="1"/>
          <p:nvPr/>
        </p:nvSpPr>
        <p:spPr>
          <a:xfrm>
            <a:off x="640080" y="1298448"/>
            <a:ext cx="10911535" cy="379476"/>
          </a:xfrm>
          <a:prstGeom prst="rect">
            <a:avLst/>
          </a:prstGeom>
          <a:noFill/>
        </p:spPr>
        <p:txBody>
          <a:bodyPr wrap="square" lIns="0" rIns="0" tIns="0" bIns="0" anchor="t">
            <a:noAutofit/>
          </a:bodyPr>
          <a:lstStyle/>
          <a:p>
            <a:pPr algn="l"/>
            <a:r>
              <a:rPr sz="1650">
                <a:solidFill>
                  <a:srgbClr val="1F2A37"/>
                </a:solidFill>
                <a:latin typeface="Calibri"/>
              </a:rPr>
              <a:t>Output :</a:t>
            </a:r>
          </a:p>
        </p:txBody>
      </p:sp>
      <p:sp>
        <p:nvSpPr>
          <p:cNvPr id="7" name="Rectangle 6"/>
          <p:cNvSpPr/>
          <p:nvPr/>
        </p:nvSpPr>
        <p:spPr>
          <a:xfrm>
            <a:off x="640080" y="1677924"/>
            <a:ext cx="10911535" cy="72440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787652"/>
            <a:ext cx="10545775" cy="523239"/>
          </a:xfrm>
          <a:prstGeom prst="rect">
            <a:avLst/>
          </a:prstGeom>
          <a:noFill/>
        </p:spPr>
        <p:txBody>
          <a:bodyPr wrap="square" lIns="0" rIns="0" tIns="0" bIns="0" anchor="t">
            <a:noAutofit/>
          </a:bodyPr>
          <a:lstStyle/>
          <a:p>
            <a:pPr algn="l">
              <a:lnSpc>
                <a:spcPct val="100000"/>
              </a:lnSpc>
              <a:spcAft>
                <a:spcPts val="0"/>
              </a:spcAft>
            </a:pPr>
            <a:r>
              <a:rPr sz="1400">
                <a:solidFill>
                  <a:srgbClr val="E6EDF3"/>
                </a:solidFill>
                <a:latin typeface="Consolas"/>
              </a:rPr>
              <a:t>12 15 18 21 24 27 30 </a:t>
            </a:r>
          </a:p>
          <a:p>
            <a:pPr algn="l">
              <a:lnSpc>
                <a:spcPct val="100000"/>
              </a:lnSpc>
              <a:spcAft>
                <a:spcPts val="0"/>
              </a:spcAft>
            </a:pPr>
            <a:r>
              <a:rPr sz="1400">
                <a:solidFill>
                  <a:srgbClr val="E6EDF3"/>
                </a:solidFill>
                <a:latin typeface="Consolas"/>
              </a:rPr>
              <a:t>Tong boi cua 3 la : 147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30352"/>
            <a:ext cx="77724" cy="457200"/>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37215" cy="731520"/>
          </a:xfrm>
          <a:prstGeom prst="rect">
            <a:avLst/>
          </a:prstGeom>
          <a:noFill/>
        </p:spPr>
        <p:txBody>
          <a:bodyPr wrap="square">
            <a:spAutoFit/>
          </a:bodyPr>
          <a:lstStyle/>
          <a:p>
            <a:r>
              <a:rPr sz="2500" b="1">
                <a:solidFill>
                  <a:srgbClr val="142B45"/>
                </a:solidFill>
                <a:latin typeface="Calibri"/>
              </a:rPr>
              <a:t>4. Một Số Vòng Lặp For Đặc Biệt</a:t>
            </a:r>
          </a:p>
        </p:txBody>
      </p:sp>
      <p:sp>
        <p:nvSpPr>
          <p:cNvPr id="5" name="TextBox 4"/>
          <p:cNvSpPr txBox="1"/>
          <p:nvPr/>
        </p:nvSpPr>
        <p:spPr>
          <a:xfrm>
            <a:off x="640080" y="100584"/>
            <a:ext cx="10911535" cy="256032"/>
          </a:xfrm>
          <a:prstGeom prst="rect">
            <a:avLst/>
          </a:prstGeom>
          <a:noFill/>
        </p:spPr>
        <p:txBody>
          <a:bodyPr wrap="none">
            <a:spAutoFit/>
          </a:bodyPr>
          <a:lstStyle/>
          <a:p>
            <a:pPr algn="r"/>
            <a:r>
              <a:rPr sz="1050">
                <a:solidFill>
                  <a:srgbClr val="6B7280"/>
                </a:solidFill>
                <a:latin typeface="Calibri"/>
              </a:rPr>
              <a:t>[C++]. Vòng Lặp For</a:t>
            </a:r>
          </a:p>
        </p:txBody>
      </p:sp>
      <p:sp>
        <p:nvSpPr>
          <p:cNvPr id="6" name="TextBox 5"/>
          <p:cNvSpPr txBox="1"/>
          <p:nvPr/>
        </p:nvSpPr>
        <p:spPr>
          <a:xfrm>
            <a:off x="640080" y="1298448"/>
            <a:ext cx="10911535" cy="630936"/>
          </a:xfrm>
          <a:prstGeom prst="rect">
            <a:avLst/>
          </a:prstGeom>
          <a:noFill/>
        </p:spPr>
        <p:txBody>
          <a:bodyPr wrap="square" lIns="0" rIns="0" tIns="0" bIns="0" anchor="t">
            <a:noAutofit/>
          </a:bodyPr>
          <a:lstStyle/>
          <a:p>
            <a:pPr algn="l"/>
            <a:r>
              <a:rPr sz="1650">
                <a:solidFill>
                  <a:srgbClr val="1F2A37"/>
                </a:solidFill>
                <a:latin typeface="Calibri"/>
              </a:rPr>
              <a:t>Vòng lặp for thường có 3 phần và các câu lệnh, tuy nhiên đôi khi bạn có thể để khuyết các phần này.</a:t>
            </a:r>
          </a:p>
        </p:txBody>
      </p:sp>
      <p:sp>
        <p:nvSpPr>
          <p:cNvPr id="7" name="TextBox 6"/>
          <p:cNvSpPr txBox="1"/>
          <p:nvPr/>
        </p:nvSpPr>
        <p:spPr>
          <a:xfrm>
            <a:off x="640080" y="1929384"/>
            <a:ext cx="10911535" cy="379476"/>
          </a:xfrm>
          <a:prstGeom prst="rect">
            <a:avLst/>
          </a:prstGeom>
          <a:noFill/>
        </p:spPr>
        <p:txBody>
          <a:bodyPr wrap="square" lIns="0" rIns="0" tIns="0" bIns="0" anchor="t">
            <a:noAutofit/>
          </a:bodyPr>
          <a:lstStyle/>
          <a:p>
            <a:pPr algn="l"/>
            <a:r>
              <a:rPr sz="1650">
                <a:solidFill>
                  <a:srgbClr val="1F2A37"/>
                </a:solidFill>
                <a:latin typeface="Calibri"/>
              </a:rPr>
              <a:t>Ví dụ 1 : Vòng lặp for không có điều kiện lặp sẽ lặp vĩnh viễn</a:t>
            </a:r>
          </a:p>
        </p:txBody>
      </p:sp>
      <p:sp>
        <p:nvSpPr>
          <p:cNvPr id="8" name="Rectangle 7"/>
          <p:cNvSpPr/>
          <p:nvPr/>
        </p:nvSpPr>
        <p:spPr>
          <a:xfrm>
            <a:off x="640080" y="2308860"/>
            <a:ext cx="10911535" cy="3249167"/>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418588"/>
            <a:ext cx="10545775" cy="3047999"/>
          </a:xfrm>
          <a:prstGeom prst="rect">
            <a:avLst/>
          </a:prstGeom>
          <a:noFill/>
        </p:spPr>
        <p:txBody>
          <a:bodyPr wrap="square" lIns="0" rIns="0" tIns="0" bIns="0" anchor="t">
            <a:noAutofit/>
          </a:bodyPr>
          <a:lstStyle/>
          <a:p>
            <a:pPr algn="l">
              <a:lnSpc>
                <a:spcPct val="100000"/>
              </a:lnSpc>
              <a:spcAft>
                <a:spcPts val="0"/>
              </a:spcAft>
            </a:pPr>
            <a:r>
              <a:rPr sz="1400">
                <a:solidFill>
                  <a:srgbClr val="E6EDF3"/>
                </a:solidFill>
                <a:latin typeface="Consolas"/>
              </a:rPr>
              <a:t>#include "iostream"</a:t>
            </a:r>
          </a:p>
          <a:p>
            <a:pPr algn="l">
              <a:lnSpc>
                <a:spcPct val="100000"/>
              </a:lnSpc>
              <a:spcAft>
                <a:spcPts val="0"/>
              </a:spcAft>
            </a:pPr>
            <a:r>
              <a:rPr sz="1400">
                <a:solidFill>
                  <a:srgbClr val="E6EDF3"/>
                </a:solidFill>
                <a:latin typeface="Consolas"/>
              </a:rPr>
              <a:t> </a:t>
            </a:r>
          </a:p>
          <a:p>
            <a:pPr algn="l">
              <a:lnSpc>
                <a:spcPct val="100000"/>
              </a:lnSpc>
              <a:spcAft>
                <a:spcPts val="0"/>
              </a:spcAft>
            </a:pPr>
            <a:r>
              <a:rPr sz="1400">
                <a:solidFill>
                  <a:srgbClr val="E6EDF3"/>
                </a:solidFill>
                <a:latin typeface="Consolas"/>
              </a:rPr>
              <a:t>using namespace std;</a:t>
            </a:r>
          </a:p>
          <a:p>
            <a:pPr algn="l">
              <a:lnSpc>
                <a:spcPct val="100000"/>
              </a:lnSpc>
              <a:spcAft>
                <a:spcPts val="0"/>
              </a:spcAft>
            </a:pPr>
            <a:r>
              <a:rPr sz="1400">
                <a:solidFill>
                  <a:srgbClr val="E6EDF3"/>
                </a:solidFill>
                <a:latin typeface="Consolas"/>
              </a:rPr>
              <a:t> </a:t>
            </a:r>
          </a:p>
          <a:p>
            <a:pPr algn="l">
              <a:lnSpc>
                <a:spcPct val="100000"/>
              </a:lnSpc>
              <a:spcAft>
                <a:spcPts val="0"/>
              </a:spcAft>
            </a:pPr>
            <a:r>
              <a:rPr sz="1400">
                <a:solidFill>
                  <a:srgbClr val="E6EDF3"/>
                </a:solidFill>
                <a:latin typeface="Consolas"/>
              </a:rPr>
              <a:t>int main(){</a:t>
            </a:r>
          </a:p>
          <a:p>
            <a:pPr algn="l">
              <a:lnSpc>
                <a:spcPct val="100000"/>
              </a:lnSpc>
              <a:spcAft>
                <a:spcPts val="0"/>
              </a:spcAft>
            </a:pPr>
            <a:r>
              <a:rPr sz="1400">
                <a:solidFill>
                  <a:srgbClr val="E6EDF3"/>
                </a:solidFill>
                <a:latin typeface="Consolas"/>
              </a:rPr>
              <a:t>    for(int i = 1; ;i++){</a:t>
            </a:r>
          </a:p>
          <a:p>
            <a:pPr algn="l">
              <a:lnSpc>
                <a:spcPct val="100000"/>
              </a:lnSpc>
              <a:spcAft>
                <a:spcPts val="0"/>
              </a:spcAft>
            </a:pPr>
            <a:r>
              <a:rPr sz="1400">
                <a:solidFill>
                  <a:srgbClr val="E6EDF3"/>
                </a:solidFill>
                <a:latin typeface="Consolas"/>
              </a:rPr>
              <a:t>        cout &lt;&lt; "28tech" &lt;&lt; endl;</a:t>
            </a:r>
          </a:p>
          <a:p>
            <a:pPr algn="l">
              <a:lnSpc>
                <a:spcPct val="100000"/>
              </a:lnSpc>
              <a:spcAft>
                <a:spcPts val="0"/>
              </a:spcAft>
            </a:pPr>
            <a:r>
              <a:rPr sz="1400">
                <a:solidFill>
                  <a:srgbClr val="E6EDF3"/>
                </a:solidFill>
                <a:latin typeface="Consolas"/>
              </a:rPr>
              <a:t>        cout &lt;&lt; "lap vinh vien\n";</a:t>
            </a:r>
          </a:p>
          <a:p>
            <a:pPr algn="l">
              <a:lnSpc>
                <a:spcPct val="100000"/>
              </a:lnSpc>
              <a:spcAft>
                <a:spcPts val="0"/>
              </a:spcAft>
            </a:pPr>
            <a:r>
              <a:rPr sz="1400">
                <a:solidFill>
                  <a:srgbClr val="E6EDF3"/>
                </a:solidFill>
                <a:latin typeface="Consolas"/>
              </a:rPr>
              <a:t>        cout &lt;&lt; "lap trinh C++\n";</a:t>
            </a:r>
          </a:p>
          <a:p>
            <a:pPr algn="l">
              <a:lnSpc>
                <a:spcPct val="100000"/>
              </a:lnSpc>
              <a:spcAft>
                <a:spcPts val="0"/>
              </a:spcAft>
            </a:pPr>
            <a:r>
              <a:rPr sz="1400">
                <a:solidFill>
                  <a:srgbClr val="E6EDF3"/>
                </a:solidFill>
                <a:latin typeface="Consolas"/>
              </a:rPr>
              <a:t>    }</a:t>
            </a:r>
          </a:p>
          <a:p>
            <a:pPr algn="l">
              <a:lnSpc>
                <a:spcPct val="100000"/>
              </a:lnSpc>
              <a:spcAft>
                <a:spcPts val="0"/>
              </a:spcAft>
            </a:pPr>
            <a:r>
              <a:rPr sz="1400">
                <a:solidFill>
                  <a:srgbClr val="E6EDF3"/>
                </a:solidFill>
                <a:latin typeface="Consolas"/>
              </a:rPr>
              <a:t>    return 0;</a:t>
            </a:r>
          </a:p>
          <a:p>
            <a:pPr algn="l">
              <a:lnSpc>
                <a:spcPct val="100000"/>
              </a:lnSpc>
              <a:spcAft>
                <a:spcPts val="0"/>
              </a:spcAft>
            </a:pPr>
            <a:r>
              <a:rPr sz="1400">
                <a:solidFill>
                  <a:srgbClr val="E6EDF3"/>
                </a:solidFill>
                <a:latin typeface="Consolas"/>
              </a:rPr>
              <a: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30352"/>
            <a:ext cx="77724" cy="457200"/>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37215" cy="731520"/>
          </a:xfrm>
          <a:prstGeom prst="rect">
            <a:avLst/>
          </a:prstGeom>
          <a:noFill/>
        </p:spPr>
        <p:txBody>
          <a:bodyPr wrap="square">
            <a:spAutoFit/>
          </a:bodyPr>
          <a:lstStyle/>
          <a:p>
            <a:r>
              <a:rPr sz="2500" b="1">
                <a:solidFill>
                  <a:srgbClr val="142B45"/>
                </a:solidFill>
                <a:latin typeface="Calibri"/>
              </a:rPr>
              <a:t>4. Một Số Vòng Lặp For Đặc Biệt (tiếp)</a:t>
            </a:r>
          </a:p>
        </p:txBody>
      </p:sp>
      <p:sp>
        <p:nvSpPr>
          <p:cNvPr id="5" name="TextBox 4"/>
          <p:cNvSpPr txBox="1"/>
          <p:nvPr/>
        </p:nvSpPr>
        <p:spPr>
          <a:xfrm>
            <a:off x="640080" y="100584"/>
            <a:ext cx="10911535" cy="256032"/>
          </a:xfrm>
          <a:prstGeom prst="rect">
            <a:avLst/>
          </a:prstGeom>
          <a:noFill/>
        </p:spPr>
        <p:txBody>
          <a:bodyPr wrap="none">
            <a:spAutoFit/>
          </a:bodyPr>
          <a:lstStyle/>
          <a:p>
            <a:pPr algn="r"/>
            <a:r>
              <a:rPr sz="1050">
                <a:solidFill>
                  <a:srgbClr val="6B7280"/>
                </a:solidFill>
                <a:latin typeface="Calibri"/>
              </a:rPr>
              <a:t>[C++]. Vòng Lặp For</a:t>
            </a:r>
          </a:p>
        </p:txBody>
      </p:sp>
      <p:sp>
        <p:nvSpPr>
          <p:cNvPr id="6" name="TextBox 5"/>
          <p:cNvSpPr txBox="1"/>
          <p:nvPr/>
        </p:nvSpPr>
        <p:spPr>
          <a:xfrm>
            <a:off x="640080" y="1298448"/>
            <a:ext cx="10911535" cy="379476"/>
          </a:xfrm>
          <a:prstGeom prst="rect">
            <a:avLst/>
          </a:prstGeom>
          <a:noFill/>
        </p:spPr>
        <p:txBody>
          <a:bodyPr wrap="square" lIns="0" rIns="0" tIns="0" bIns="0" anchor="t">
            <a:noAutofit/>
          </a:bodyPr>
          <a:lstStyle/>
          <a:p>
            <a:pPr algn="l"/>
            <a:r>
              <a:rPr sz="1650">
                <a:solidFill>
                  <a:srgbClr val="1F2A37"/>
                </a:solidFill>
                <a:latin typeface="Calibri"/>
              </a:rPr>
              <a:t>Ví dụ 2 : Vòng lặp không có điều kiện lặp và câu lệnh cập nhật cũng lặp vĩnh viễn</a:t>
            </a:r>
          </a:p>
        </p:txBody>
      </p:sp>
      <p:sp>
        <p:nvSpPr>
          <p:cNvPr id="7" name="Rectangle 6"/>
          <p:cNvSpPr/>
          <p:nvPr/>
        </p:nvSpPr>
        <p:spPr>
          <a:xfrm>
            <a:off x="640080" y="1677924"/>
            <a:ext cx="10911535" cy="3249167"/>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787652"/>
            <a:ext cx="10545775" cy="3047999"/>
          </a:xfrm>
          <a:prstGeom prst="rect">
            <a:avLst/>
          </a:prstGeom>
          <a:noFill/>
        </p:spPr>
        <p:txBody>
          <a:bodyPr wrap="square" lIns="0" rIns="0" tIns="0" bIns="0" anchor="t">
            <a:noAutofit/>
          </a:bodyPr>
          <a:lstStyle/>
          <a:p>
            <a:pPr algn="l">
              <a:lnSpc>
                <a:spcPct val="100000"/>
              </a:lnSpc>
              <a:spcAft>
                <a:spcPts val="0"/>
              </a:spcAft>
            </a:pPr>
            <a:r>
              <a:rPr sz="1400">
                <a:solidFill>
                  <a:srgbClr val="E6EDF3"/>
                </a:solidFill>
                <a:latin typeface="Consolas"/>
              </a:rPr>
              <a:t>#include "iostream"</a:t>
            </a:r>
          </a:p>
          <a:p>
            <a:pPr algn="l">
              <a:lnSpc>
                <a:spcPct val="100000"/>
              </a:lnSpc>
              <a:spcAft>
                <a:spcPts val="0"/>
              </a:spcAft>
            </a:pPr>
            <a:r>
              <a:rPr sz="1400">
                <a:solidFill>
                  <a:srgbClr val="E6EDF3"/>
                </a:solidFill>
                <a:latin typeface="Consolas"/>
              </a:rPr>
              <a:t> </a:t>
            </a:r>
          </a:p>
          <a:p>
            <a:pPr algn="l">
              <a:lnSpc>
                <a:spcPct val="100000"/>
              </a:lnSpc>
              <a:spcAft>
                <a:spcPts val="0"/>
              </a:spcAft>
            </a:pPr>
            <a:r>
              <a:rPr sz="1400">
                <a:solidFill>
                  <a:srgbClr val="E6EDF3"/>
                </a:solidFill>
                <a:latin typeface="Consolas"/>
              </a:rPr>
              <a:t>using namespace std;</a:t>
            </a:r>
          </a:p>
          <a:p>
            <a:pPr algn="l">
              <a:lnSpc>
                <a:spcPct val="100000"/>
              </a:lnSpc>
              <a:spcAft>
                <a:spcPts val="0"/>
              </a:spcAft>
            </a:pPr>
            <a:r>
              <a:rPr sz="1400">
                <a:solidFill>
                  <a:srgbClr val="E6EDF3"/>
                </a:solidFill>
                <a:latin typeface="Consolas"/>
              </a:rPr>
              <a:t> </a:t>
            </a:r>
          </a:p>
          <a:p>
            <a:pPr algn="l">
              <a:lnSpc>
                <a:spcPct val="100000"/>
              </a:lnSpc>
              <a:spcAft>
                <a:spcPts val="0"/>
              </a:spcAft>
            </a:pPr>
            <a:r>
              <a:rPr sz="1400">
                <a:solidFill>
                  <a:srgbClr val="E6EDF3"/>
                </a:solidFill>
                <a:latin typeface="Consolas"/>
              </a:rPr>
              <a:t>int main(){</a:t>
            </a:r>
          </a:p>
          <a:p>
            <a:pPr algn="l">
              <a:lnSpc>
                <a:spcPct val="100000"/>
              </a:lnSpc>
              <a:spcAft>
                <a:spcPts val="0"/>
              </a:spcAft>
            </a:pPr>
            <a:r>
              <a:rPr sz="1400">
                <a:solidFill>
                  <a:srgbClr val="E6EDF3"/>
                </a:solidFill>
                <a:latin typeface="Consolas"/>
              </a:rPr>
              <a:t>     for(int i = 1; ;){</a:t>
            </a:r>
          </a:p>
          <a:p>
            <a:pPr algn="l">
              <a:lnSpc>
                <a:spcPct val="100000"/>
              </a:lnSpc>
              <a:spcAft>
                <a:spcPts val="0"/>
              </a:spcAft>
            </a:pPr>
            <a:r>
              <a:rPr sz="1400">
                <a:solidFill>
                  <a:srgbClr val="E6EDF3"/>
                </a:solidFill>
                <a:latin typeface="Consolas"/>
              </a:rPr>
              <a:t>        cout &lt;&lt; "28tech" &lt;&lt; endl;</a:t>
            </a:r>
          </a:p>
          <a:p>
            <a:pPr algn="l">
              <a:lnSpc>
                <a:spcPct val="100000"/>
              </a:lnSpc>
              <a:spcAft>
                <a:spcPts val="0"/>
              </a:spcAft>
            </a:pPr>
            <a:r>
              <a:rPr sz="1400">
                <a:solidFill>
                  <a:srgbClr val="E6EDF3"/>
                </a:solidFill>
                <a:latin typeface="Consolas"/>
              </a:rPr>
              <a:t>        cout &lt;&lt; "lap vinh vien\n";</a:t>
            </a:r>
          </a:p>
          <a:p>
            <a:pPr algn="l">
              <a:lnSpc>
                <a:spcPct val="100000"/>
              </a:lnSpc>
              <a:spcAft>
                <a:spcPts val="0"/>
              </a:spcAft>
            </a:pPr>
            <a:r>
              <a:rPr sz="1400">
                <a:solidFill>
                  <a:srgbClr val="E6EDF3"/>
                </a:solidFill>
                <a:latin typeface="Consolas"/>
              </a:rPr>
              <a:t>        cout &lt;&lt; "lap trinh C++\n";</a:t>
            </a:r>
          </a:p>
          <a:p>
            <a:pPr algn="l">
              <a:lnSpc>
                <a:spcPct val="100000"/>
              </a:lnSpc>
              <a:spcAft>
                <a:spcPts val="0"/>
              </a:spcAft>
            </a:pPr>
            <a:r>
              <a:rPr sz="1400">
                <a:solidFill>
                  <a:srgbClr val="E6EDF3"/>
                </a:solidFill>
                <a:latin typeface="Consolas"/>
              </a:rPr>
              <a:t>    }</a:t>
            </a:r>
          </a:p>
          <a:p>
            <a:pPr algn="l">
              <a:lnSpc>
                <a:spcPct val="100000"/>
              </a:lnSpc>
              <a:spcAft>
                <a:spcPts val="0"/>
              </a:spcAft>
            </a:pPr>
            <a:r>
              <a:rPr sz="1400">
                <a:solidFill>
                  <a:srgbClr val="E6EDF3"/>
                </a:solidFill>
                <a:latin typeface="Consolas"/>
              </a:rPr>
              <a:t>    return 0;</a:t>
            </a:r>
          </a:p>
          <a:p>
            <a:pPr algn="l">
              <a:lnSpc>
                <a:spcPct val="100000"/>
              </a:lnSpc>
              <a:spcAft>
                <a:spcPts val="0"/>
              </a:spcAft>
            </a:pPr>
            <a:r>
              <a:rPr sz="1400">
                <a:solidFill>
                  <a:srgbClr val="E6EDF3"/>
                </a:solidFill>
                <a:latin typeface="Consolas"/>
              </a:rPr>
              <a:t>}</a:t>
            </a:r>
          </a:p>
        </p:txBody>
      </p:sp>
      <p:sp>
        <p:nvSpPr>
          <p:cNvPr id="9" name="TextBox 8"/>
          <p:cNvSpPr txBox="1"/>
          <p:nvPr/>
        </p:nvSpPr>
        <p:spPr>
          <a:xfrm>
            <a:off x="640080" y="5018532"/>
            <a:ext cx="10911535" cy="379476"/>
          </a:xfrm>
          <a:prstGeom prst="rect">
            <a:avLst/>
          </a:prstGeom>
          <a:noFill/>
        </p:spPr>
        <p:txBody>
          <a:bodyPr wrap="square" lIns="0" rIns="0" tIns="0" bIns="0" anchor="t">
            <a:noAutofit/>
          </a:bodyPr>
          <a:lstStyle/>
          <a:p>
            <a:pPr algn="l"/>
            <a:r>
              <a:rPr sz="1650">
                <a:solidFill>
                  <a:srgbClr val="1F2A37"/>
                </a:solidFill>
                <a:latin typeface="Calibri"/>
              </a:rPr>
              <a:t>Ví dụ 3 : Vòng lặp for có thể khuyết cả 3 phần, mục đích là tạo vòng lặp vĩnh viễn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30352"/>
            <a:ext cx="77724" cy="457200"/>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37215" cy="731520"/>
          </a:xfrm>
          <a:prstGeom prst="rect">
            <a:avLst/>
          </a:prstGeom>
          <a:noFill/>
        </p:spPr>
        <p:txBody>
          <a:bodyPr wrap="square">
            <a:spAutoFit/>
          </a:bodyPr>
          <a:lstStyle/>
          <a:p>
            <a:r>
              <a:rPr sz="2500" b="1">
                <a:solidFill>
                  <a:srgbClr val="142B45"/>
                </a:solidFill>
                <a:latin typeface="Calibri"/>
              </a:rPr>
              <a:t>4. Một Số Vòng Lặp For Đặc Biệt (tiếp)</a:t>
            </a:r>
          </a:p>
        </p:txBody>
      </p:sp>
      <p:sp>
        <p:nvSpPr>
          <p:cNvPr id="5" name="TextBox 4"/>
          <p:cNvSpPr txBox="1"/>
          <p:nvPr/>
        </p:nvSpPr>
        <p:spPr>
          <a:xfrm>
            <a:off x="640080" y="100584"/>
            <a:ext cx="10911535" cy="256032"/>
          </a:xfrm>
          <a:prstGeom prst="rect">
            <a:avLst/>
          </a:prstGeom>
          <a:noFill/>
        </p:spPr>
        <p:txBody>
          <a:bodyPr wrap="none">
            <a:spAutoFit/>
          </a:bodyPr>
          <a:lstStyle/>
          <a:p>
            <a:pPr algn="r"/>
            <a:r>
              <a:rPr sz="1050">
                <a:solidFill>
                  <a:srgbClr val="6B7280"/>
                </a:solidFill>
                <a:latin typeface="Calibri"/>
              </a:rPr>
              <a:t>[C++]. Vòng Lặp For</a:t>
            </a:r>
          </a:p>
        </p:txBody>
      </p:sp>
      <p:sp>
        <p:nvSpPr>
          <p:cNvPr id="6" name="TextBox 5"/>
          <p:cNvSpPr txBox="1"/>
          <p:nvPr/>
        </p:nvSpPr>
        <p:spPr>
          <a:xfrm>
            <a:off x="640080" y="1298448"/>
            <a:ext cx="10911535" cy="379476"/>
          </a:xfrm>
          <a:prstGeom prst="rect">
            <a:avLst/>
          </a:prstGeom>
          <a:noFill/>
        </p:spPr>
        <p:txBody>
          <a:bodyPr wrap="square" lIns="0" rIns="0" tIns="0" bIns="0" anchor="t">
            <a:noAutofit/>
          </a:bodyPr>
          <a:lstStyle/>
          <a:p>
            <a:pPr algn="l"/>
            <a:r>
              <a:rPr sz="1650">
                <a:solidFill>
                  <a:srgbClr val="1F2A37"/>
                </a:solidFill>
                <a:latin typeface="Calibri"/>
              </a:rPr>
              <a:t>Code sau sẽ yêu cầu người dùng nhập số cho tới khi nào nhập số 28 mới dừng vòng lặp.</a:t>
            </a:r>
          </a:p>
        </p:txBody>
      </p:sp>
      <p:sp>
        <p:nvSpPr>
          <p:cNvPr id="7" name="Rectangle 6"/>
          <p:cNvSpPr/>
          <p:nvPr/>
        </p:nvSpPr>
        <p:spPr>
          <a:xfrm>
            <a:off x="640080" y="1677924"/>
            <a:ext cx="10911535" cy="3952494"/>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787652"/>
            <a:ext cx="10545775" cy="3751325"/>
          </a:xfrm>
          <a:prstGeom prst="rect">
            <a:avLst/>
          </a:prstGeom>
          <a:noFill/>
        </p:spPr>
        <p:txBody>
          <a:bodyPr wrap="square" lIns="0" rIns="0" tIns="0" bIns="0" anchor="t">
            <a:noAutofit/>
          </a:bodyPr>
          <a:lstStyle/>
          <a:p>
            <a:pPr algn="l">
              <a:lnSpc>
                <a:spcPct val="100000"/>
              </a:lnSpc>
              <a:spcAft>
                <a:spcPts val="0"/>
              </a:spcAft>
            </a:pPr>
            <a:r>
              <a:rPr sz="1150">
                <a:solidFill>
                  <a:srgbClr val="E6EDF3"/>
                </a:solidFill>
                <a:latin typeface="Consolas"/>
              </a:rPr>
              <a:t>#include "iostream"</a:t>
            </a:r>
          </a:p>
          <a:p>
            <a:pPr algn="l">
              <a:lnSpc>
                <a:spcPct val="100000"/>
              </a:lnSpc>
              <a:spcAft>
                <a:spcPts val="0"/>
              </a:spcAft>
            </a:pPr>
            <a:r>
              <a:rPr sz="1150">
                <a:solidFill>
                  <a:srgbClr val="E6EDF3"/>
                </a:solidFill>
                <a:latin typeface="Consolas"/>
              </a:rPr>
              <a:t> </a:t>
            </a:r>
          </a:p>
          <a:p>
            <a:pPr algn="l">
              <a:lnSpc>
                <a:spcPct val="100000"/>
              </a:lnSpc>
              <a:spcAft>
                <a:spcPts val="0"/>
              </a:spcAft>
            </a:pPr>
            <a:r>
              <a:rPr sz="1150">
                <a:solidFill>
                  <a:srgbClr val="E6EDF3"/>
                </a:solidFill>
                <a:latin typeface="Consolas"/>
              </a:rPr>
              <a:t>using namespace std;</a:t>
            </a:r>
          </a:p>
          <a:p>
            <a:pPr algn="l">
              <a:lnSpc>
                <a:spcPct val="100000"/>
              </a:lnSpc>
              <a:spcAft>
                <a:spcPts val="0"/>
              </a:spcAft>
            </a:pPr>
            <a:r>
              <a:rPr sz="1150">
                <a:solidFill>
                  <a:srgbClr val="E6EDF3"/>
                </a:solidFill>
                <a:latin typeface="Consolas"/>
              </a:rPr>
              <a:t> </a:t>
            </a:r>
          </a:p>
          <a:p>
            <a:pPr algn="l">
              <a:lnSpc>
                <a:spcPct val="100000"/>
              </a:lnSpc>
              <a:spcAft>
                <a:spcPts val="0"/>
              </a:spcAft>
            </a:pPr>
            <a:r>
              <a:rPr sz="1150">
                <a:solidFill>
                  <a:srgbClr val="E6EDF3"/>
                </a:solidFill>
                <a:latin typeface="Consolas"/>
              </a:rPr>
              <a:t>int main(){</a:t>
            </a:r>
          </a:p>
          <a:p>
            <a:pPr algn="l">
              <a:lnSpc>
                <a:spcPct val="100000"/>
              </a:lnSpc>
              <a:spcAft>
                <a:spcPts val="0"/>
              </a:spcAft>
            </a:pPr>
            <a:r>
              <a:rPr sz="1150">
                <a:solidFill>
                  <a:srgbClr val="E6EDF3"/>
                </a:solidFill>
                <a:latin typeface="Consolas"/>
              </a:rPr>
              <a:t>    int n;</a:t>
            </a:r>
          </a:p>
          <a:p>
            <a:pPr algn="l">
              <a:lnSpc>
                <a:spcPct val="100000"/>
              </a:lnSpc>
              <a:spcAft>
                <a:spcPts val="0"/>
              </a:spcAft>
            </a:pPr>
            <a:r>
              <a:rPr sz="1150">
                <a:solidFill>
                  <a:srgbClr val="E6EDF3"/>
                </a:solidFill>
                <a:latin typeface="Consolas"/>
              </a:rPr>
              <a:t>    for(; ;){</a:t>
            </a:r>
          </a:p>
          <a:p>
            <a:pPr algn="l">
              <a:lnSpc>
                <a:spcPct val="100000"/>
              </a:lnSpc>
              <a:spcAft>
                <a:spcPts val="0"/>
              </a:spcAft>
            </a:pPr>
            <a:r>
              <a:rPr sz="1150">
                <a:solidFill>
                  <a:srgbClr val="E6EDF3"/>
                </a:solidFill>
                <a:latin typeface="Consolas"/>
              </a:rPr>
              <a:t>        cout &lt;&lt; "Nhap n : ";</a:t>
            </a:r>
          </a:p>
          <a:p>
            <a:pPr algn="l">
              <a:lnSpc>
                <a:spcPct val="100000"/>
              </a:lnSpc>
              <a:spcAft>
                <a:spcPts val="0"/>
              </a:spcAft>
            </a:pPr>
            <a:r>
              <a:rPr sz="1150">
                <a:solidFill>
                  <a:srgbClr val="E6EDF3"/>
                </a:solidFill>
                <a:latin typeface="Consolas"/>
              </a:rPr>
              <a:t>        cin &gt;&gt; n;</a:t>
            </a:r>
          </a:p>
          <a:p>
            <a:pPr algn="l">
              <a:lnSpc>
                <a:spcPct val="100000"/>
              </a:lnSpc>
              <a:spcAft>
                <a:spcPts val="0"/>
              </a:spcAft>
            </a:pPr>
            <a:r>
              <a:rPr sz="1150">
                <a:solidFill>
                  <a:srgbClr val="E6EDF3"/>
                </a:solidFill>
                <a:latin typeface="Consolas"/>
              </a:rPr>
              <a:t>        if(n == 28){</a:t>
            </a:r>
          </a:p>
          <a:p>
            <a:pPr algn="l">
              <a:lnSpc>
                <a:spcPct val="100000"/>
              </a:lnSpc>
              <a:spcAft>
                <a:spcPts val="0"/>
              </a:spcAft>
            </a:pPr>
            <a:r>
              <a:rPr sz="1150">
                <a:solidFill>
                  <a:srgbClr val="E6EDF3"/>
                </a:solidFill>
                <a:latin typeface="Consolas"/>
              </a:rPr>
              <a:t>            goto nhan;</a:t>
            </a:r>
          </a:p>
          <a:p>
            <a:pPr algn="l">
              <a:lnSpc>
                <a:spcPct val="100000"/>
              </a:lnSpc>
              <a:spcAft>
                <a:spcPts val="0"/>
              </a:spcAft>
            </a:pPr>
            <a:r>
              <a:rPr sz="1150">
                <a:solidFill>
                  <a:srgbClr val="E6EDF3"/>
                </a:solidFill>
                <a:latin typeface="Consolas"/>
              </a:rPr>
              <a:t>        }</a:t>
            </a:r>
          </a:p>
          <a:p>
            <a:pPr algn="l">
              <a:lnSpc>
                <a:spcPct val="100000"/>
              </a:lnSpc>
              <a:spcAft>
                <a:spcPts val="0"/>
              </a:spcAft>
            </a:pPr>
            <a:r>
              <a:rPr sz="1150">
                <a:solidFill>
                  <a:srgbClr val="E6EDF3"/>
                </a:solidFill>
                <a:latin typeface="Consolas"/>
              </a:rPr>
              <a:t>    }</a:t>
            </a:r>
          </a:p>
          <a:p>
            <a:pPr algn="l">
              <a:lnSpc>
                <a:spcPct val="100000"/>
              </a:lnSpc>
              <a:spcAft>
                <a:spcPts val="0"/>
              </a:spcAft>
            </a:pPr>
            <a:r>
              <a:rPr sz="1150">
                <a:solidFill>
                  <a:srgbClr val="E6EDF3"/>
                </a:solidFill>
                <a:latin typeface="Consolas"/>
              </a:rPr>
              <a:t>    nhan:</a:t>
            </a:r>
          </a:p>
          <a:p>
            <a:pPr algn="l">
              <a:lnSpc>
                <a:spcPct val="100000"/>
              </a:lnSpc>
              <a:spcAft>
                <a:spcPts val="0"/>
              </a:spcAft>
            </a:pPr>
            <a:r>
              <a:rPr sz="1150">
                <a:solidFill>
                  <a:srgbClr val="E6EDF3"/>
                </a:solidFill>
                <a:latin typeface="Consolas"/>
              </a:rPr>
              <a:t>    cout &lt;&lt; n &lt;&lt; endl;</a:t>
            </a:r>
          </a:p>
          <a:p>
            <a:pPr algn="l">
              <a:lnSpc>
                <a:spcPct val="100000"/>
              </a:lnSpc>
              <a:spcAft>
                <a:spcPts val="0"/>
              </a:spcAft>
            </a:pPr>
            <a:r>
              <a:rPr sz="1150">
                <a:solidFill>
                  <a:srgbClr val="E6EDF3"/>
                </a:solidFill>
                <a:latin typeface="Consolas"/>
              </a:rPr>
              <a:t>    cout &lt;&lt; "Ket thuc !!!\n";</a:t>
            </a:r>
          </a:p>
          <a:p>
            <a:pPr algn="l">
              <a:lnSpc>
                <a:spcPct val="100000"/>
              </a:lnSpc>
              <a:spcAft>
                <a:spcPts val="0"/>
              </a:spcAft>
            </a:pPr>
            <a:r>
              <a:rPr sz="1150">
                <a:solidFill>
                  <a:srgbClr val="E6EDF3"/>
                </a:solidFill>
                <a:latin typeface="Consolas"/>
              </a:rPr>
              <a:t>    return 0;</a:t>
            </a:r>
          </a:p>
          <a:p>
            <a:pPr algn="l">
              <a:lnSpc>
                <a:spcPct val="100000"/>
              </a:lnSpc>
              <a:spcAft>
                <a:spcPts val="0"/>
              </a:spcAft>
            </a:pPr>
            <a:r>
              <a:rPr sz="1150">
                <a:solidFill>
                  <a:srgbClr val="E6EDF3"/>
                </a:solidFill>
                <a:latin typeface="Consolas"/>
              </a:rPr>
              <a: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30352"/>
            <a:ext cx="77724" cy="457200"/>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37215" cy="731520"/>
          </a:xfrm>
          <a:prstGeom prst="rect">
            <a:avLst/>
          </a:prstGeom>
          <a:noFill/>
        </p:spPr>
        <p:txBody>
          <a:bodyPr wrap="square">
            <a:spAutoFit/>
          </a:bodyPr>
          <a:lstStyle/>
          <a:p>
            <a:r>
              <a:rPr sz="2500" b="1">
                <a:solidFill>
                  <a:srgbClr val="142B45"/>
                </a:solidFill>
                <a:latin typeface="Calibri"/>
              </a:rPr>
              <a:t>[C++]. Vòng Lặp For</a:t>
            </a:r>
          </a:p>
        </p:txBody>
      </p:sp>
      <p:sp>
        <p:nvSpPr>
          <p:cNvPr id="5" name="TextBox 4"/>
          <p:cNvSpPr txBox="1"/>
          <p:nvPr/>
        </p:nvSpPr>
        <p:spPr>
          <a:xfrm>
            <a:off x="640080" y="100584"/>
            <a:ext cx="10911535" cy="256032"/>
          </a:xfrm>
          <a:prstGeom prst="rect">
            <a:avLst/>
          </a:prstGeom>
          <a:noFill/>
        </p:spPr>
        <p:txBody>
          <a:bodyPr wrap="none">
            <a:spAutoFit/>
          </a:bodyPr>
          <a:lstStyle/>
          <a:p>
            <a:pPr algn="r"/>
            <a:r>
              <a:rPr sz="1050">
                <a:solidFill>
                  <a:srgbClr val="6B7280"/>
                </a:solidFill>
                <a:latin typeface="Calibri"/>
              </a:rPr>
              <a:t>[C++]. Vòng Lặp For</a:t>
            </a:r>
          </a:p>
        </p:txBody>
      </p:sp>
      <p:sp>
        <p:nvSpPr>
          <p:cNvPr id="6" name="TextBox 5"/>
          <p:cNvSpPr txBox="1"/>
          <p:nvPr/>
        </p:nvSpPr>
        <p:spPr>
          <a:xfrm>
            <a:off x="640080" y="1298448"/>
            <a:ext cx="10911535" cy="379476"/>
          </a:xfrm>
          <a:prstGeom prst="rect">
            <a:avLst/>
          </a:prstGeom>
          <a:noFill/>
        </p:spPr>
        <p:txBody>
          <a:bodyPr wrap="square" lIns="0" rIns="0" tIns="0" bIns="0" anchor="t">
            <a:noAutofit/>
          </a:bodyPr>
          <a:lstStyle/>
          <a:p>
            <a:pPr algn="l"/>
            <a:r>
              <a:rPr b="1" sz="1650">
                <a:solidFill>
                  <a:srgbClr val="1F2A37"/>
                </a:solidFill>
                <a:latin typeface="Calibri"/>
              </a:rPr>
              <a:t>Video Tutorial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