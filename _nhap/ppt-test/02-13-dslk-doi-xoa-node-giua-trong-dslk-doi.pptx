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86000"/>
            <a:ext cx="10149840" cy="2011680"/>
          </a:xfrm>
          <a:prstGeom prst="rect">
            <a:avLst/>
          </a:prstGeom>
          <a:noFill/>
        </p:spPr>
        <p:txBody>
          <a:bodyPr wrap="square">
            <a:spAutoFit/>
          </a:bodyPr>
          <a:lstStyle/>
          <a:p>
            <a:r>
              <a:rPr sz="4000" b="1">
                <a:solidFill>
                  <a:srgbClr val="FFFFFF"/>
                </a:solidFill>
                <a:latin typeface="Calibri"/>
              </a:rPr>
              <a:t>[DSLK Đôi]. Xóa Node Giữa Trong DSLK Đôi</a:t>
            </a:r>
          </a:p>
          <a:p>
            <a:pPr>
              <a:spcBef>
                <a:spcPts val="1400"/>
              </a:spcBef>
            </a:pPr>
            <a:r>
              <a:rPr sz="1800">
                <a:solidFill>
                  <a:srgbClr val="3598DB"/>
                </a:solidFill>
                <a:latin typeface="Calibri"/>
              </a:rPr>
              <a:t>C++ Cơ Bản</a:t>
            </a:r>
          </a:p>
          <a:p>
            <a:pPr>
              <a:spcBef>
                <a:spcPts val="2600"/>
              </a:spcBef>
            </a:pPr>
            <a:r>
              <a:rPr sz="1100">
                <a:solidFill>
                  <a:srgbClr val="8C9AAF"/>
                </a:solidFill>
                <a:latin typeface="Calibri"/>
              </a:rPr>
              <a:t>https://blog.28tech.com.vn/dslk-doi-xoa-node-giua-trong-dslk-doi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[DSLK Đôi]. Xóa Node Giữa Trong DSLK Đôi</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sz="1700">
                <a:solidFill>
                  <a:srgbClr val="1F2A37"/>
                </a:solidFill>
                <a:latin typeface="Calibri"/>
              </a:rPr>
              <a:t>Bài viết này mình sẽ hướng dẫn các bạn thao tác xóa node giữa trong DSLK đôi, mã nguồn được cài đặt bằng cả C và C++ cũng như trình bày theo 2 cách để các bạn có thêm cách tiếp cận phù hợp.</a:t>
            </a:r>
          </a:p>
          <a:p>
            <a:pPr>
              <a:spcAft>
                <a:spcPts val="1000"/>
              </a:spcAft>
            </a:pPr>
            <a:r>
              <a:rPr b="1" sz="1700">
                <a:solidFill>
                  <a:srgbClr val="1F2A37"/>
                </a:solidFill>
                <a:latin typeface="Calibri"/>
              </a:rPr>
              <a:t>NỘI DUNG :</a:t>
            </a:r>
          </a:p>
          <a:p>
            <a:pPr>
              <a:spcAft>
                <a:spcPts val="600"/>
              </a:spcAft>
            </a:pPr>
            <a:r>
              <a:rPr sz="1700">
                <a:solidFill>
                  <a:srgbClr val="3598DB"/>
                </a:solidFill>
                <a:latin typeface="Calibri"/>
              </a:rPr>
              <a:t>• </a:t>
            </a:r>
            <a:r>
              <a:rPr b="1" sz="1600">
                <a:solidFill>
                  <a:srgbClr val="1F2A37"/>
                </a:solidFill>
                <a:latin typeface="Calibri"/>
              </a:rPr>
              <a:t>Xóa node giữa trong DSLK đôi quản lý bởi node head</a:t>
            </a:r>
          </a:p>
          <a:p>
            <a:pPr>
              <a:spcAft>
                <a:spcPts val="600"/>
              </a:spcAft>
            </a:pPr>
            <a:r>
              <a:rPr sz="1700">
                <a:solidFill>
                  <a:srgbClr val="3598DB"/>
                </a:solidFill>
                <a:latin typeface="Calibri"/>
              </a:rPr>
              <a:t>• </a:t>
            </a:r>
            <a:r>
              <a:rPr b="1" sz="1600">
                <a:solidFill>
                  <a:srgbClr val="1F2A37"/>
                </a:solidFill>
                <a:latin typeface="Calibri"/>
              </a:rPr>
              <a:t>Xóa node giữa trong DSLK đôi quản lý bởi node head và tail</a:t>
            </a:r>
          </a:p>
          <a:p>
            <a:pPr>
              <a:spcAft>
                <a:spcPts val="600"/>
              </a:spcAft>
            </a:pPr>
            <a:r>
              <a:rPr sz="1700">
                <a:solidFill>
                  <a:srgbClr val="3598DB"/>
                </a:solidFill>
                <a:latin typeface="Calibri"/>
              </a:rPr>
              <a:t>• </a:t>
            </a:r>
            <a:r>
              <a:rPr b="1" sz="1600">
                <a:solidFill>
                  <a:srgbClr val="1F2A37"/>
                </a:solidFill>
                <a:latin typeface="Calibri"/>
              </a:rPr>
              <a:t>Video tutorial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sz="1700">
                <a:solidFill>
                  <a:srgbClr val="1F2A37"/>
                </a:solidFill>
                <a:latin typeface="Calibri"/>
              </a:rPr>
              <a:t>Để xóa node giữa tại vị trí thứ K trong danh sách liên kết bạn thực hiện theo các bước sau đây :</a:t>
            </a:r>
          </a:p>
          <a:p>
            <a:pPr>
              <a:spcAft>
                <a:spcPts val="600"/>
              </a:spcAft>
            </a:pPr>
            <a:r>
              <a:rPr sz="1700">
                <a:solidFill>
                  <a:srgbClr val="3598DB"/>
                </a:solidFill>
                <a:latin typeface="Calibri"/>
              </a:rPr>
              <a:t>• </a:t>
            </a:r>
            <a:r>
              <a:rPr sz="1600">
                <a:solidFill>
                  <a:srgbClr val="1F2A37"/>
                </a:solidFill>
                <a:latin typeface="Calibri"/>
              </a:rPr>
              <a:t>Duyệt đến node k trong DSLK</a:t>
            </a:r>
          </a:p>
          <a:p>
            <a:pPr>
              <a:spcAft>
                <a:spcPts val="600"/>
              </a:spcAft>
            </a:pPr>
            <a:r>
              <a:rPr sz="1700">
                <a:solidFill>
                  <a:srgbClr val="3598DB"/>
                </a:solidFill>
                <a:latin typeface="Calibri"/>
              </a:rPr>
              <a:t>• </a:t>
            </a:r>
            <a:r>
              <a:rPr sz="1600">
                <a:solidFill>
                  <a:srgbClr val="1F2A37"/>
                </a:solidFill>
                <a:latin typeface="Calibri"/>
              </a:rPr>
              <a:t>Lưu lại địa chỉ node thứ k</a:t>
            </a:r>
          </a:p>
          <a:p>
            <a:pPr>
              <a:spcAft>
                <a:spcPts val="600"/>
              </a:spcAft>
            </a:pPr>
            <a:r>
              <a:rPr sz="1700">
                <a:solidFill>
                  <a:srgbClr val="3598DB"/>
                </a:solidFill>
                <a:latin typeface="Calibri"/>
              </a:rPr>
              <a:t>• </a:t>
            </a:r>
            <a:r>
              <a:rPr sz="1600">
                <a:solidFill>
                  <a:srgbClr val="1F2A37"/>
                </a:solidFill>
                <a:latin typeface="Calibri"/>
              </a:rPr>
              <a:t>Cho node k - 1 trỏ vào node k + 1</a:t>
            </a:r>
          </a:p>
          <a:p>
            <a:pPr>
              <a:spcAft>
                <a:spcPts val="600"/>
              </a:spcAft>
            </a:pPr>
            <a:r>
              <a:rPr sz="1700">
                <a:solidFill>
                  <a:srgbClr val="3598DB"/>
                </a:solidFill>
                <a:latin typeface="Calibri"/>
              </a:rPr>
              <a:t>• </a:t>
            </a:r>
            <a:r>
              <a:rPr sz="1600">
                <a:solidFill>
                  <a:srgbClr val="1F2A37"/>
                </a:solidFill>
                <a:latin typeface="Calibri"/>
              </a:rPr>
              <a:t>Cho node k + 1 trỏ ngược lại node k - 1</a:t>
            </a:r>
          </a:p>
          <a:p>
            <a:pPr>
              <a:spcAft>
                <a:spcPts val="600"/>
              </a:spcAft>
            </a:pPr>
            <a:r>
              <a:rPr sz="1700">
                <a:solidFill>
                  <a:srgbClr val="3598DB"/>
                </a:solidFill>
                <a:latin typeface="Calibri"/>
              </a:rPr>
              <a:t>• </a:t>
            </a:r>
            <a:r>
              <a:rPr sz="1600">
                <a:solidFill>
                  <a:srgbClr val="1F2A37"/>
                </a:solidFill>
                <a:latin typeface="Calibri"/>
              </a:rPr>
              <a:t>Giải phóng vùng nhớ node thứ k đã lưu ở bước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pic>
        <p:nvPicPr>
          <p:cNvPr id="6" name="Picture 5" descr="02c1cecda899fda6.gif"/>
          <p:cNvPicPr>
            <a:picLocks noChangeAspect="1"/>
          </p:cNvPicPr>
          <p:nvPr/>
        </p:nvPicPr>
        <p:blipFill>
          <a:blip r:embed="rId2"/>
          <a:stretch>
            <a:fillRect/>
          </a:stretch>
        </p:blipFill>
        <p:spPr>
          <a:xfrm>
            <a:off x="1706727" y="1371600"/>
            <a:ext cx="8778240" cy="49377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b="1" sz="1700">
                <a:solidFill>
                  <a:srgbClr val="1F2A37"/>
                </a:solidFill>
                <a:latin typeface="Calibri"/>
              </a:rPr>
              <a:t>Chú ý</a:t>
            </a:r>
            <a:r>
              <a:rPr sz="1700">
                <a:solidFill>
                  <a:srgbClr val="1F2A37"/>
                </a:solidFill>
                <a:latin typeface="Calibri"/>
              </a:rPr>
              <a:t> : Nếu DSLK đơn chỉ có 1 node thì bạn cần xử lý riêng vì với việc xóa trong DSLK đơn nếu bạn xóa node thứ k ta cần tới được node thứ k - 1 và tìm cách kết nối node này với node k + 1.</a:t>
            </a:r>
          </a:p>
          <a:p>
            <a:pPr>
              <a:spcAft>
                <a:spcPts val="1000"/>
              </a:spcAft>
            </a:pPr>
            <a:r>
              <a:rPr b="1" sz="1700">
                <a:solidFill>
                  <a:srgbClr val="1F2A37"/>
                </a:solidFill>
                <a:latin typeface="Calibri"/>
              </a:rPr>
              <a:t>Mã nguồn C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1/5)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#include "stdio.h"</a:t>
            </a:r>
          </a:p>
          <a:p>
            <a:pPr>
              <a:spcAft>
                <a:spcPts val="0"/>
              </a:spcAft>
            </a:pPr>
            <a:r>
              <a:rPr sz="1200">
                <a:solidFill>
                  <a:srgbClr val="E6EDF3"/>
                </a:solidFill>
                <a:latin typeface="Consolas"/>
              </a:rPr>
              <a:t>#include "stdlib.h"</a:t>
            </a:r>
          </a:p>
          <a:p>
            <a:pPr>
              <a:spcAft>
                <a:spcPts val="0"/>
              </a:spcAft>
            </a:pPr>
            <a:r>
              <a:rPr sz="1200">
                <a:solidFill>
                  <a:srgbClr val="E6EDF3"/>
                </a:solidFill>
                <a:latin typeface="Consolas"/>
              </a:rPr>
              <a:t>#include "string.h"</a:t>
            </a:r>
          </a:p>
          <a:p>
            <a:pPr>
              <a:spcAft>
                <a:spcPts val="0"/>
              </a:spcAft>
            </a:pPr>
            <a:r>
              <a:rPr sz="1200">
                <a:solidFill>
                  <a:srgbClr val="E6EDF3"/>
                </a:solidFill>
                <a:latin typeface="Consolas"/>
              </a:rPr>
              <a:t> </a:t>
            </a:r>
          </a:p>
          <a:p>
            <a:pPr>
              <a:spcAft>
                <a:spcPts val="0"/>
              </a:spcAft>
            </a:pPr>
            <a:r>
              <a:rPr sz="1200">
                <a:solidFill>
                  <a:srgbClr val="E6EDF3"/>
                </a:solidFill>
                <a:latin typeface="Consolas"/>
              </a:rPr>
              <a:t>struct node{</a:t>
            </a:r>
          </a:p>
          <a:p>
            <a:pPr>
              <a:spcAft>
                <a:spcPts val="0"/>
              </a:spcAft>
            </a:pPr>
            <a:r>
              <a:rPr sz="1200">
                <a:solidFill>
                  <a:srgbClr val="E6EDF3"/>
                </a:solidFill>
                <a:latin typeface="Consolas"/>
              </a:rPr>
              <a:t>    int data;</a:t>
            </a:r>
          </a:p>
          <a:p>
            <a:pPr>
              <a:spcAft>
                <a:spcPts val="0"/>
              </a:spcAft>
            </a:pPr>
            <a:r>
              <a:rPr sz="1200">
                <a:solidFill>
                  <a:srgbClr val="E6EDF3"/>
                </a:solidFill>
                <a:latin typeface="Consolas"/>
              </a:rPr>
              <a:t>    struct node *next;</a:t>
            </a:r>
          </a:p>
          <a:p>
            <a:pPr>
              <a:spcAft>
                <a:spcPts val="0"/>
              </a:spcAft>
            </a:pPr>
            <a:r>
              <a:rPr sz="1200">
                <a:solidFill>
                  <a:srgbClr val="E6EDF3"/>
                </a:solidFill>
                <a:latin typeface="Consolas"/>
              </a:rPr>
              <a:t>    struct node *prev;</a:t>
            </a:r>
          </a:p>
          <a:p>
            <a:pPr>
              <a:spcAft>
                <a:spcPts val="0"/>
              </a:spcAft>
            </a:pPr>
            <a:r>
              <a:rPr sz="1200">
                <a:solidFill>
                  <a:srgbClr val="E6EDF3"/>
                </a:solidFill>
                <a:latin typeface="Consolas"/>
              </a:rPr>
              <a:t>};</a:t>
            </a:r>
          </a:p>
          <a:p>
            <a:pPr>
              <a:spcAft>
                <a:spcPts val="0"/>
              </a:spcAft>
            </a:pPr>
            <a:r>
              <a:rPr sz="1200">
                <a:solidFill>
                  <a:srgbClr val="E6EDF3"/>
                </a:solidFill>
                <a:latin typeface="Consolas"/>
              </a:rPr>
              <a:t>typedef struct node node;</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duyet(node *head){</a:t>
            </a:r>
          </a:p>
          <a:p>
            <a:pPr>
              <a:spcAft>
                <a:spcPts val="0"/>
              </a:spcAft>
            </a:pPr>
            <a:r>
              <a:rPr sz="1200">
                <a:solidFill>
                  <a:srgbClr val="E6EDF3"/>
                </a:solidFill>
                <a:latin typeface="Consolas"/>
              </a:rPr>
              <a:t>    while(head != NULL){</a:t>
            </a:r>
          </a:p>
          <a:p>
            <a:pPr>
              <a:spcAft>
                <a:spcPts val="0"/>
              </a:spcAft>
            </a:pPr>
            <a:r>
              <a:rPr sz="1200">
                <a:solidFill>
                  <a:srgbClr val="E6EDF3"/>
                </a:solidFill>
                <a:latin typeface="Consolas"/>
              </a:rPr>
              <a:t>        printf("%d ", head-&gt;data);</a:t>
            </a:r>
          </a:p>
          <a:p>
            <a:pPr>
              <a:spcAft>
                <a:spcPts val="0"/>
              </a:spcAft>
            </a:pPr>
            <a:r>
              <a:rPr sz="1200">
                <a:solidFill>
                  <a:srgbClr val="E6EDF3"/>
                </a:solidFill>
                <a:latin typeface="Consolas"/>
              </a:rPr>
              <a:t>        head = head-&gt;next; // cho head chuyen sang node ke tiep</a:t>
            </a:r>
          </a:p>
          <a:p>
            <a:pPr>
              <a:spcAft>
                <a:spcPts val="0"/>
              </a:spcAft>
            </a:pPr>
            <a:r>
              <a:rPr sz="1200">
                <a:solidFill>
                  <a:srgbClr val="E6EDF3"/>
                </a:solidFill>
                <a:latin typeface="Consolas"/>
              </a:rPr>
              <a:t>    }</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themdau(node **head, int x){</a:t>
            </a:r>
          </a:p>
          <a:p>
            <a:pPr>
              <a:spcAft>
                <a:spcPts val="0"/>
              </a:spcAft>
            </a:pPr>
            <a:r>
              <a:rPr sz="1200">
                <a:solidFill>
                  <a:srgbClr val="E6EDF3"/>
                </a:solidFill>
                <a:latin typeface="Consolas"/>
              </a:rPr>
              <a:t>    node *newNode = (node*)malloc(sizeof(node));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2/5)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newNode-&gt;data = x;</a:t>
            </a:r>
          </a:p>
          <a:p>
            <a:pPr>
              <a:spcAft>
                <a:spcPts val="0"/>
              </a:spcAft>
            </a:pPr>
            <a:r>
              <a:rPr sz="1200">
                <a:solidFill>
                  <a:srgbClr val="E6EDF3"/>
                </a:solidFill>
                <a:latin typeface="Consolas"/>
              </a:rPr>
              <a:t>    newNode-&gt;next = newNode-&gt;prev = NULL;</a:t>
            </a:r>
          </a:p>
          <a:p>
            <a:pPr>
              <a:spcAft>
                <a:spcPts val="0"/>
              </a:spcAft>
            </a:pPr>
            <a:r>
              <a:rPr sz="1200">
                <a:solidFill>
                  <a:srgbClr val="E6EDF3"/>
                </a:solidFill>
                <a:latin typeface="Consolas"/>
              </a:rPr>
              <a:t>    newNode-&gt;next = (*head);</a:t>
            </a:r>
          </a:p>
          <a:p>
            <a:pPr>
              <a:spcAft>
                <a:spcPts val="0"/>
              </a:spcAft>
            </a:pPr>
            <a:r>
              <a:rPr sz="1200">
                <a:solidFill>
                  <a:srgbClr val="E6EDF3"/>
                </a:solidFill>
                <a:latin typeface="Consolas"/>
              </a:rPr>
              <a:t>    if(*head != NULL){</a:t>
            </a:r>
          </a:p>
          <a:p>
            <a:pPr>
              <a:spcAft>
                <a:spcPts val="0"/>
              </a:spcAft>
            </a:pPr>
            <a:r>
              <a:rPr sz="1200">
                <a:solidFill>
                  <a:srgbClr val="E6EDF3"/>
                </a:solidFill>
                <a:latin typeface="Consolas"/>
              </a:rPr>
              <a:t>        (*head)-&gt;prev = newNode;</a:t>
            </a:r>
          </a:p>
          <a:p>
            <a:pPr>
              <a:spcAft>
                <a:spcPts val="0"/>
              </a:spcAft>
            </a:pPr>
            <a:r>
              <a:rPr sz="1200">
                <a:solidFill>
                  <a:srgbClr val="E6EDF3"/>
                </a:solidFill>
                <a:latin typeface="Consolas"/>
              </a:rPr>
              <a:t>    }</a:t>
            </a:r>
          </a:p>
          <a:p>
            <a:pPr>
              <a:spcAft>
                <a:spcPts val="0"/>
              </a:spcAft>
            </a:pPr>
            <a:r>
              <a:rPr sz="1200">
                <a:solidFill>
                  <a:srgbClr val="E6EDF3"/>
                </a:solidFill>
                <a:latin typeface="Consolas"/>
              </a:rPr>
              <a:t>    (*head) = newNode;</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int len(node *head){</a:t>
            </a:r>
          </a:p>
          <a:p>
            <a:pPr>
              <a:spcAft>
                <a:spcPts val="0"/>
              </a:spcAft>
            </a:pPr>
            <a:r>
              <a:rPr sz="1200">
                <a:solidFill>
                  <a:srgbClr val="E6EDF3"/>
                </a:solidFill>
                <a:latin typeface="Consolas"/>
              </a:rPr>
              <a:t>    int dem = 0;</a:t>
            </a:r>
          </a:p>
          <a:p>
            <a:pPr>
              <a:spcAft>
                <a:spcPts val="0"/>
              </a:spcAft>
            </a:pPr>
            <a:r>
              <a:rPr sz="1200">
                <a:solidFill>
                  <a:srgbClr val="E6EDF3"/>
                </a:solidFill>
                <a:latin typeface="Consolas"/>
              </a:rPr>
              <a:t>    while(head != NULL){</a:t>
            </a:r>
          </a:p>
          <a:p>
            <a:pPr>
              <a:spcAft>
                <a:spcPts val="0"/>
              </a:spcAft>
            </a:pPr>
            <a:r>
              <a:rPr sz="1200">
                <a:solidFill>
                  <a:srgbClr val="E6EDF3"/>
                </a:solidFill>
                <a:latin typeface="Consolas"/>
              </a:rPr>
              <a:t>        ++dem;</a:t>
            </a:r>
          </a:p>
          <a:p>
            <a:pPr>
              <a:spcAft>
                <a:spcPts val="0"/>
              </a:spcAft>
            </a:pPr>
            <a:r>
              <a:rPr sz="1200">
                <a:solidFill>
                  <a:srgbClr val="E6EDF3"/>
                </a:solidFill>
                <a:latin typeface="Consolas"/>
              </a:rPr>
              <a:t>        head = head-&gt;next; // cho head chuyen sang node ke tiep</a:t>
            </a:r>
          </a:p>
          <a:p>
            <a:pPr>
              <a:spcAft>
                <a:spcPts val="0"/>
              </a:spcAft>
            </a:pPr>
            <a:r>
              <a:rPr sz="1200">
                <a:solidFill>
                  <a:srgbClr val="E6EDF3"/>
                </a:solidFill>
                <a:latin typeface="Consolas"/>
              </a:rPr>
              <a:t>    }</a:t>
            </a:r>
          </a:p>
          <a:p>
            <a:pPr>
              <a:spcAft>
                <a:spcPts val="0"/>
              </a:spcAft>
            </a:pPr>
            <a:r>
              <a:rPr sz="1200">
                <a:solidFill>
                  <a:srgbClr val="E6EDF3"/>
                </a:solidFill>
                <a:latin typeface="Consolas"/>
              </a:rPr>
              <a:t>    return dem;</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xoadau(node **head){</a:t>
            </a:r>
          </a:p>
          <a:p>
            <a:pPr>
              <a:spcAft>
                <a:spcPts val="0"/>
              </a:spcAft>
            </a:pPr>
            <a:r>
              <a:rPr sz="1200">
                <a:solidFill>
                  <a:srgbClr val="E6EDF3"/>
                </a:solidFill>
                <a:latin typeface="Consolas"/>
              </a:rPr>
              <a:t>    if(*head == NULL) return; // DSLK rong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3/5)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node *deleteNode = *head;</a:t>
            </a:r>
          </a:p>
          <a:p>
            <a:pPr>
              <a:spcAft>
                <a:spcPts val="0"/>
              </a:spcAft>
            </a:pPr>
            <a:r>
              <a:rPr sz="1200">
                <a:solidFill>
                  <a:srgbClr val="E6EDF3"/>
                </a:solidFill>
                <a:latin typeface="Consolas"/>
              </a:rPr>
              <a:t>    //Cho node head thanh node thu 2 trong DSLK</a:t>
            </a:r>
          </a:p>
          <a:p>
            <a:pPr>
              <a:spcAft>
                <a:spcPts val="0"/>
              </a:spcAft>
            </a:pPr>
            <a:r>
              <a:rPr sz="1200">
                <a:solidFill>
                  <a:srgbClr val="E6EDF3"/>
                </a:solidFill>
                <a:latin typeface="Consolas"/>
              </a:rPr>
              <a:t>    (*head) = (*head)-&gt;next; </a:t>
            </a:r>
          </a:p>
          <a:p>
            <a:pPr>
              <a:spcAft>
                <a:spcPts val="0"/>
              </a:spcAft>
            </a:pPr>
            <a:r>
              <a:rPr sz="1200">
                <a:solidFill>
                  <a:srgbClr val="E6EDF3"/>
                </a:solidFill>
                <a:latin typeface="Consolas"/>
              </a:rPr>
              <a:t>    if(*head != NULL){</a:t>
            </a:r>
          </a:p>
          <a:p>
            <a:pPr>
              <a:spcAft>
                <a:spcPts val="0"/>
              </a:spcAft>
            </a:pPr>
            <a:r>
              <a:rPr sz="1200">
                <a:solidFill>
                  <a:srgbClr val="E6EDF3"/>
                </a:solidFill>
                <a:latin typeface="Consolas"/>
              </a:rPr>
              <a:t>        (*head)-&gt;prev = NULL;</a:t>
            </a:r>
          </a:p>
          <a:p>
            <a:pPr>
              <a:spcAft>
                <a:spcPts val="0"/>
              </a:spcAft>
            </a:pPr>
            <a:r>
              <a:rPr sz="1200">
                <a:solidFill>
                  <a:srgbClr val="E6EDF3"/>
                </a:solidFill>
                <a:latin typeface="Consolas"/>
              </a:rPr>
              <a:t>    }</a:t>
            </a:r>
          </a:p>
          <a:p>
            <a:pPr>
              <a:spcAft>
                <a:spcPts val="0"/>
              </a:spcAft>
            </a:pPr>
            <a:r>
              <a:rPr sz="1200">
                <a:solidFill>
                  <a:srgbClr val="E6EDF3"/>
                </a:solidFill>
                <a:latin typeface="Consolas"/>
              </a:rPr>
              <a:t>    //Giai phong vung nho</a:t>
            </a:r>
          </a:p>
          <a:p>
            <a:pPr>
              <a:spcAft>
                <a:spcPts val="0"/>
              </a:spcAft>
            </a:pPr>
            <a:r>
              <a:rPr sz="1200">
                <a:solidFill>
                  <a:srgbClr val="E6EDF3"/>
                </a:solidFill>
                <a:latin typeface="Consolas"/>
              </a:rPr>
              <a:t>    free(deleteNode);</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xoagiua(node **head, int k){</a:t>
            </a:r>
          </a:p>
          <a:p>
            <a:pPr>
              <a:spcAft>
                <a:spcPts val="0"/>
              </a:spcAft>
            </a:pPr>
            <a:r>
              <a:rPr sz="1200">
                <a:solidFill>
                  <a:srgbClr val="E6EDF3"/>
                </a:solidFill>
                <a:latin typeface="Consolas"/>
              </a:rPr>
              <a:t>    if(k &lt; 1 || k &gt; len(*head)) return; // vi tri xoa ko hop le</a:t>
            </a:r>
          </a:p>
          <a:p>
            <a:pPr>
              <a:spcAft>
                <a:spcPts val="0"/>
              </a:spcAft>
            </a:pPr>
            <a:r>
              <a:rPr sz="1200">
                <a:solidFill>
                  <a:srgbClr val="E6EDF3"/>
                </a:solidFill>
                <a:latin typeface="Consolas"/>
              </a:rPr>
              <a:t>    if(k == 1){</a:t>
            </a:r>
          </a:p>
          <a:p>
            <a:pPr>
              <a:spcAft>
                <a:spcPts val="0"/>
              </a:spcAft>
            </a:pPr>
            <a:r>
              <a:rPr sz="1200">
                <a:solidFill>
                  <a:srgbClr val="E6EDF3"/>
                </a:solidFill>
                <a:latin typeface="Consolas"/>
              </a:rPr>
              <a:t>        xoadau(head);</a:t>
            </a:r>
          </a:p>
          <a:p>
            <a:pPr>
              <a:spcAft>
                <a:spcPts val="0"/>
              </a:spcAft>
            </a:pPr>
            <a:r>
              <a:rPr sz="1200">
                <a:solidFill>
                  <a:srgbClr val="E6EDF3"/>
                </a:solidFill>
                <a:latin typeface="Consolas"/>
              </a:rPr>
              <a:t>    }</a:t>
            </a:r>
          </a:p>
          <a:p>
            <a:pPr>
              <a:spcAft>
                <a:spcPts val="0"/>
              </a:spcAft>
            </a:pPr>
            <a:r>
              <a:rPr sz="1200">
                <a:solidFill>
                  <a:srgbClr val="E6EDF3"/>
                </a:solidFill>
                <a:latin typeface="Consolas"/>
              </a:rPr>
              <a:t>    else{</a:t>
            </a:r>
          </a:p>
          <a:p>
            <a:pPr>
              <a:spcAft>
                <a:spcPts val="0"/>
              </a:spcAft>
            </a:pPr>
            <a:r>
              <a:rPr sz="1200">
                <a:solidFill>
                  <a:srgbClr val="E6EDF3"/>
                </a:solidFill>
                <a:latin typeface="Consolas"/>
              </a:rPr>
              <a:t>        node *tmp = (*head);</a:t>
            </a:r>
          </a:p>
          <a:p>
            <a:pPr>
              <a:spcAft>
                <a:spcPts val="0"/>
              </a:spcAft>
            </a:pPr>
            <a:r>
              <a:rPr sz="1200">
                <a:solidFill>
                  <a:srgbClr val="E6EDF3"/>
                </a:solidFill>
                <a:latin typeface="Consolas"/>
              </a:rPr>
              <a:t>        //Duyet den node k </a:t>
            </a:r>
          </a:p>
          <a:p>
            <a:pPr>
              <a:spcAft>
                <a:spcPts val="0"/>
              </a:spcAft>
            </a:pPr>
            <a:r>
              <a:rPr sz="1200">
                <a:solidFill>
                  <a:srgbClr val="E6EDF3"/>
                </a:solidFill>
                <a:latin typeface="Consolas"/>
              </a:rPr>
              <a:t>        for(int i = 1; i &lt;= k - 1; i++){</a:t>
            </a:r>
          </a:p>
          <a:p>
            <a:pPr>
              <a:spcAft>
                <a:spcPts val="0"/>
              </a:spcAft>
            </a:pPr>
            <a:r>
              <a:rPr sz="1200">
                <a:solidFill>
                  <a:srgbClr val="E6EDF3"/>
                </a:solidFill>
                <a:latin typeface="Consolas"/>
              </a:rPr>
              <a:t>            tmp = tmp-&gt;next;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4/5)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a:t>
            </a:r>
          </a:p>
          <a:p>
            <a:pPr>
              <a:spcAft>
                <a:spcPts val="0"/>
              </a:spcAft>
            </a:pPr>
            <a:r>
              <a:rPr sz="1200">
                <a:solidFill>
                  <a:srgbClr val="E6EDF3"/>
                </a:solidFill>
                <a:latin typeface="Consolas"/>
              </a:rPr>
              <a:t>        //Luu lai node thu k</a:t>
            </a:r>
          </a:p>
          <a:p>
            <a:pPr>
              <a:spcAft>
                <a:spcPts val="0"/>
              </a:spcAft>
            </a:pPr>
            <a:r>
              <a:rPr sz="1200">
                <a:solidFill>
                  <a:srgbClr val="E6EDF3"/>
                </a:solidFill>
                <a:latin typeface="Consolas"/>
              </a:rPr>
              <a:t>        node *delNode = tmp;</a:t>
            </a:r>
          </a:p>
          <a:p>
            <a:pPr>
              <a:spcAft>
                <a:spcPts val="0"/>
              </a:spcAft>
            </a:pPr>
            <a:r>
              <a:rPr sz="1200">
                <a:solidFill>
                  <a:srgbClr val="E6EDF3"/>
                </a:solidFill>
                <a:latin typeface="Consolas"/>
              </a:rPr>
              <a:t>        //Cho k - 1 =&gt; tro vao k + 1</a:t>
            </a:r>
          </a:p>
          <a:p>
            <a:pPr>
              <a:spcAft>
                <a:spcPts val="0"/>
              </a:spcAft>
            </a:pPr>
            <a:r>
              <a:rPr sz="1200">
                <a:solidFill>
                  <a:srgbClr val="E6EDF3"/>
                </a:solidFill>
                <a:latin typeface="Consolas"/>
              </a:rPr>
              <a:t>        tmp-&gt;prev-&gt;next = tmp-&gt;next;</a:t>
            </a:r>
          </a:p>
          <a:p>
            <a:pPr>
              <a:spcAft>
                <a:spcPts val="0"/>
              </a:spcAft>
            </a:pPr>
            <a:r>
              <a:rPr sz="1200">
                <a:solidFill>
                  <a:srgbClr val="E6EDF3"/>
                </a:solidFill>
                <a:latin typeface="Consolas"/>
              </a:rPr>
              <a:t>        //Cho k + 1 =&gt; tro nguoc vao k - 1</a:t>
            </a:r>
          </a:p>
          <a:p>
            <a:pPr>
              <a:spcAft>
                <a:spcPts val="0"/>
              </a:spcAft>
            </a:pPr>
            <a:r>
              <a:rPr sz="1200">
                <a:solidFill>
                  <a:srgbClr val="E6EDF3"/>
                </a:solidFill>
                <a:latin typeface="Consolas"/>
              </a:rPr>
              <a:t>        if(tmp-&gt;next != NULL){</a:t>
            </a:r>
          </a:p>
          <a:p>
            <a:pPr>
              <a:spcAft>
                <a:spcPts val="0"/>
              </a:spcAft>
            </a:pPr>
            <a:r>
              <a:rPr sz="1200">
                <a:solidFill>
                  <a:srgbClr val="E6EDF3"/>
                </a:solidFill>
                <a:latin typeface="Consolas"/>
              </a:rPr>
              <a:t>            tmp-&gt;next-&gt;prev = tmp-&gt;prev;</a:t>
            </a:r>
          </a:p>
          <a:p>
            <a:pPr>
              <a:spcAft>
                <a:spcPts val="0"/>
              </a:spcAft>
            </a:pPr>
            <a:r>
              <a:rPr sz="1200">
                <a:solidFill>
                  <a:srgbClr val="E6EDF3"/>
                </a:solidFill>
                <a:latin typeface="Consolas"/>
              </a:rPr>
              <a:t>        }</a:t>
            </a:r>
          </a:p>
          <a:p>
            <a:pPr>
              <a:spcAft>
                <a:spcPts val="0"/>
              </a:spcAft>
            </a:pPr>
            <a:r>
              <a:rPr sz="1200">
                <a:solidFill>
                  <a:srgbClr val="E6EDF3"/>
                </a:solidFill>
                <a:latin typeface="Consolas"/>
              </a:rPr>
              <a:t>        //Giai phong node thu k</a:t>
            </a:r>
          </a:p>
          <a:p>
            <a:pPr>
              <a:spcAft>
                <a:spcPts val="0"/>
              </a:spcAft>
            </a:pPr>
            <a:r>
              <a:rPr sz="1200">
                <a:solidFill>
                  <a:srgbClr val="E6EDF3"/>
                </a:solidFill>
                <a:latin typeface="Consolas"/>
              </a:rPr>
              <a:t>        free(delNode);</a:t>
            </a:r>
          </a:p>
          <a:p>
            <a:pPr>
              <a:spcAft>
                <a:spcPts val="0"/>
              </a:spcAft>
            </a:pPr>
            <a:r>
              <a:rPr sz="1200">
                <a:solidFill>
                  <a:srgbClr val="E6EDF3"/>
                </a:solidFill>
                <a:latin typeface="Consolas"/>
              </a:rPr>
              <a:t>    }</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int main(){</a:t>
            </a:r>
          </a:p>
          <a:p>
            <a:pPr>
              <a:spcAft>
                <a:spcPts val="0"/>
              </a:spcAft>
            </a:pPr>
            <a:r>
              <a:rPr sz="1200">
                <a:solidFill>
                  <a:srgbClr val="E6EDF3"/>
                </a:solidFill>
                <a:latin typeface="Consolas"/>
              </a:rPr>
              <a:t>    node *head = NULL;</a:t>
            </a:r>
          </a:p>
          <a:p>
            <a:pPr>
              <a:spcAft>
                <a:spcPts val="0"/>
              </a:spcAft>
            </a:pPr>
            <a:r>
              <a:rPr sz="1200">
                <a:solidFill>
                  <a:srgbClr val="E6EDF3"/>
                </a:solidFill>
                <a:latin typeface="Consolas"/>
              </a:rPr>
              <a:t>    for(int i = 1; i &lt;= 10; i++){</a:t>
            </a:r>
          </a:p>
          <a:p>
            <a:pPr>
              <a:spcAft>
                <a:spcPts val="0"/>
              </a:spcAft>
            </a:pPr>
            <a:r>
              <a:rPr sz="1200">
                <a:solidFill>
                  <a:srgbClr val="E6EDF3"/>
                </a:solidFill>
                <a:latin typeface="Consolas"/>
              </a:rPr>
              <a:t>        themdau(&amp;head, i);</a:t>
            </a:r>
          </a:p>
          <a:p>
            <a:pPr>
              <a:spcAft>
                <a:spcPts val="0"/>
              </a:spcAft>
            </a:pPr>
            <a:r>
              <a:rPr sz="1200">
                <a:solidFill>
                  <a:srgbClr val="E6EDF3"/>
                </a:solidFill>
                <a:latin typeface="Consolas"/>
              </a:rPr>
              <a:t>    }</a:t>
            </a:r>
          </a:p>
          <a:p>
            <a:pPr>
              <a:spcAft>
                <a:spcPts val="0"/>
              </a:spcAft>
            </a:pPr>
            <a:r>
              <a:rPr sz="1200">
                <a:solidFill>
                  <a:srgbClr val="E6EDF3"/>
                </a:solidFill>
                <a:latin typeface="Consolas"/>
              </a:rPr>
              <a:t>    duyet(head);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5/5)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134213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1086104"/>
          </a:xfrm>
          <a:prstGeom prst="rect">
            <a:avLst/>
          </a:prstGeom>
          <a:noFill/>
        </p:spPr>
        <p:txBody>
          <a:bodyPr wrap="none">
            <a:spAutoFit/>
          </a:bodyPr>
          <a:lstStyle/>
          <a:p>
            <a:pPr>
              <a:spcAft>
                <a:spcPts val="0"/>
              </a:spcAft>
            </a:pPr>
            <a:r>
              <a:rPr sz="1400">
                <a:solidFill>
                  <a:srgbClr val="E6EDF3"/>
                </a:solidFill>
                <a:latin typeface="Consolas"/>
              </a:rPr>
              <a:t>    xoagiua(&amp;head, 3);</a:t>
            </a:r>
          </a:p>
          <a:p>
            <a:pPr>
              <a:spcAft>
                <a:spcPts val="0"/>
              </a:spcAft>
            </a:pPr>
            <a:r>
              <a:rPr sz="1400">
                <a:solidFill>
                  <a:srgbClr val="E6EDF3"/>
                </a:solidFill>
                <a:latin typeface="Consolas"/>
              </a:rPr>
              <a:t>    printf("\n");</a:t>
            </a:r>
          </a:p>
          <a:p>
            <a:pPr>
              <a:spcAft>
                <a:spcPts val="0"/>
              </a:spcAft>
            </a:pPr>
            <a:r>
              <a:rPr sz="1400">
                <a:solidFill>
                  <a:srgbClr val="E6EDF3"/>
                </a:solidFill>
                <a:latin typeface="Consolas"/>
              </a:rPr>
              <a:t>    duyet(head);</a:t>
            </a:r>
          </a:p>
          <a:p>
            <a:pPr>
              <a:spcAft>
                <a:spcPts val="0"/>
              </a:spcAft>
            </a:pPr>
            <a:r>
              <a:rPr sz="1400">
                <a:solidFill>
                  <a:srgbClr val="E6EDF3"/>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sz="1700">
                <a:solidFill>
                  <a:srgbClr val="1F2A37"/>
                </a:solidFill>
                <a:latin typeface="Calibri"/>
              </a:rPr>
              <a:t>Cài đặt bằng con trỏ cấp 2 (con trỏ tới con trỏ), cách này bạn có thể áp dụng cho cả C++, chỉ cần thay đổi cách giải phóng vùng nhớ của node.</a:t>
            </a:r>
          </a:p>
          <a:p>
            <a:pPr>
              <a:spcAft>
                <a:spcPts val="1000"/>
              </a:spcAft>
            </a:pPr>
            <a:r>
              <a:rPr b="1" sz="1700">
                <a:solidFill>
                  <a:srgbClr val="1F2A37"/>
                </a:solidFill>
                <a:latin typeface="Calibri"/>
              </a:rPr>
              <a:t>Mã nguồn C++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1/4)</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#include "iostream"</a:t>
            </a:r>
          </a:p>
          <a:p>
            <a:pPr>
              <a:spcAft>
                <a:spcPts val="0"/>
              </a:spcAft>
            </a:pPr>
            <a:r>
              <a:rPr sz="1200">
                <a:solidFill>
                  <a:srgbClr val="E6EDF3"/>
                </a:solidFill>
                <a:latin typeface="Consolas"/>
              </a:rPr>
              <a:t>using namespace std;</a:t>
            </a:r>
          </a:p>
          <a:p>
            <a:pPr>
              <a:spcAft>
                <a:spcPts val="0"/>
              </a:spcAft>
            </a:pPr>
            <a:r>
              <a:rPr sz="1200">
                <a:solidFill>
                  <a:srgbClr val="E6EDF3"/>
                </a:solidFill>
                <a:latin typeface="Consolas"/>
              </a:rPr>
              <a:t> </a:t>
            </a:r>
          </a:p>
          <a:p>
            <a:pPr>
              <a:spcAft>
                <a:spcPts val="0"/>
              </a:spcAft>
            </a:pPr>
            <a:r>
              <a:rPr sz="1200">
                <a:solidFill>
                  <a:srgbClr val="E6EDF3"/>
                </a:solidFill>
                <a:latin typeface="Consolas"/>
              </a:rPr>
              <a:t>struct node{</a:t>
            </a:r>
          </a:p>
          <a:p>
            <a:pPr>
              <a:spcAft>
                <a:spcPts val="0"/>
              </a:spcAft>
            </a:pPr>
            <a:r>
              <a:rPr sz="1200">
                <a:solidFill>
                  <a:srgbClr val="E6EDF3"/>
                </a:solidFill>
                <a:latin typeface="Consolas"/>
              </a:rPr>
              <a:t>    int data;</a:t>
            </a:r>
          </a:p>
          <a:p>
            <a:pPr>
              <a:spcAft>
                <a:spcPts val="0"/>
              </a:spcAft>
            </a:pPr>
            <a:r>
              <a:rPr sz="1200">
                <a:solidFill>
                  <a:srgbClr val="E6EDF3"/>
                </a:solidFill>
                <a:latin typeface="Consolas"/>
              </a:rPr>
              <a:t>    node *next;</a:t>
            </a:r>
          </a:p>
          <a:p>
            <a:pPr>
              <a:spcAft>
                <a:spcPts val="0"/>
              </a:spcAft>
            </a:pPr>
            <a:r>
              <a:rPr sz="1200">
                <a:solidFill>
                  <a:srgbClr val="E6EDF3"/>
                </a:solidFill>
                <a:latin typeface="Consolas"/>
              </a:rPr>
              <a:t>    node *prev;</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duyet(node *head){</a:t>
            </a:r>
          </a:p>
          <a:p>
            <a:pPr>
              <a:spcAft>
                <a:spcPts val="0"/>
              </a:spcAft>
            </a:pPr>
            <a:r>
              <a:rPr sz="1200">
                <a:solidFill>
                  <a:srgbClr val="E6EDF3"/>
                </a:solidFill>
                <a:latin typeface="Consolas"/>
              </a:rPr>
              <a:t>    while(head != NULL){</a:t>
            </a:r>
          </a:p>
          <a:p>
            <a:pPr>
              <a:spcAft>
                <a:spcPts val="0"/>
              </a:spcAft>
            </a:pPr>
            <a:r>
              <a:rPr sz="1200">
                <a:solidFill>
                  <a:srgbClr val="E6EDF3"/>
                </a:solidFill>
                <a:latin typeface="Consolas"/>
              </a:rPr>
              <a:t>        cout &lt;&lt; head-&gt;data &lt;&lt; " ";</a:t>
            </a:r>
          </a:p>
          <a:p>
            <a:pPr>
              <a:spcAft>
                <a:spcPts val="0"/>
              </a:spcAft>
            </a:pPr>
            <a:r>
              <a:rPr sz="1200">
                <a:solidFill>
                  <a:srgbClr val="E6EDF3"/>
                </a:solidFill>
                <a:latin typeface="Consolas"/>
              </a:rPr>
              <a:t>        head = head-&gt;next; // cho head chuyen sang node ke tiep</a:t>
            </a:r>
          </a:p>
          <a:p>
            <a:pPr>
              <a:spcAft>
                <a:spcPts val="0"/>
              </a:spcAft>
            </a:pPr>
            <a:r>
              <a:rPr sz="1200">
                <a:solidFill>
                  <a:srgbClr val="E6EDF3"/>
                </a:solidFill>
                <a:latin typeface="Consolas"/>
              </a:rPr>
              <a:t>    }</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themdau(node *&amp;head, int x){</a:t>
            </a:r>
          </a:p>
          <a:p>
            <a:pPr>
              <a:spcAft>
                <a:spcPts val="0"/>
              </a:spcAft>
            </a:pPr>
            <a:r>
              <a:rPr sz="1200">
                <a:solidFill>
                  <a:srgbClr val="E6EDF3"/>
                </a:solidFill>
                <a:latin typeface="Consolas"/>
              </a:rPr>
              <a:t>    node *newNode = new node;</a:t>
            </a:r>
          </a:p>
          <a:p>
            <a:pPr>
              <a:spcAft>
                <a:spcPts val="0"/>
              </a:spcAft>
            </a:pPr>
            <a:r>
              <a:rPr sz="1200">
                <a:solidFill>
                  <a:srgbClr val="E6EDF3"/>
                </a:solidFill>
                <a:latin typeface="Consolas"/>
              </a:rPr>
              <a:t>    newNode-&gt;data = x;</a:t>
            </a:r>
          </a:p>
          <a:p>
            <a:pPr>
              <a:spcAft>
                <a:spcPts val="0"/>
              </a:spcAft>
            </a:pPr>
            <a:r>
              <a:rPr sz="1200">
                <a:solidFill>
                  <a:srgbClr val="E6EDF3"/>
                </a:solidFill>
                <a:latin typeface="Consolas"/>
              </a:rPr>
              <a:t>    newNode-&gt;next = newNode-&gt;prev = newNode;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2/4)</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newNode-&gt;next = head;</a:t>
            </a:r>
          </a:p>
          <a:p>
            <a:pPr>
              <a:spcAft>
                <a:spcPts val="0"/>
              </a:spcAft>
            </a:pPr>
            <a:r>
              <a:rPr sz="1200">
                <a:solidFill>
                  <a:srgbClr val="E6EDF3"/>
                </a:solidFill>
                <a:latin typeface="Consolas"/>
              </a:rPr>
              <a:t>    if(head != NULL) head-&gt;prev = newNode;</a:t>
            </a:r>
          </a:p>
          <a:p>
            <a:pPr>
              <a:spcAft>
                <a:spcPts val="0"/>
              </a:spcAft>
            </a:pPr>
            <a:r>
              <a:rPr sz="1200">
                <a:solidFill>
                  <a:srgbClr val="E6EDF3"/>
                </a:solidFill>
                <a:latin typeface="Consolas"/>
              </a:rPr>
              <a:t>    head = newNode;</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int len(node *head){</a:t>
            </a:r>
          </a:p>
          <a:p>
            <a:pPr>
              <a:spcAft>
                <a:spcPts val="0"/>
              </a:spcAft>
            </a:pPr>
            <a:r>
              <a:rPr sz="1200">
                <a:solidFill>
                  <a:srgbClr val="E6EDF3"/>
                </a:solidFill>
                <a:latin typeface="Consolas"/>
              </a:rPr>
              <a:t>    int dem = 0;</a:t>
            </a:r>
          </a:p>
          <a:p>
            <a:pPr>
              <a:spcAft>
                <a:spcPts val="0"/>
              </a:spcAft>
            </a:pPr>
            <a:r>
              <a:rPr sz="1200">
                <a:solidFill>
                  <a:srgbClr val="E6EDF3"/>
                </a:solidFill>
                <a:latin typeface="Consolas"/>
              </a:rPr>
              <a:t>    while(head != NULL){</a:t>
            </a:r>
          </a:p>
          <a:p>
            <a:pPr>
              <a:spcAft>
                <a:spcPts val="0"/>
              </a:spcAft>
            </a:pPr>
            <a:r>
              <a:rPr sz="1200">
                <a:solidFill>
                  <a:srgbClr val="E6EDF3"/>
                </a:solidFill>
                <a:latin typeface="Consolas"/>
              </a:rPr>
              <a:t>        ++dem;</a:t>
            </a:r>
          </a:p>
          <a:p>
            <a:pPr>
              <a:spcAft>
                <a:spcPts val="0"/>
              </a:spcAft>
            </a:pPr>
            <a:r>
              <a:rPr sz="1200">
                <a:solidFill>
                  <a:srgbClr val="E6EDF3"/>
                </a:solidFill>
                <a:latin typeface="Consolas"/>
              </a:rPr>
              <a:t>        head = head-&gt;next; // cho head chuyen sang node ke tiep</a:t>
            </a:r>
          </a:p>
          <a:p>
            <a:pPr>
              <a:spcAft>
                <a:spcPts val="0"/>
              </a:spcAft>
            </a:pPr>
            <a:r>
              <a:rPr sz="1200">
                <a:solidFill>
                  <a:srgbClr val="E6EDF3"/>
                </a:solidFill>
                <a:latin typeface="Consolas"/>
              </a:rPr>
              <a:t>    }</a:t>
            </a:r>
          </a:p>
          <a:p>
            <a:pPr>
              <a:spcAft>
                <a:spcPts val="0"/>
              </a:spcAft>
            </a:pPr>
            <a:r>
              <a:rPr sz="1200">
                <a:solidFill>
                  <a:srgbClr val="E6EDF3"/>
                </a:solidFill>
                <a:latin typeface="Consolas"/>
              </a:rPr>
              <a:t>    return dem;</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xoadau(node *&amp;head){</a:t>
            </a:r>
          </a:p>
          <a:p>
            <a:pPr>
              <a:spcAft>
                <a:spcPts val="0"/>
              </a:spcAft>
            </a:pPr>
            <a:r>
              <a:rPr sz="1200">
                <a:solidFill>
                  <a:srgbClr val="E6EDF3"/>
                </a:solidFill>
                <a:latin typeface="Consolas"/>
              </a:rPr>
              <a:t>    if(head == NULL) return; // DSLK rong</a:t>
            </a:r>
          </a:p>
          <a:p>
            <a:pPr>
              <a:spcAft>
                <a:spcPts val="0"/>
              </a:spcAft>
            </a:pPr>
            <a:r>
              <a:rPr sz="1200">
                <a:solidFill>
                  <a:srgbClr val="E6EDF3"/>
                </a:solidFill>
                <a:latin typeface="Consolas"/>
              </a:rPr>
              <a:t>    node *deleteNode = head;</a:t>
            </a:r>
          </a:p>
          <a:p>
            <a:pPr>
              <a:spcAft>
                <a:spcPts val="0"/>
              </a:spcAft>
            </a:pPr>
            <a:r>
              <a:rPr sz="1200">
                <a:solidFill>
                  <a:srgbClr val="E6EDF3"/>
                </a:solidFill>
                <a:latin typeface="Consolas"/>
              </a:rPr>
              <a:t>    head = head-&gt;next;</a:t>
            </a:r>
          </a:p>
          <a:p>
            <a:pPr>
              <a:spcAft>
                <a:spcPts val="0"/>
              </a:spcAft>
            </a:pPr>
            <a:r>
              <a:rPr sz="1200">
                <a:solidFill>
                  <a:srgbClr val="E6EDF3"/>
                </a:solidFill>
                <a:latin typeface="Consolas"/>
              </a:rPr>
              <a:t>    if(head != NULL) head-&gt;prev = NULL;</a:t>
            </a:r>
          </a:p>
          <a:p>
            <a:pPr>
              <a:spcAft>
                <a:spcPts val="0"/>
              </a:spcAft>
            </a:pPr>
            <a:r>
              <a:rPr sz="1200">
                <a:solidFill>
                  <a:srgbClr val="E6EDF3"/>
                </a:solidFill>
                <a:latin typeface="Consolas"/>
              </a:rPr>
              <a:t>    delete deleteNode;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3/4)</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xoagiua(node *&amp;head, int k){</a:t>
            </a:r>
          </a:p>
          <a:p>
            <a:pPr>
              <a:spcAft>
                <a:spcPts val="0"/>
              </a:spcAft>
            </a:pPr>
            <a:r>
              <a:rPr sz="1200">
                <a:solidFill>
                  <a:srgbClr val="E6EDF3"/>
                </a:solidFill>
                <a:latin typeface="Consolas"/>
              </a:rPr>
              <a:t>    if(k &lt; 1 || k &gt; len(head)) return; // vi tri xoa ko hop le</a:t>
            </a:r>
          </a:p>
          <a:p>
            <a:pPr>
              <a:spcAft>
                <a:spcPts val="0"/>
              </a:spcAft>
            </a:pPr>
            <a:r>
              <a:rPr sz="1200">
                <a:solidFill>
                  <a:srgbClr val="E6EDF3"/>
                </a:solidFill>
                <a:latin typeface="Consolas"/>
              </a:rPr>
              <a:t>    if(k == 1){</a:t>
            </a:r>
          </a:p>
          <a:p>
            <a:pPr>
              <a:spcAft>
                <a:spcPts val="0"/>
              </a:spcAft>
            </a:pPr>
            <a:r>
              <a:rPr sz="1200">
                <a:solidFill>
                  <a:srgbClr val="E6EDF3"/>
                </a:solidFill>
                <a:latin typeface="Consolas"/>
              </a:rPr>
              <a:t>        xoadau(head);</a:t>
            </a:r>
          </a:p>
          <a:p>
            <a:pPr>
              <a:spcAft>
                <a:spcPts val="0"/>
              </a:spcAft>
            </a:pPr>
            <a:r>
              <a:rPr sz="1200">
                <a:solidFill>
                  <a:srgbClr val="E6EDF3"/>
                </a:solidFill>
                <a:latin typeface="Consolas"/>
              </a:rPr>
              <a:t>    }</a:t>
            </a:r>
          </a:p>
          <a:p>
            <a:pPr>
              <a:spcAft>
                <a:spcPts val="0"/>
              </a:spcAft>
            </a:pPr>
            <a:r>
              <a:rPr sz="1200">
                <a:solidFill>
                  <a:srgbClr val="E6EDF3"/>
                </a:solidFill>
                <a:latin typeface="Consolas"/>
              </a:rPr>
              <a:t>    else{</a:t>
            </a:r>
          </a:p>
          <a:p>
            <a:pPr>
              <a:spcAft>
                <a:spcPts val="0"/>
              </a:spcAft>
            </a:pPr>
            <a:r>
              <a:rPr sz="1200">
                <a:solidFill>
                  <a:srgbClr val="E6EDF3"/>
                </a:solidFill>
                <a:latin typeface="Consolas"/>
              </a:rPr>
              <a:t>        node *tmp = head;</a:t>
            </a:r>
          </a:p>
          <a:p>
            <a:pPr>
              <a:spcAft>
                <a:spcPts val="0"/>
              </a:spcAft>
            </a:pPr>
            <a:r>
              <a:rPr sz="1200">
                <a:solidFill>
                  <a:srgbClr val="E6EDF3"/>
                </a:solidFill>
                <a:latin typeface="Consolas"/>
              </a:rPr>
              <a:t>        //Duyet den node k - 1</a:t>
            </a:r>
          </a:p>
          <a:p>
            <a:pPr>
              <a:spcAft>
                <a:spcPts val="0"/>
              </a:spcAft>
            </a:pPr>
            <a:r>
              <a:rPr sz="1200">
                <a:solidFill>
                  <a:srgbClr val="E6EDF3"/>
                </a:solidFill>
                <a:latin typeface="Consolas"/>
              </a:rPr>
              <a:t>        for(int i = 1; i &lt;= k - 1; i++){</a:t>
            </a:r>
          </a:p>
          <a:p>
            <a:pPr>
              <a:spcAft>
                <a:spcPts val="0"/>
              </a:spcAft>
            </a:pPr>
            <a:r>
              <a:rPr sz="1200">
                <a:solidFill>
                  <a:srgbClr val="E6EDF3"/>
                </a:solidFill>
                <a:latin typeface="Consolas"/>
              </a:rPr>
              <a:t>            tmp = tmp-&gt;next;</a:t>
            </a:r>
          </a:p>
          <a:p>
            <a:pPr>
              <a:spcAft>
                <a:spcPts val="0"/>
              </a:spcAft>
            </a:pPr>
            <a:r>
              <a:rPr sz="1200">
                <a:solidFill>
                  <a:srgbClr val="E6EDF3"/>
                </a:solidFill>
                <a:latin typeface="Consolas"/>
              </a:rPr>
              <a:t>        }</a:t>
            </a:r>
          </a:p>
          <a:p>
            <a:pPr>
              <a:spcAft>
                <a:spcPts val="0"/>
              </a:spcAft>
            </a:pPr>
            <a:r>
              <a:rPr sz="1200">
                <a:solidFill>
                  <a:srgbClr val="E6EDF3"/>
                </a:solidFill>
                <a:latin typeface="Consolas"/>
              </a:rPr>
              <a:t>        //Luu lai node thu k</a:t>
            </a:r>
          </a:p>
          <a:p>
            <a:pPr>
              <a:spcAft>
                <a:spcPts val="0"/>
              </a:spcAft>
            </a:pPr>
            <a:r>
              <a:rPr sz="1200">
                <a:solidFill>
                  <a:srgbClr val="E6EDF3"/>
                </a:solidFill>
                <a:latin typeface="Consolas"/>
              </a:rPr>
              <a:t>        node *delNode = tmp;</a:t>
            </a:r>
          </a:p>
          <a:p>
            <a:pPr>
              <a:spcAft>
                <a:spcPts val="0"/>
              </a:spcAft>
            </a:pPr>
            <a:r>
              <a:rPr sz="1200">
                <a:solidFill>
                  <a:srgbClr val="E6EDF3"/>
                </a:solidFill>
                <a:latin typeface="Consolas"/>
              </a:rPr>
              <a:t>        //Cho k - 1 =&gt; tro vao k + 1</a:t>
            </a:r>
          </a:p>
          <a:p>
            <a:pPr>
              <a:spcAft>
                <a:spcPts val="0"/>
              </a:spcAft>
            </a:pPr>
            <a:r>
              <a:rPr sz="1200">
                <a:solidFill>
                  <a:srgbClr val="E6EDF3"/>
                </a:solidFill>
                <a:latin typeface="Consolas"/>
              </a:rPr>
              <a:t>        tmp-&gt;prev-&gt;next = tmp-&gt;next;</a:t>
            </a:r>
          </a:p>
          <a:p>
            <a:pPr>
              <a:spcAft>
                <a:spcPts val="0"/>
              </a:spcAft>
            </a:pPr>
            <a:r>
              <a:rPr sz="1200">
                <a:solidFill>
                  <a:srgbClr val="E6EDF3"/>
                </a:solidFill>
                <a:latin typeface="Consolas"/>
              </a:rPr>
              <a:t>        //Cho k + 1 =&gt; tro nguoc k - 1</a:t>
            </a:r>
          </a:p>
          <a:p>
            <a:pPr>
              <a:spcAft>
                <a:spcPts val="0"/>
              </a:spcAft>
            </a:pPr>
            <a:r>
              <a:rPr sz="1200">
                <a:solidFill>
                  <a:srgbClr val="E6EDF3"/>
                </a:solidFill>
                <a:latin typeface="Consolas"/>
              </a:rPr>
              <a:t>        if(tmp-&gt;next != NULL)</a:t>
            </a:r>
          </a:p>
          <a:p>
            <a:pPr>
              <a:spcAft>
                <a:spcPts val="0"/>
              </a:spcAft>
            </a:pPr>
            <a:r>
              <a:rPr sz="1200">
                <a:solidFill>
                  <a:srgbClr val="E6EDF3"/>
                </a:solidFill>
                <a:latin typeface="Consolas"/>
              </a:rPr>
              <a:t>            tmp-&gt;next-&gt;prev = tmp-&gt;prev;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 4/4)</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362558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3369549"/>
          </a:xfrm>
          <a:prstGeom prst="rect">
            <a:avLst/>
          </a:prstGeom>
          <a:noFill/>
        </p:spPr>
        <p:txBody>
          <a:bodyPr wrap="none">
            <a:spAutoFit/>
          </a:bodyPr>
          <a:lstStyle/>
          <a:p>
            <a:pPr>
              <a:spcAft>
                <a:spcPts val="0"/>
              </a:spcAft>
            </a:pPr>
            <a:r>
              <a:rPr sz="1200">
                <a:solidFill>
                  <a:srgbClr val="E6EDF3"/>
                </a:solidFill>
                <a:latin typeface="Consolas"/>
              </a:rPr>
              <a:t>        //Giai phong node thu k</a:t>
            </a:r>
          </a:p>
          <a:p>
            <a:pPr>
              <a:spcAft>
                <a:spcPts val="0"/>
              </a:spcAft>
            </a:pPr>
            <a:r>
              <a:rPr sz="1200">
                <a:solidFill>
                  <a:srgbClr val="E6EDF3"/>
                </a:solidFill>
                <a:latin typeface="Consolas"/>
              </a:rPr>
              <a:t>        delete delNode;</a:t>
            </a:r>
          </a:p>
          <a:p>
            <a:pPr>
              <a:spcAft>
                <a:spcPts val="0"/>
              </a:spcAft>
            </a:pPr>
            <a:r>
              <a:rPr sz="1200">
                <a:solidFill>
                  <a:srgbClr val="E6EDF3"/>
                </a:solidFill>
                <a:latin typeface="Consolas"/>
              </a:rPr>
              <a:t>    }</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int main(){</a:t>
            </a:r>
          </a:p>
          <a:p>
            <a:pPr>
              <a:spcAft>
                <a:spcPts val="0"/>
              </a:spcAft>
            </a:pPr>
            <a:r>
              <a:rPr sz="1200">
                <a:solidFill>
                  <a:srgbClr val="E6EDF3"/>
                </a:solidFill>
                <a:latin typeface="Consolas"/>
              </a:rPr>
              <a:t>    node *head = NULL;</a:t>
            </a:r>
          </a:p>
          <a:p>
            <a:pPr>
              <a:spcAft>
                <a:spcPts val="0"/>
              </a:spcAft>
            </a:pPr>
            <a:r>
              <a:rPr sz="1200">
                <a:solidFill>
                  <a:srgbClr val="E6EDF3"/>
                </a:solidFill>
                <a:latin typeface="Consolas"/>
              </a:rPr>
              <a:t>    for(int i = 1; i &lt;= 10; i++){</a:t>
            </a:r>
          </a:p>
          <a:p>
            <a:pPr>
              <a:spcAft>
                <a:spcPts val="0"/>
              </a:spcAft>
            </a:pPr>
            <a:r>
              <a:rPr sz="1200">
                <a:solidFill>
                  <a:srgbClr val="E6EDF3"/>
                </a:solidFill>
                <a:latin typeface="Consolas"/>
              </a:rPr>
              <a:t>        themdau(head, i);</a:t>
            </a:r>
          </a:p>
          <a:p>
            <a:pPr>
              <a:spcAft>
                <a:spcPts val="0"/>
              </a:spcAft>
            </a:pPr>
            <a:r>
              <a:rPr sz="1200">
                <a:solidFill>
                  <a:srgbClr val="E6EDF3"/>
                </a:solidFill>
                <a:latin typeface="Consolas"/>
              </a:rPr>
              <a:t>    }</a:t>
            </a:r>
          </a:p>
          <a:p>
            <a:pPr>
              <a:spcAft>
                <a:spcPts val="0"/>
              </a:spcAft>
            </a:pPr>
            <a:r>
              <a:rPr sz="1200">
                <a:solidFill>
                  <a:srgbClr val="E6EDF3"/>
                </a:solidFill>
                <a:latin typeface="Consolas"/>
              </a:rPr>
              <a:t>    duyet(head);</a:t>
            </a:r>
          </a:p>
          <a:p>
            <a:pPr>
              <a:spcAft>
                <a:spcPts val="0"/>
              </a:spcAft>
            </a:pPr>
            <a:r>
              <a:rPr sz="1200">
                <a:solidFill>
                  <a:srgbClr val="E6EDF3"/>
                </a:solidFill>
                <a:latin typeface="Consolas"/>
              </a:rPr>
              <a:t>    xoagiua(head, 3);</a:t>
            </a:r>
          </a:p>
          <a:p>
            <a:pPr>
              <a:spcAft>
                <a:spcPts val="0"/>
              </a:spcAft>
            </a:pPr>
            <a:r>
              <a:rPr sz="1200">
                <a:solidFill>
                  <a:srgbClr val="E6EDF3"/>
                </a:solidFill>
                <a:latin typeface="Consolas"/>
              </a:rPr>
              <a:t>    cout &lt;&lt; endl;</a:t>
            </a:r>
          </a:p>
          <a:p>
            <a:pPr>
              <a:spcAft>
                <a:spcPts val="0"/>
              </a:spcAft>
            </a:pPr>
            <a:r>
              <a:rPr sz="1200">
                <a:solidFill>
                  <a:srgbClr val="E6EDF3"/>
                </a:solidFill>
                <a:latin typeface="Consolas"/>
              </a:rPr>
              <a:t>    duyet(head);</a:t>
            </a:r>
          </a:p>
          <a:p>
            <a:pPr>
              <a:spcAft>
                <a:spcPts val="0"/>
              </a:spcAft>
            </a:pPr>
            <a:r>
              <a:rPr sz="1200">
                <a:solidFill>
                  <a:srgbClr val="E6EDF3"/>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 (tiếp)</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sz="1700">
                <a:solidFill>
                  <a:srgbClr val="1F2A37"/>
                </a:solidFill>
                <a:latin typeface="Calibri"/>
              </a:rPr>
              <a:t>Output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1. Xóa node giữa trong DSLK đôi quản lý bởi node head</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82651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570484"/>
          </a:xfrm>
          <a:prstGeom prst="rect">
            <a:avLst/>
          </a:prstGeom>
          <a:noFill/>
        </p:spPr>
        <p:txBody>
          <a:bodyPr wrap="none">
            <a:spAutoFit/>
          </a:bodyPr>
          <a:lstStyle/>
          <a:p>
            <a:pPr>
              <a:spcAft>
                <a:spcPts val="0"/>
              </a:spcAft>
            </a:pPr>
            <a:r>
              <a:rPr sz="1400">
                <a:solidFill>
                  <a:srgbClr val="E6EDF3"/>
                </a:solidFill>
                <a:latin typeface="Consolas"/>
              </a:rPr>
              <a:t>10 9 8 7 6 5 4 3 2 1 </a:t>
            </a:r>
          </a:p>
          <a:p>
            <a:pPr>
              <a:spcAft>
                <a:spcPts val="0"/>
              </a:spcAft>
            </a:pPr>
            <a:r>
              <a:rPr sz="1400">
                <a:solidFill>
                  <a:srgbClr val="E6EDF3"/>
                </a:solidFill>
                <a:latin typeface="Consolas"/>
              </a:rPr>
              <a:t>10 9 7 6 5 4 3 2 1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sz="1700">
                <a:solidFill>
                  <a:srgbClr val="1F2A37"/>
                </a:solidFill>
                <a:latin typeface="Calibri"/>
              </a:rPr>
              <a:t>Tương tự như trong các bài viết trước về DSLK đơn thì các bạn cũng có thể xây dựng thêm cấu trúc để quản lý DSLK thông qua con trỏ head(đầu) và tail (cuối).</a:t>
            </a:r>
          </a:p>
          <a:p>
            <a:pPr>
              <a:spcAft>
                <a:spcPts val="1000"/>
              </a:spcAft>
            </a:pPr>
            <a:r>
              <a:rPr b="1" sz="1700">
                <a:solidFill>
                  <a:srgbClr val="1F2A37"/>
                </a:solidFill>
                <a:latin typeface="Calibri"/>
              </a:rPr>
              <a:t>Mã nguồn C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1/5)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#include "stdio.h"</a:t>
            </a:r>
          </a:p>
          <a:p>
            <a:pPr>
              <a:spcAft>
                <a:spcPts val="0"/>
              </a:spcAft>
            </a:pPr>
            <a:r>
              <a:rPr sz="1200">
                <a:solidFill>
                  <a:srgbClr val="E6EDF3"/>
                </a:solidFill>
                <a:latin typeface="Consolas"/>
              </a:rPr>
              <a:t>#include "stdlib.h"</a:t>
            </a:r>
          </a:p>
          <a:p>
            <a:pPr>
              <a:spcAft>
                <a:spcPts val="0"/>
              </a:spcAft>
            </a:pPr>
            <a:r>
              <a:rPr sz="1200">
                <a:solidFill>
                  <a:srgbClr val="E6EDF3"/>
                </a:solidFill>
                <a:latin typeface="Consolas"/>
              </a:rPr>
              <a:t>#include "string.h"</a:t>
            </a:r>
          </a:p>
          <a:p>
            <a:pPr>
              <a:spcAft>
                <a:spcPts val="0"/>
              </a:spcAft>
            </a:pPr>
            <a:r>
              <a:rPr sz="1200">
                <a:solidFill>
                  <a:srgbClr val="E6EDF3"/>
                </a:solidFill>
                <a:latin typeface="Consolas"/>
              </a:rPr>
              <a:t> </a:t>
            </a:r>
          </a:p>
          <a:p>
            <a:pPr>
              <a:spcAft>
                <a:spcPts val="0"/>
              </a:spcAft>
            </a:pPr>
            <a:r>
              <a:rPr sz="1200">
                <a:solidFill>
                  <a:srgbClr val="E6EDF3"/>
                </a:solidFill>
                <a:latin typeface="Consolas"/>
              </a:rPr>
              <a:t>struct node{</a:t>
            </a:r>
          </a:p>
          <a:p>
            <a:pPr>
              <a:spcAft>
                <a:spcPts val="0"/>
              </a:spcAft>
            </a:pPr>
            <a:r>
              <a:rPr sz="1200">
                <a:solidFill>
                  <a:srgbClr val="E6EDF3"/>
                </a:solidFill>
                <a:latin typeface="Consolas"/>
              </a:rPr>
              <a:t>    int data;</a:t>
            </a:r>
          </a:p>
          <a:p>
            <a:pPr>
              <a:spcAft>
                <a:spcPts val="0"/>
              </a:spcAft>
            </a:pPr>
            <a:r>
              <a:rPr sz="1200">
                <a:solidFill>
                  <a:srgbClr val="E6EDF3"/>
                </a:solidFill>
                <a:latin typeface="Consolas"/>
              </a:rPr>
              <a:t>    struct node *next;</a:t>
            </a:r>
          </a:p>
          <a:p>
            <a:pPr>
              <a:spcAft>
                <a:spcPts val="0"/>
              </a:spcAft>
            </a:pPr>
            <a:r>
              <a:rPr sz="1200">
                <a:solidFill>
                  <a:srgbClr val="E6EDF3"/>
                </a:solidFill>
                <a:latin typeface="Consolas"/>
              </a:rPr>
              <a:t>    struct node *prev;</a:t>
            </a:r>
          </a:p>
          <a:p>
            <a:pPr>
              <a:spcAft>
                <a:spcPts val="0"/>
              </a:spcAft>
            </a:pPr>
            <a:r>
              <a:rPr sz="1200">
                <a:solidFill>
                  <a:srgbClr val="E6EDF3"/>
                </a:solidFill>
                <a:latin typeface="Consolas"/>
              </a:rPr>
              <a:t>};</a:t>
            </a:r>
          </a:p>
          <a:p>
            <a:pPr>
              <a:spcAft>
                <a:spcPts val="0"/>
              </a:spcAft>
            </a:pPr>
            <a:r>
              <a:rPr sz="1200">
                <a:solidFill>
                  <a:srgbClr val="E6EDF3"/>
                </a:solidFill>
                <a:latin typeface="Consolas"/>
              </a:rPr>
              <a:t>typedef struct node node;</a:t>
            </a:r>
          </a:p>
          <a:p>
            <a:pPr>
              <a:spcAft>
                <a:spcPts val="0"/>
              </a:spcAft>
            </a:pPr>
            <a:r>
              <a:rPr sz="1200">
                <a:solidFill>
                  <a:srgbClr val="E6EDF3"/>
                </a:solidFill>
                <a:latin typeface="Consolas"/>
              </a:rPr>
              <a:t> </a:t>
            </a:r>
          </a:p>
          <a:p>
            <a:pPr>
              <a:spcAft>
                <a:spcPts val="0"/>
              </a:spcAft>
            </a:pPr>
            <a:r>
              <a:rPr sz="1200">
                <a:solidFill>
                  <a:srgbClr val="E6EDF3"/>
                </a:solidFill>
                <a:latin typeface="Consolas"/>
              </a:rPr>
              <a:t>struct LIST{</a:t>
            </a:r>
          </a:p>
          <a:p>
            <a:pPr>
              <a:spcAft>
                <a:spcPts val="0"/>
              </a:spcAft>
            </a:pPr>
            <a:r>
              <a:rPr sz="1200">
                <a:solidFill>
                  <a:srgbClr val="E6EDF3"/>
                </a:solidFill>
                <a:latin typeface="Consolas"/>
              </a:rPr>
              <a:t>    node *head;</a:t>
            </a:r>
          </a:p>
          <a:p>
            <a:pPr>
              <a:spcAft>
                <a:spcPts val="0"/>
              </a:spcAft>
            </a:pPr>
            <a:r>
              <a:rPr sz="1200">
                <a:solidFill>
                  <a:srgbClr val="E6EDF3"/>
                </a:solidFill>
                <a:latin typeface="Consolas"/>
              </a:rPr>
              <a:t>    node *tail;</a:t>
            </a:r>
          </a:p>
          <a:p>
            <a:pPr>
              <a:spcAft>
                <a:spcPts val="0"/>
              </a:spcAft>
            </a:pPr>
            <a:r>
              <a:rPr sz="1200">
                <a:solidFill>
                  <a:srgbClr val="E6EDF3"/>
                </a:solidFill>
                <a:latin typeface="Consolas"/>
              </a:rPr>
              <a:t>};</a:t>
            </a:r>
          </a:p>
          <a:p>
            <a:pPr>
              <a:spcAft>
                <a:spcPts val="0"/>
              </a:spcAft>
            </a:pPr>
            <a:r>
              <a:rPr sz="1200">
                <a:solidFill>
                  <a:srgbClr val="E6EDF3"/>
                </a:solidFill>
                <a:latin typeface="Consolas"/>
              </a:rPr>
              <a:t>typedef struct LIST LIST;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duyet(LIST l){</a:t>
            </a:r>
          </a:p>
          <a:p>
            <a:pPr>
              <a:spcAft>
                <a:spcPts val="0"/>
              </a:spcAft>
            </a:pPr>
            <a:r>
              <a:rPr sz="1200">
                <a:solidFill>
                  <a:srgbClr val="E6EDF3"/>
                </a:solidFill>
                <a:latin typeface="Consolas"/>
              </a:rPr>
              <a:t>    if(l.head == NULL){</a:t>
            </a:r>
          </a:p>
          <a:p>
            <a:pPr>
              <a:spcAft>
                <a:spcPts val="0"/>
              </a:spcAft>
            </a:pPr>
            <a:r>
              <a:rPr sz="1200">
                <a:solidFill>
                  <a:srgbClr val="E6EDF3"/>
                </a:solidFill>
                <a:latin typeface="Consolas"/>
              </a:rPr>
              <a:t>        printf("DSLK rong !\n");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2/5)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a:t>
            </a:r>
          </a:p>
          <a:p>
            <a:pPr>
              <a:spcAft>
                <a:spcPts val="0"/>
              </a:spcAft>
            </a:pPr>
            <a:r>
              <a:rPr sz="1200">
                <a:solidFill>
                  <a:srgbClr val="E6EDF3"/>
                </a:solidFill>
                <a:latin typeface="Consolas"/>
              </a:rPr>
              <a:t>    else{</a:t>
            </a:r>
          </a:p>
          <a:p>
            <a:pPr>
              <a:spcAft>
                <a:spcPts val="0"/>
              </a:spcAft>
            </a:pPr>
            <a:r>
              <a:rPr sz="1200">
                <a:solidFill>
                  <a:srgbClr val="E6EDF3"/>
                </a:solidFill>
                <a:latin typeface="Consolas"/>
              </a:rPr>
              <a:t>        node *tmp = l.head;</a:t>
            </a:r>
          </a:p>
          <a:p>
            <a:pPr>
              <a:spcAft>
                <a:spcPts val="0"/>
              </a:spcAft>
            </a:pPr>
            <a:r>
              <a:rPr sz="1200">
                <a:solidFill>
                  <a:srgbClr val="E6EDF3"/>
                </a:solidFill>
                <a:latin typeface="Consolas"/>
              </a:rPr>
              <a:t>        while(tmp != NULL){</a:t>
            </a:r>
          </a:p>
          <a:p>
            <a:pPr>
              <a:spcAft>
                <a:spcPts val="0"/>
              </a:spcAft>
            </a:pPr>
            <a:r>
              <a:rPr sz="1200">
                <a:solidFill>
                  <a:srgbClr val="E6EDF3"/>
                </a:solidFill>
                <a:latin typeface="Consolas"/>
              </a:rPr>
              <a:t>            printf("%d ", tmp-&gt;data);</a:t>
            </a:r>
          </a:p>
          <a:p>
            <a:pPr>
              <a:spcAft>
                <a:spcPts val="0"/>
              </a:spcAft>
            </a:pPr>
            <a:r>
              <a:rPr sz="1200">
                <a:solidFill>
                  <a:srgbClr val="E6EDF3"/>
                </a:solidFill>
                <a:latin typeface="Consolas"/>
              </a:rPr>
              <a:t>            tmp = tmp-&gt;next;</a:t>
            </a:r>
          </a:p>
          <a:p>
            <a:pPr>
              <a:spcAft>
                <a:spcPts val="0"/>
              </a:spcAft>
            </a:pPr>
            <a:r>
              <a:rPr sz="1200">
                <a:solidFill>
                  <a:srgbClr val="E6EDF3"/>
                </a:solidFill>
                <a:latin typeface="Consolas"/>
              </a:rPr>
              <a:t>        }</a:t>
            </a:r>
          </a:p>
          <a:p>
            <a:pPr>
              <a:spcAft>
                <a:spcPts val="0"/>
              </a:spcAft>
            </a:pPr>
            <a:r>
              <a:rPr sz="1200">
                <a:solidFill>
                  <a:srgbClr val="E6EDF3"/>
                </a:solidFill>
                <a:latin typeface="Consolas"/>
              </a:rPr>
              <a:t>    }</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int len(LIST l){</a:t>
            </a:r>
          </a:p>
          <a:p>
            <a:pPr>
              <a:spcAft>
                <a:spcPts val="0"/>
              </a:spcAft>
            </a:pPr>
            <a:r>
              <a:rPr sz="1200">
                <a:solidFill>
                  <a:srgbClr val="E6EDF3"/>
                </a:solidFill>
                <a:latin typeface="Consolas"/>
              </a:rPr>
              <a:t>    int dem = 0;</a:t>
            </a:r>
          </a:p>
          <a:p>
            <a:pPr>
              <a:spcAft>
                <a:spcPts val="0"/>
              </a:spcAft>
            </a:pPr>
            <a:r>
              <a:rPr sz="1200">
                <a:solidFill>
                  <a:srgbClr val="E6EDF3"/>
                </a:solidFill>
                <a:latin typeface="Consolas"/>
              </a:rPr>
              <a:t>    while(l.head != NULL){</a:t>
            </a:r>
          </a:p>
          <a:p>
            <a:pPr>
              <a:spcAft>
                <a:spcPts val="0"/>
              </a:spcAft>
            </a:pPr>
            <a:r>
              <a:rPr sz="1200">
                <a:solidFill>
                  <a:srgbClr val="E6EDF3"/>
                </a:solidFill>
                <a:latin typeface="Consolas"/>
              </a:rPr>
              <a:t>        ++dem;</a:t>
            </a:r>
          </a:p>
          <a:p>
            <a:pPr>
              <a:spcAft>
                <a:spcPts val="0"/>
              </a:spcAft>
            </a:pPr>
            <a:r>
              <a:rPr sz="1200">
                <a:solidFill>
                  <a:srgbClr val="E6EDF3"/>
                </a:solidFill>
                <a:latin typeface="Consolas"/>
              </a:rPr>
              <a:t>        l.head = l.head-&gt;next;</a:t>
            </a:r>
          </a:p>
          <a:p>
            <a:pPr>
              <a:spcAft>
                <a:spcPts val="0"/>
              </a:spcAft>
            </a:pPr>
            <a:r>
              <a:rPr sz="1200">
                <a:solidFill>
                  <a:srgbClr val="E6EDF3"/>
                </a:solidFill>
                <a:latin typeface="Consolas"/>
              </a:rPr>
              <a:t>    }</a:t>
            </a:r>
          </a:p>
          <a:p>
            <a:pPr>
              <a:spcAft>
                <a:spcPts val="0"/>
              </a:spcAft>
            </a:pPr>
            <a:r>
              <a:rPr sz="1200">
                <a:solidFill>
                  <a:srgbClr val="E6EDF3"/>
                </a:solidFill>
                <a:latin typeface="Consolas"/>
              </a:rPr>
              <a:t>    return dem;</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themdau(LIST *l, int 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3/5)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node *newNode = (node*)malloc(sizeof(node));</a:t>
            </a:r>
          </a:p>
          <a:p>
            <a:pPr>
              <a:spcAft>
                <a:spcPts val="0"/>
              </a:spcAft>
            </a:pPr>
            <a:r>
              <a:rPr sz="1200">
                <a:solidFill>
                  <a:srgbClr val="E6EDF3"/>
                </a:solidFill>
                <a:latin typeface="Consolas"/>
              </a:rPr>
              <a:t>    newNode-&gt;data = x;</a:t>
            </a:r>
          </a:p>
          <a:p>
            <a:pPr>
              <a:spcAft>
                <a:spcPts val="0"/>
              </a:spcAft>
            </a:pPr>
            <a:r>
              <a:rPr sz="1200">
                <a:solidFill>
                  <a:srgbClr val="E6EDF3"/>
                </a:solidFill>
                <a:latin typeface="Consolas"/>
              </a:rPr>
              <a:t>    newNode-&gt;next = NULL;</a:t>
            </a:r>
          </a:p>
          <a:p>
            <a:pPr>
              <a:spcAft>
                <a:spcPts val="0"/>
              </a:spcAft>
            </a:pPr>
            <a:r>
              <a:rPr sz="1200">
                <a:solidFill>
                  <a:srgbClr val="E6EDF3"/>
                </a:solidFill>
                <a:latin typeface="Consolas"/>
              </a:rPr>
              <a:t>    if(l-&gt;head == NULL){</a:t>
            </a:r>
          </a:p>
          <a:p>
            <a:pPr>
              <a:spcAft>
                <a:spcPts val="0"/>
              </a:spcAft>
            </a:pPr>
            <a:r>
              <a:rPr sz="1200">
                <a:solidFill>
                  <a:srgbClr val="E6EDF3"/>
                </a:solidFill>
                <a:latin typeface="Consolas"/>
              </a:rPr>
              <a:t>        l-&gt;tail = l-&gt;head = newNode; return;</a:t>
            </a:r>
          </a:p>
          <a:p>
            <a:pPr>
              <a:spcAft>
                <a:spcPts val="0"/>
              </a:spcAft>
            </a:pPr>
            <a:r>
              <a:rPr sz="1200">
                <a:solidFill>
                  <a:srgbClr val="E6EDF3"/>
                </a:solidFill>
                <a:latin typeface="Consolas"/>
              </a:rPr>
              <a:t>    }</a:t>
            </a:r>
          </a:p>
          <a:p>
            <a:pPr>
              <a:spcAft>
                <a:spcPts val="0"/>
              </a:spcAft>
            </a:pPr>
            <a:r>
              <a:rPr sz="1200">
                <a:solidFill>
                  <a:srgbClr val="E6EDF3"/>
                </a:solidFill>
                <a:latin typeface="Consolas"/>
              </a:rPr>
              <a:t>    newNode-&gt;next = l-&gt;head;</a:t>
            </a:r>
          </a:p>
          <a:p>
            <a:pPr>
              <a:spcAft>
                <a:spcPts val="0"/>
              </a:spcAft>
            </a:pPr>
            <a:r>
              <a:rPr sz="1200">
                <a:solidFill>
                  <a:srgbClr val="E6EDF3"/>
                </a:solidFill>
                <a:latin typeface="Consolas"/>
              </a:rPr>
              <a:t>    l-&gt;head-&gt;prev = newNode; </a:t>
            </a:r>
          </a:p>
          <a:p>
            <a:pPr>
              <a:spcAft>
                <a:spcPts val="0"/>
              </a:spcAft>
            </a:pPr>
            <a:r>
              <a:rPr sz="1200">
                <a:solidFill>
                  <a:srgbClr val="E6EDF3"/>
                </a:solidFill>
                <a:latin typeface="Consolas"/>
              </a:rPr>
              <a:t>    l-&gt;head = newNode;</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xoadau(LIST *l){</a:t>
            </a:r>
          </a:p>
          <a:p>
            <a:pPr>
              <a:spcAft>
                <a:spcPts val="0"/>
              </a:spcAft>
            </a:pPr>
            <a:r>
              <a:rPr sz="1200">
                <a:solidFill>
                  <a:srgbClr val="E6EDF3"/>
                </a:solidFill>
                <a:latin typeface="Consolas"/>
              </a:rPr>
              <a:t>    if(l-&gt;head == NULL) return; //DSLK rong</a:t>
            </a:r>
          </a:p>
          <a:p>
            <a:pPr>
              <a:spcAft>
                <a:spcPts val="0"/>
              </a:spcAft>
            </a:pPr>
            <a:r>
              <a:rPr sz="1200">
                <a:solidFill>
                  <a:srgbClr val="E6EDF3"/>
                </a:solidFill>
                <a:latin typeface="Consolas"/>
              </a:rPr>
              <a:t>    node *delNode = l-&gt;head;</a:t>
            </a:r>
          </a:p>
          <a:p>
            <a:pPr>
              <a:spcAft>
                <a:spcPts val="0"/>
              </a:spcAft>
            </a:pPr>
            <a:r>
              <a:rPr sz="1200">
                <a:solidFill>
                  <a:srgbClr val="E6EDF3"/>
                </a:solidFill>
                <a:latin typeface="Consolas"/>
              </a:rPr>
              <a:t>    l-&gt;head = l-&gt;head-&gt;next;</a:t>
            </a:r>
          </a:p>
          <a:p>
            <a:pPr>
              <a:spcAft>
                <a:spcPts val="0"/>
              </a:spcAft>
            </a:pPr>
            <a:r>
              <a:rPr sz="1200">
                <a:solidFill>
                  <a:srgbClr val="E6EDF3"/>
                </a:solidFill>
                <a:latin typeface="Consolas"/>
              </a:rPr>
              <a:t>    if(l-&gt;head != NULL)</a:t>
            </a:r>
          </a:p>
          <a:p>
            <a:pPr>
              <a:spcAft>
                <a:spcPts val="0"/>
              </a:spcAft>
            </a:pPr>
            <a:r>
              <a:rPr sz="1200">
                <a:solidFill>
                  <a:srgbClr val="E6EDF3"/>
                </a:solidFill>
                <a:latin typeface="Consolas"/>
              </a:rPr>
              <a:t>        l-&gt;head-&gt;prev = NULL;</a:t>
            </a:r>
          </a:p>
          <a:p>
            <a:pPr>
              <a:spcAft>
                <a:spcPts val="0"/>
              </a:spcAft>
            </a:pPr>
            <a:r>
              <a:rPr sz="1200">
                <a:solidFill>
                  <a:srgbClr val="E6EDF3"/>
                </a:solidFill>
                <a:latin typeface="Consolas"/>
              </a:rPr>
              <a:t>    else </a:t>
            </a:r>
          </a:p>
          <a:p>
            <a:pPr>
              <a:spcAft>
                <a:spcPts val="0"/>
              </a:spcAft>
            </a:pPr>
            <a:r>
              <a:rPr sz="1200">
                <a:solidFill>
                  <a:srgbClr val="E6EDF3"/>
                </a:solidFill>
                <a:latin typeface="Consolas"/>
              </a:rPr>
              <a:t>        l-&gt;tail = NULL;</a:t>
            </a:r>
          </a:p>
          <a:p>
            <a:pPr>
              <a:spcAft>
                <a:spcPts val="0"/>
              </a:spcAft>
            </a:pPr>
            <a:r>
              <a:rPr sz="1200">
                <a:solidFill>
                  <a:srgbClr val="E6EDF3"/>
                </a:solidFill>
                <a:latin typeface="Consolas"/>
              </a:rPr>
              <a:t>    free(delNode);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4/5)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xoagiua(LIST *l, int k){</a:t>
            </a:r>
          </a:p>
          <a:p>
            <a:pPr>
              <a:spcAft>
                <a:spcPts val="0"/>
              </a:spcAft>
            </a:pPr>
            <a:r>
              <a:rPr sz="1200">
                <a:solidFill>
                  <a:srgbClr val="E6EDF3"/>
                </a:solidFill>
                <a:latin typeface="Consolas"/>
              </a:rPr>
              <a:t>    if(k &lt; 1 || k &gt; len(*l)) return; // vi tri xoa ko hop le</a:t>
            </a:r>
          </a:p>
          <a:p>
            <a:pPr>
              <a:spcAft>
                <a:spcPts val="0"/>
              </a:spcAft>
            </a:pPr>
            <a:r>
              <a:rPr sz="1200">
                <a:solidFill>
                  <a:srgbClr val="E6EDF3"/>
                </a:solidFill>
                <a:latin typeface="Consolas"/>
              </a:rPr>
              <a:t>    if(k == 1){</a:t>
            </a:r>
          </a:p>
          <a:p>
            <a:pPr>
              <a:spcAft>
                <a:spcPts val="0"/>
              </a:spcAft>
            </a:pPr>
            <a:r>
              <a:rPr sz="1200">
                <a:solidFill>
                  <a:srgbClr val="E6EDF3"/>
                </a:solidFill>
                <a:latin typeface="Consolas"/>
              </a:rPr>
              <a:t>        xoadau(l);</a:t>
            </a:r>
          </a:p>
          <a:p>
            <a:pPr>
              <a:spcAft>
                <a:spcPts val="0"/>
              </a:spcAft>
            </a:pPr>
            <a:r>
              <a:rPr sz="1200">
                <a:solidFill>
                  <a:srgbClr val="E6EDF3"/>
                </a:solidFill>
                <a:latin typeface="Consolas"/>
              </a:rPr>
              <a:t>    }</a:t>
            </a:r>
          </a:p>
          <a:p>
            <a:pPr>
              <a:spcAft>
                <a:spcPts val="0"/>
              </a:spcAft>
            </a:pPr>
            <a:r>
              <a:rPr sz="1200">
                <a:solidFill>
                  <a:srgbClr val="E6EDF3"/>
                </a:solidFill>
                <a:latin typeface="Consolas"/>
              </a:rPr>
              <a:t>    else{</a:t>
            </a:r>
          </a:p>
          <a:p>
            <a:pPr>
              <a:spcAft>
                <a:spcPts val="0"/>
              </a:spcAft>
            </a:pPr>
            <a:r>
              <a:rPr sz="1200">
                <a:solidFill>
                  <a:srgbClr val="E6EDF3"/>
                </a:solidFill>
                <a:latin typeface="Consolas"/>
              </a:rPr>
              <a:t>        node *tmp = l-&gt;head;</a:t>
            </a:r>
          </a:p>
          <a:p>
            <a:pPr>
              <a:spcAft>
                <a:spcPts val="0"/>
              </a:spcAft>
            </a:pPr>
            <a:r>
              <a:rPr sz="1200">
                <a:solidFill>
                  <a:srgbClr val="E6EDF3"/>
                </a:solidFill>
                <a:latin typeface="Consolas"/>
              </a:rPr>
              <a:t>        //Duyet den node k </a:t>
            </a:r>
          </a:p>
          <a:p>
            <a:pPr>
              <a:spcAft>
                <a:spcPts val="0"/>
              </a:spcAft>
            </a:pPr>
            <a:r>
              <a:rPr sz="1200">
                <a:solidFill>
                  <a:srgbClr val="E6EDF3"/>
                </a:solidFill>
                <a:latin typeface="Consolas"/>
              </a:rPr>
              <a:t>        for(int i = 1; i &lt;= k - 1; i++){</a:t>
            </a:r>
          </a:p>
          <a:p>
            <a:pPr>
              <a:spcAft>
                <a:spcPts val="0"/>
              </a:spcAft>
            </a:pPr>
            <a:r>
              <a:rPr sz="1200">
                <a:solidFill>
                  <a:srgbClr val="E6EDF3"/>
                </a:solidFill>
                <a:latin typeface="Consolas"/>
              </a:rPr>
              <a:t>            tmp = tmp-&gt;next;</a:t>
            </a:r>
          </a:p>
          <a:p>
            <a:pPr>
              <a:spcAft>
                <a:spcPts val="0"/>
              </a:spcAft>
            </a:pPr>
            <a:r>
              <a:rPr sz="1200">
                <a:solidFill>
                  <a:srgbClr val="E6EDF3"/>
                </a:solidFill>
                <a:latin typeface="Consolas"/>
              </a:rPr>
              <a:t>        }</a:t>
            </a:r>
          </a:p>
          <a:p>
            <a:pPr>
              <a:spcAft>
                <a:spcPts val="0"/>
              </a:spcAft>
            </a:pPr>
            <a:r>
              <a:rPr sz="1200">
                <a:solidFill>
                  <a:srgbClr val="E6EDF3"/>
                </a:solidFill>
                <a:latin typeface="Consolas"/>
              </a:rPr>
              <a:t>        //Luu lai node thu k</a:t>
            </a:r>
          </a:p>
          <a:p>
            <a:pPr>
              <a:spcAft>
                <a:spcPts val="0"/>
              </a:spcAft>
            </a:pPr>
            <a:r>
              <a:rPr sz="1200">
                <a:solidFill>
                  <a:srgbClr val="E6EDF3"/>
                </a:solidFill>
                <a:latin typeface="Consolas"/>
              </a:rPr>
              <a:t>        node *delNode = tmp;</a:t>
            </a:r>
          </a:p>
          <a:p>
            <a:pPr>
              <a:spcAft>
                <a:spcPts val="0"/>
              </a:spcAft>
            </a:pPr>
            <a:r>
              <a:rPr sz="1200">
                <a:solidFill>
                  <a:srgbClr val="E6EDF3"/>
                </a:solidFill>
                <a:latin typeface="Consolas"/>
              </a:rPr>
              <a:t>        //Cho k - 1 =&gt; tro vao k + 1</a:t>
            </a:r>
          </a:p>
          <a:p>
            <a:pPr>
              <a:spcAft>
                <a:spcPts val="0"/>
              </a:spcAft>
            </a:pPr>
            <a:r>
              <a:rPr sz="1200">
                <a:solidFill>
                  <a:srgbClr val="E6EDF3"/>
                </a:solidFill>
                <a:latin typeface="Consolas"/>
              </a:rPr>
              <a:t>        tmp-&gt;prev-&gt;next= tmp-&gt;next;</a:t>
            </a:r>
          </a:p>
          <a:p>
            <a:pPr>
              <a:spcAft>
                <a:spcPts val="0"/>
              </a:spcAft>
            </a:pPr>
            <a:r>
              <a:rPr sz="1200">
                <a:solidFill>
                  <a:srgbClr val="E6EDF3"/>
                </a:solidFill>
                <a:latin typeface="Consolas"/>
              </a:rPr>
              <a:t>        //Cho k + 1 =&gt; tro nguoc vao k - 1</a:t>
            </a:r>
          </a:p>
          <a:p>
            <a:pPr>
              <a:spcAft>
                <a:spcPts val="0"/>
              </a:spcAft>
            </a:pPr>
            <a:r>
              <a:rPr sz="1200">
                <a:solidFill>
                  <a:srgbClr val="E6EDF3"/>
                </a:solidFill>
                <a:latin typeface="Consolas"/>
              </a:rPr>
              <a:t>        tmp-&gt;next-&gt;prev = tmp-&gt;prev;</a:t>
            </a:r>
          </a:p>
          <a:p>
            <a:pPr>
              <a:spcAft>
                <a:spcPts val="0"/>
              </a:spcAft>
            </a:pPr>
            <a:r>
              <a:rPr sz="1200">
                <a:solidFill>
                  <a:srgbClr val="E6EDF3"/>
                </a:solidFill>
                <a:latin typeface="Consolas"/>
              </a:rPr>
              <a:t>        if(tmp-&gt;next == NULL)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5/5)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067539"/>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3811507"/>
          </a:xfrm>
          <a:prstGeom prst="rect">
            <a:avLst/>
          </a:prstGeom>
          <a:noFill/>
        </p:spPr>
        <p:txBody>
          <a:bodyPr wrap="none">
            <a:spAutoFit/>
          </a:bodyPr>
          <a:lstStyle/>
          <a:p>
            <a:pPr>
              <a:spcAft>
                <a:spcPts val="0"/>
              </a:spcAft>
            </a:pPr>
            <a:r>
              <a:rPr sz="1200">
                <a:solidFill>
                  <a:srgbClr val="E6EDF3"/>
                </a:solidFill>
                <a:latin typeface="Consolas"/>
              </a:rPr>
              <a:t>            l-&gt;tail = tmp-&gt;prev;</a:t>
            </a:r>
          </a:p>
          <a:p>
            <a:pPr>
              <a:spcAft>
                <a:spcPts val="0"/>
              </a:spcAft>
            </a:pPr>
            <a:r>
              <a:rPr sz="1200">
                <a:solidFill>
                  <a:srgbClr val="E6EDF3"/>
                </a:solidFill>
                <a:latin typeface="Consolas"/>
              </a:rPr>
              <a:t>        //Giai phong node thu k</a:t>
            </a:r>
          </a:p>
          <a:p>
            <a:pPr>
              <a:spcAft>
                <a:spcPts val="0"/>
              </a:spcAft>
            </a:pPr>
            <a:r>
              <a:rPr sz="1200">
                <a:solidFill>
                  <a:srgbClr val="E6EDF3"/>
                </a:solidFill>
                <a:latin typeface="Consolas"/>
              </a:rPr>
              <a:t>        free(delNode);</a:t>
            </a:r>
          </a:p>
          <a:p>
            <a:pPr>
              <a:spcAft>
                <a:spcPts val="0"/>
              </a:spcAft>
            </a:pPr>
            <a:r>
              <a:rPr sz="1200">
                <a:solidFill>
                  <a:srgbClr val="E6EDF3"/>
                </a:solidFill>
                <a:latin typeface="Consolas"/>
              </a:rPr>
              <a:t>    }</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int main(){</a:t>
            </a:r>
          </a:p>
          <a:p>
            <a:pPr>
              <a:spcAft>
                <a:spcPts val="0"/>
              </a:spcAft>
            </a:pPr>
            <a:r>
              <a:rPr sz="1200">
                <a:solidFill>
                  <a:srgbClr val="E6EDF3"/>
                </a:solidFill>
                <a:latin typeface="Consolas"/>
              </a:rPr>
              <a:t>    LIST l;</a:t>
            </a:r>
          </a:p>
          <a:p>
            <a:pPr>
              <a:spcAft>
                <a:spcPts val="0"/>
              </a:spcAft>
            </a:pPr>
            <a:r>
              <a:rPr sz="1200">
                <a:solidFill>
                  <a:srgbClr val="E6EDF3"/>
                </a:solidFill>
                <a:latin typeface="Consolas"/>
              </a:rPr>
              <a:t>    l.head = NULL; l.tail = NULL;</a:t>
            </a:r>
          </a:p>
          <a:p>
            <a:pPr>
              <a:spcAft>
                <a:spcPts val="0"/>
              </a:spcAft>
            </a:pPr>
            <a:r>
              <a:rPr sz="1200">
                <a:solidFill>
                  <a:srgbClr val="E6EDF3"/>
                </a:solidFill>
                <a:latin typeface="Consolas"/>
              </a:rPr>
              <a:t>    for(int i = 1; i &lt;= 10; i++){</a:t>
            </a:r>
          </a:p>
          <a:p>
            <a:pPr>
              <a:spcAft>
                <a:spcPts val="0"/>
              </a:spcAft>
            </a:pPr>
            <a:r>
              <a:rPr sz="1200">
                <a:solidFill>
                  <a:srgbClr val="E6EDF3"/>
                </a:solidFill>
                <a:latin typeface="Consolas"/>
              </a:rPr>
              <a:t>        themdau(&amp;l, i);</a:t>
            </a:r>
          </a:p>
          <a:p>
            <a:pPr>
              <a:spcAft>
                <a:spcPts val="0"/>
              </a:spcAft>
            </a:pPr>
            <a:r>
              <a:rPr sz="1200">
                <a:solidFill>
                  <a:srgbClr val="E6EDF3"/>
                </a:solidFill>
                <a:latin typeface="Consolas"/>
              </a:rPr>
              <a:t>    }</a:t>
            </a:r>
          </a:p>
          <a:p>
            <a:pPr>
              <a:spcAft>
                <a:spcPts val="0"/>
              </a:spcAft>
            </a:pPr>
            <a:r>
              <a:rPr sz="1200">
                <a:solidFill>
                  <a:srgbClr val="E6EDF3"/>
                </a:solidFill>
                <a:latin typeface="Consolas"/>
              </a:rPr>
              <a:t>    duyet(l);</a:t>
            </a:r>
          </a:p>
          <a:p>
            <a:pPr>
              <a:spcAft>
                <a:spcPts val="0"/>
              </a:spcAft>
            </a:pPr>
            <a:r>
              <a:rPr sz="1200">
                <a:solidFill>
                  <a:srgbClr val="E6EDF3"/>
                </a:solidFill>
                <a:latin typeface="Consolas"/>
              </a:rPr>
              <a:t>    xoagiua(&amp;l, 3);</a:t>
            </a:r>
          </a:p>
          <a:p>
            <a:pPr>
              <a:spcAft>
                <a:spcPts val="0"/>
              </a:spcAft>
            </a:pPr>
            <a:r>
              <a:rPr sz="1200">
                <a:solidFill>
                  <a:srgbClr val="E6EDF3"/>
                </a:solidFill>
                <a:latin typeface="Consolas"/>
              </a:rPr>
              <a:t>    printf("\n");</a:t>
            </a:r>
          </a:p>
          <a:p>
            <a:pPr>
              <a:spcAft>
                <a:spcPts val="0"/>
              </a:spcAft>
            </a:pPr>
            <a:r>
              <a:rPr sz="1200">
                <a:solidFill>
                  <a:srgbClr val="E6EDF3"/>
                </a:solidFill>
                <a:latin typeface="Consolas"/>
              </a:rPr>
              <a:t>    duyet(l);</a:t>
            </a:r>
          </a:p>
          <a:p>
            <a:pPr>
              <a:spcAft>
                <a:spcPts val="0"/>
              </a:spcAft>
            </a:pPr>
            <a:r>
              <a:rPr sz="1200">
                <a:solidFill>
                  <a:srgbClr val="E6EDF3"/>
                </a:solidFill>
                <a:latin typeface="Consolas"/>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b="1" sz="1700">
                <a:solidFill>
                  <a:srgbClr val="1F2A37"/>
                </a:solidFill>
                <a:latin typeface="Calibri"/>
              </a:rPr>
              <a:t>Mã nguồn C++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1/5)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#include "iostream"</a:t>
            </a:r>
          </a:p>
          <a:p>
            <a:pPr>
              <a:spcAft>
                <a:spcPts val="0"/>
              </a:spcAft>
            </a:pPr>
            <a:r>
              <a:rPr sz="1200">
                <a:solidFill>
                  <a:srgbClr val="E6EDF3"/>
                </a:solidFill>
                <a:latin typeface="Consolas"/>
              </a:rPr>
              <a:t>using namespace std;</a:t>
            </a:r>
          </a:p>
          <a:p>
            <a:pPr>
              <a:spcAft>
                <a:spcPts val="0"/>
              </a:spcAft>
            </a:pPr>
            <a:r>
              <a:rPr sz="1200">
                <a:solidFill>
                  <a:srgbClr val="E6EDF3"/>
                </a:solidFill>
                <a:latin typeface="Consolas"/>
              </a:rPr>
              <a:t> </a:t>
            </a:r>
          </a:p>
          <a:p>
            <a:pPr>
              <a:spcAft>
                <a:spcPts val="0"/>
              </a:spcAft>
            </a:pPr>
            <a:r>
              <a:rPr sz="1200">
                <a:solidFill>
                  <a:srgbClr val="E6EDF3"/>
                </a:solidFill>
                <a:latin typeface="Consolas"/>
              </a:rPr>
              <a:t>struct node{</a:t>
            </a:r>
          </a:p>
          <a:p>
            <a:pPr>
              <a:spcAft>
                <a:spcPts val="0"/>
              </a:spcAft>
            </a:pPr>
            <a:r>
              <a:rPr sz="1200">
                <a:solidFill>
                  <a:srgbClr val="E6EDF3"/>
                </a:solidFill>
                <a:latin typeface="Consolas"/>
              </a:rPr>
              <a:t>    int data;</a:t>
            </a:r>
          </a:p>
          <a:p>
            <a:pPr>
              <a:spcAft>
                <a:spcPts val="0"/>
              </a:spcAft>
            </a:pPr>
            <a:r>
              <a:rPr sz="1200">
                <a:solidFill>
                  <a:srgbClr val="E6EDF3"/>
                </a:solidFill>
                <a:latin typeface="Consolas"/>
              </a:rPr>
              <a:t>    struct node *next;</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struct LIST{</a:t>
            </a:r>
          </a:p>
          <a:p>
            <a:pPr>
              <a:spcAft>
                <a:spcPts val="0"/>
              </a:spcAft>
            </a:pPr>
            <a:r>
              <a:rPr sz="1200">
                <a:solidFill>
                  <a:srgbClr val="E6EDF3"/>
                </a:solidFill>
                <a:latin typeface="Consolas"/>
              </a:rPr>
              <a:t>    node *head;</a:t>
            </a:r>
          </a:p>
          <a:p>
            <a:pPr>
              <a:spcAft>
                <a:spcPts val="0"/>
              </a:spcAft>
            </a:pPr>
            <a:r>
              <a:rPr sz="1200">
                <a:solidFill>
                  <a:srgbClr val="E6EDF3"/>
                </a:solidFill>
                <a:latin typeface="Consolas"/>
              </a:rPr>
              <a:t>    node *tail;</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duyet(LIST l){</a:t>
            </a:r>
          </a:p>
          <a:p>
            <a:pPr>
              <a:spcAft>
                <a:spcPts val="0"/>
              </a:spcAft>
            </a:pPr>
            <a:r>
              <a:rPr sz="1200">
                <a:solidFill>
                  <a:srgbClr val="E6EDF3"/>
                </a:solidFill>
                <a:latin typeface="Consolas"/>
              </a:rPr>
              <a:t>    if(l.head == NULL){</a:t>
            </a:r>
          </a:p>
          <a:p>
            <a:pPr>
              <a:spcAft>
                <a:spcPts val="0"/>
              </a:spcAft>
            </a:pPr>
            <a:r>
              <a:rPr sz="1200">
                <a:solidFill>
                  <a:srgbClr val="E6EDF3"/>
                </a:solidFill>
                <a:latin typeface="Consolas"/>
              </a:rPr>
              <a:t>        cout &lt;&lt; "DSLK rong !\n";</a:t>
            </a:r>
          </a:p>
          <a:p>
            <a:pPr>
              <a:spcAft>
                <a:spcPts val="0"/>
              </a:spcAft>
            </a:pPr>
            <a:r>
              <a:rPr sz="1200">
                <a:solidFill>
                  <a:srgbClr val="E6EDF3"/>
                </a:solidFill>
                <a:latin typeface="Consolas"/>
              </a:rPr>
              <a:t>    }</a:t>
            </a:r>
          </a:p>
          <a:p>
            <a:pPr>
              <a:spcAft>
                <a:spcPts val="0"/>
              </a:spcAft>
            </a:pPr>
            <a:r>
              <a:rPr sz="1200">
                <a:solidFill>
                  <a:srgbClr val="E6EDF3"/>
                </a:solidFill>
                <a:latin typeface="Consolas"/>
              </a:rPr>
              <a:t>    else{</a:t>
            </a:r>
          </a:p>
          <a:p>
            <a:pPr>
              <a:spcAft>
                <a:spcPts val="0"/>
              </a:spcAft>
            </a:pPr>
            <a:r>
              <a:rPr sz="1200">
                <a:solidFill>
                  <a:srgbClr val="E6EDF3"/>
                </a:solidFill>
                <a:latin typeface="Consolas"/>
              </a:rPr>
              <a:t>        node *tmp = l.head;</a:t>
            </a:r>
          </a:p>
          <a:p>
            <a:pPr>
              <a:spcAft>
                <a:spcPts val="0"/>
              </a:spcAft>
            </a:pPr>
            <a:r>
              <a:rPr sz="1200">
                <a:solidFill>
                  <a:srgbClr val="E6EDF3"/>
                </a:solidFill>
                <a:latin typeface="Consolas"/>
              </a:rPr>
              <a:t>        while(tmp != NULL){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2/5)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cout &lt;&lt; tmp-&gt;data &lt;&lt; ' ';</a:t>
            </a:r>
          </a:p>
          <a:p>
            <a:pPr>
              <a:spcAft>
                <a:spcPts val="0"/>
              </a:spcAft>
            </a:pPr>
            <a:r>
              <a:rPr sz="1200">
                <a:solidFill>
                  <a:srgbClr val="E6EDF3"/>
                </a:solidFill>
                <a:latin typeface="Consolas"/>
              </a:rPr>
              <a:t>            tmp = tmp-&gt;next;</a:t>
            </a:r>
          </a:p>
          <a:p>
            <a:pPr>
              <a:spcAft>
                <a:spcPts val="0"/>
              </a:spcAft>
            </a:pPr>
            <a:r>
              <a:rPr sz="1200">
                <a:solidFill>
                  <a:srgbClr val="E6EDF3"/>
                </a:solidFill>
                <a:latin typeface="Consolas"/>
              </a:rPr>
              <a:t>        }</a:t>
            </a:r>
          </a:p>
          <a:p>
            <a:pPr>
              <a:spcAft>
                <a:spcPts val="0"/>
              </a:spcAft>
            </a:pPr>
            <a:r>
              <a:rPr sz="1200">
                <a:solidFill>
                  <a:srgbClr val="E6EDF3"/>
                </a:solidFill>
                <a:latin typeface="Consolas"/>
              </a:rPr>
              <a:t>    }</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int len(LIST l){</a:t>
            </a:r>
          </a:p>
          <a:p>
            <a:pPr>
              <a:spcAft>
                <a:spcPts val="0"/>
              </a:spcAft>
            </a:pPr>
            <a:r>
              <a:rPr sz="1200">
                <a:solidFill>
                  <a:srgbClr val="E6EDF3"/>
                </a:solidFill>
                <a:latin typeface="Consolas"/>
              </a:rPr>
              <a:t>    int dem = 0;</a:t>
            </a:r>
          </a:p>
          <a:p>
            <a:pPr>
              <a:spcAft>
                <a:spcPts val="0"/>
              </a:spcAft>
            </a:pPr>
            <a:r>
              <a:rPr sz="1200">
                <a:solidFill>
                  <a:srgbClr val="E6EDF3"/>
                </a:solidFill>
                <a:latin typeface="Consolas"/>
              </a:rPr>
              <a:t>    while(l.head != NULL){</a:t>
            </a:r>
          </a:p>
          <a:p>
            <a:pPr>
              <a:spcAft>
                <a:spcPts val="0"/>
              </a:spcAft>
            </a:pPr>
            <a:r>
              <a:rPr sz="1200">
                <a:solidFill>
                  <a:srgbClr val="E6EDF3"/>
                </a:solidFill>
                <a:latin typeface="Consolas"/>
              </a:rPr>
              <a:t>        ++dem; l.head = l.head-&gt;next;</a:t>
            </a:r>
          </a:p>
          <a:p>
            <a:pPr>
              <a:spcAft>
                <a:spcPts val="0"/>
              </a:spcAft>
            </a:pPr>
            <a:r>
              <a:rPr sz="1200">
                <a:solidFill>
                  <a:srgbClr val="E6EDF3"/>
                </a:solidFill>
                <a:latin typeface="Consolas"/>
              </a:rPr>
              <a:t>    }</a:t>
            </a:r>
          </a:p>
          <a:p>
            <a:pPr>
              <a:spcAft>
                <a:spcPts val="0"/>
              </a:spcAft>
            </a:pPr>
            <a:r>
              <a:rPr sz="1200">
                <a:solidFill>
                  <a:srgbClr val="E6EDF3"/>
                </a:solidFill>
                <a:latin typeface="Consolas"/>
              </a:rPr>
              <a:t>    return dem;</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themdau(LIST &amp;l, int x){</a:t>
            </a:r>
          </a:p>
          <a:p>
            <a:pPr>
              <a:spcAft>
                <a:spcPts val="0"/>
              </a:spcAft>
            </a:pPr>
            <a:r>
              <a:rPr sz="1200">
                <a:solidFill>
                  <a:srgbClr val="E6EDF3"/>
                </a:solidFill>
                <a:latin typeface="Consolas"/>
              </a:rPr>
              <a:t>    node *newNode = new node;</a:t>
            </a:r>
          </a:p>
          <a:p>
            <a:pPr>
              <a:spcAft>
                <a:spcPts val="0"/>
              </a:spcAft>
            </a:pPr>
            <a:r>
              <a:rPr sz="1200">
                <a:solidFill>
                  <a:srgbClr val="E6EDF3"/>
                </a:solidFill>
                <a:latin typeface="Consolas"/>
              </a:rPr>
              <a:t>    newNode-&gt;data = x;</a:t>
            </a:r>
          </a:p>
          <a:p>
            <a:pPr>
              <a:spcAft>
                <a:spcPts val="0"/>
              </a:spcAft>
            </a:pPr>
            <a:r>
              <a:rPr sz="1200">
                <a:solidFill>
                  <a:srgbClr val="E6EDF3"/>
                </a:solidFill>
                <a:latin typeface="Consolas"/>
              </a:rPr>
              <a:t>    newNode-&gt;next = NULL;</a:t>
            </a:r>
          </a:p>
          <a:p>
            <a:pPr>
              <a:spcAft>
                <a:spcPts val="0"/>
              </a:spcAft>
            </a:pPr>
            <a:r>
              <a:rPr sz="1200">
                <a:solidFill>
                  <a:srgbClr val="E6EDF3"/>
                </a:solidFill>
                <a:latin typeface="Consolas"/>
              </a:rPr>
              <a:t>    if(l.head == NULL){</a:t>
            </a:r>
          </a:p>
          <a:p>
            <a:pPr>
              <a:spcAft>
                <a:spcPts val="0"/>
              </a:spcAft>
            </a:pPr>
            <a:r>
              <a:rPr sz="1200">
                <a:solidFill>
                  <a:srgbClr val="E6EDF3"/>
                </a:solidFill>
                <a:latin typeface="Consolas"/>
              </a:rPr>
              <a:t>        l.tail = newNode;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3/5)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a:t>
            </a:r>
          </a:p>
          <a:p>
            <a:pPr>
              <a:spcAft>
                <a:spcPts val="0"/>
              </a:spcAft>
            </a:pPr>
            <a:r>
              <a:rPr sz="1200">
                <a:solidFill>
                  <a:srgbClr val="E6EDF3"/>
                </a:solidFill>
                <a:latin typeface="Consolas"/>
              </a:rPr>
              <a:t>    newNode-&gt;next = l.head;</a:t>
            </a:r>
          </a:p>
          <a:p>
            <a:pPr>
              <a:spcAft>
                <a:spcPts val="0"/>
              </a:spcAft>
            </a:pPr>
            <a:r>
              <a:rPr sz="1200">
                <a:solidFill>
                  <a:srgbClr val="E6EDF3"/>
                </a:solidFill>
                <a:latin typeface="Consolas"/>
              </a:rPr>
              <a:t>    l.head = newNode;</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xoadau(LIST &amp;l){</a:t>
            </a:r>
          </a:p>
          <a:p>
            <a:pPr>
              <a:spcAft>
                <a:spcPts val="0"/>
              </a:spcAft>
            </a:pPr>
            <a:r>
              <a:rPr sz="1200">
                <a:solidFill>
                  <a:srgbClr val="E6EDF3"/>
                </a:solidFill>
                <a:latin typeface="Consolas"/>
              </a:rPr>
              <a:t>    if(l.head == NULL) return;</a:t>
            </a:r>
          </a:p>
          <a:p>
            <a:pPr>
              <a:spcAft>
                <a:spcPts val="0"/>
              </a:spcAft>
            </a:pPr>
            <a:r>
              <a:rPr sz="1200">
                <a:solidFill>
                  <a:srgbClr val="E6EDF3"/>
                </a:solidFill>
                <a:latin typeface="Consolas"/>
              </a:rPr>
              <a:t>    node *delNode = l.head;</a:t>
            </a:r>
          </a:p>
          <a:p>
            <a:pPr>
              <a:spcAft>
                <a:spcPts val="0"/>
              </a:spcAft>
            </a:pPr>
            <a:r>
              <a:rPr sz="1200">
                <a:solidFill>
                  <a:srgbClr val="E6EDF3"/>
                </a:solidFill>
                <a:latin typeface="Consolas"/>
              </a:rPr>
              <a:t>    l.head = l.head-&gt;next;</a:t>
            </a:r>
          </a:p>
          <a:p>
            <a:pPr>
              <a:spcAft>
                <a:spcPts val="0"/>
              </a:spcAft>
            </a:pPr>
            <a:r>
              <a:rPr sz="1200">
                <a:solidFill>
                  <a:srgbClr val="E6EDF3"/>
                </a:solidFill>
                <a:latin typeface="Consolas"/>
              </a:rPr>
              <a:t>    if(l.head == NULL) </a:t>
            </a:r>
          </a:p>
          <a:p>
            <a:pPr>
              <a:spcAft>
                <a:spcPts val="0"/>
              </a:spcAft>
            </a:pPr>
            <a:r>
              <a:rPr sz="1200">
                <a:solidFill>
                  <a:srgbClr val="E6EDF3"/>
                </a:solidFill>
                <a:latin typeface="Consolas"/>
              </a:rPr>
              <a:t>        l.tail = NULL;</a:t>
            </a:r>
          </a:p>
          <a:p>
            <a:pPr>
              <a:spcAft>
                <a:spcPts val="0"/>
              </a:spcAft>
            </a:pPr>
            <a:r>
              <a:rPr sz="1200">
                <a:solidFill>
                  <a:srgbClr val="E6EDF3"/>
                </a:solidFill>
                <a:latin typeface="Consolas"/>
              </a:rPr>
              <a:t>    delete delNode;</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void xoagiua(LIST &amp;l, int k){</a:t>
            </a:r>
          </a:p>
          <a:p>
            <a:pPr>
              <a:spcAft>
                <a:spcPts val="0"/>
              </a:spcAft>
            </a:pPr>
            <a:r>
              <a:rPr sz="1200">
                <a:solidFill>
                  <a:srgbClr val="E6EDF3"/>
                </a:solidFill>
                <a:latin typeface="Consolas"/>
              </a:rPr>
              <a:t>    if(k &lt; 1 || k &gt; len(l)) return; // vi tri xoa ko hop le</a:t>
            </a:r>
          </a:p>
          <a:p>
            <a:pPr>
              <a:spcAft>
                <a:spcPts val="0"/>
              </a:spcAft>
            </a:pPr>
            <a:r>
              <a:rPr sz="1200">
                <a:solidFill>
                  <a:srgbClr val="E6EDF3"/>
                </a:solidFill>
                <a:latin typeface="Consolas"/>
              </a:rPr>
              <a:t>    if(k == 1){</a:t>
            </a:r>
          </a:p>
          <a:p>
            <a:pPr>
              <a:spcAft>
                <a:spcPts val="0"/>
              </a:spcAft>
            </a:pPr>
            <a:r>
              <a:rPr sz="1200">
                <a:solidFill>
                  <a:srgbClr val="E6EDF3"/>
                </a:solidFill>
                <a:latin typeface="Consolas"/>
              </a:rPr>
              <a:t>        xoadau(l);</a:t>
            </a:r>
          </a:p>
          <a:p>
            <a:pPr>
              <a:spcAft>
                <a:spcPts val="0"/>
              </a:spcAft>
            </a:pPr>
            <a:r>
              <a:rPr sz="1200">
                <a:solidFill>
                  <a:srgbClr val="E6EDF3"/>
                </a:solidFill>
                <a:latin typeface="Consolas"/>
              </a:rPr>
              <a:t>    }</a:t>
            </a:r>
          </a:p>
          <a:p>
            <a:pPr>
              <a:spcAft>
                <a:spcPts val="0"/>
              </a:spcAft>
            </a:pPr>
            <a:r>
              <a:rPr sz="1200">
                <a:solidFill>
                  <a:srgbClr val="E6EDF3"/>
                </a:solidFill>
                <a:latin typeface="Consolas"/>
              </a:rPr>
              <a:t>    else{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4/5)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473047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4474444"/>
          </a:xfrm>
          <a:prstGeom prst="rect">
            <a:avLst/>
          </a:prstGeom>
          <a:noFill/>
        </p:spPr>
        <p:txBody>
          <a:bodyPr wrap="none">
            <a:spAutoFit/>
          </a:bodyPr>
          <a:lstStyle/>
          <a:p>
            <a:pPr>
              <a:spcAft>
                <a:spcPts val="0"/>
              </a:spcAft>
            </a:pPr>
            <a:r>
              <a:rPr sz="1200">
                <a:solidFill>
                  <a:srgbClr val="E6EDF3"/>
                </a:solidFill>
                <a:latin typeface="Consolas"/>
              </a:rPr>
              <a:t>        node *tmp = l.head;</a:t>
            </a:r>
          </a:p>
          <a:p>
            <a:pPr>
              <a:spcAft>
                <a:spcPts val="0"/>
              </a:spcAft>
            </a:pPr>
            <a:r>
              <a:rPr sz="1200">
                <a:solidFill>
                  <a:srgbClr val="E6EDF3"/>
                </a:solidFill>
                <a:latin typeface="Consolas"/>
              </a:rPr>
              <a:t>        //Duyet den node k - 1</a:t>
            </a:r>
          </a:p>
          <a:p>
            <a:pPr>
              <a:spcAft>
                <a:spcPts val="0"/>
              </a:spcAft>
            </a:pPr>
            <a:r>
              <a:rPr sz="1200">
                <a:solidFill>
                  <a:srgbClr val="E6EDF3"/>
                </a:solidFill>
                <a:latin typeface="Consolas"/>
              </a:rPr>
              <a:t>        for(int i = 1; i &lt;= k - 2; i++){</a:t>
            </a:r>
          </a:p>
          <a:p>
            <a:pPr>
              <a:spcAft>
                <a:spcPts val="0"/>
              </a:spcAft>
            </a:pPr>
            <a:r>
              <a:rPr sz="1200">
                <a:solidFill>
                  <a:srgbClr val="E6EDF3"/>
                </a:solidFill>
                <a:latin typeface="Consolas"/>
              </a:rPr>
              <a:t>            tmp = tmp-&gt;next;</a:t>
            </a:r>
          </a:p>
          <a:p>
            <a:pPr>
              <a:spcAft>
                <a:spcPts val="0"/>
              </a:spcAft>
            </a:pPr>
            <a:r>
              <a:rPr sz="1200">
                <a:solidFill>
                  <a:srgbClr val="E6EDF3"/>
                </a:solidFill>
                <a:latin typeface="Consolas"/>
              </a:rPr>
              <a:t>        }</a:t>
            </a:r>
          </a:p>
          <a:p>
            <a:pPr>
              <a:spcAft>
                <a:spcPts val="0"/>
              </a:spcAft>
            </a:pPr>
            <a:r>
              <a:rPr sz="1200">
                <a:solidFill>
                  <a:srgbClr val="E6EDF3"/>
                </a:solidFill>
                <a:latin typeface="Consolas"/>
              </a:rPr>
              <a:t>        //Luu lai node thu k</a:t>
            </a:r>
          </a:p>
          <a:p>
            <a:pPr>
              <a:spcAft>
                <a:spcPts val="0"/>
              </a:spcAft>
            </a:pPr>
            <a:r>
              <a:rPr sz="1200">
                <a:solidFill>
                  <a:srgbClr val="E6EDF3"/>
                </a:solidFill>
                <a:latin typeface="Consolas"/>
              </a:rPr>
              <a:t>        node *delNode = tmp-&gt;next;</a:t>
            </a:r>
          </a:p>
          <a:p>
            <a:pPr>
              <a:spcAft>
                <a:spcPts val="0"/>
              </a:spcAft>
            </a:pPr>
            <a:r>
              <a:rPr sz="1200">
                <a:solidFill>
                  <a:srgbClr val="E6EDF3"/>
                </a:solidFill>
                <a:latin typeface="Consolas"/>
              </a:rPr>
              <a:t>        //Cho k - 1 =&gt; tro vao k + 1</a:t>
            </a:r>
          </a:p>
          <a:p>
            <a:pPr>
              <a:spcAft>
                <a:spcPts val="0"/>
              </a:spcAft>
            </a:pPr>
            <a:r>
              <a:rPr sz="1200">
                <a:solidFill>
                  <a:srgbClr val="E6EDF3"/>
                </a:solidFill>
                <a:latin typeface="Consolas"/>
              </a:rPr>
              <a:t>        tmp-&gt;next = delNode-&gt;next;</a:t>
            </a:r>
          </a:p>
          <a:p>
            <a:pPr>
              <a:spcAft>
                <a:spcPts val="0"/>
              </a:spcAft>
            </a:pPr>
            <a:r>
              <a:rPr sz="1200">
                <a:solidFill>
                  <a:srgbClr val="E6EDF3"/>
                </a:solidFill>
                <a:latin typeface="Consolas"/>
              </a:rPr>
              <a:t>        if(tmp-&gt;next == NULL)</a:t>
            </a:r>
          </a:p>
          <a:p>
            <a:pPr>
              <a:spcAft>
                <a:spcPts val="0"/>
              </a:spcAft>
            </a:pPr>
            <a:r>
              <a:rPr sz="1200">
                <a:solidFill>
                  <a:srgbClr val="E6EDF3"/>
                </a:solidFill>
                <a:latin typeface="Consolas"/>
              </a:rPr>
              <a:t>            l.tail = tmp;</a:t>
            </a:r>
          </a:p>
          <a:p>
            <a:pPr>
              <a:spcAft>
                <a:spcPts val="0"/>
              </a:spcAft>
            </a:pPr>
            <a:r>
              <a:rPr sz="1200">
                <a:solidFill>
                  <a:srgbClr val="E6EDF3"/>
                </a:solidFill>
                <a:latin typeface="Consolas"/>
              </a:rPr>
              <a:t>        //Giai phong node thu k</a:t>
            </a:r>
          </a:p>
          <a:p>
            <a:pPr>
              <a:spcAft>
                <a:spcPts val="0"/>
              </a:spcAft>
            </a:pPr>
            <a:r>
              <a:rPr sz="1200">
                <a:solidFill>
                  <a:srgbClr val="E6EDF3"/>
                </a:solidFill>
                <a:latin typeface="Consolas"/>
              </a:rPr>
              <a:t>        delete delNode;</a:t>
            </a:r>
          </a:p>
          <a:p>
            <a:pPr>
              <a:spcAft>
                <a:spcPts val="0"/>
              </a:spcAft>
            </a:pPr>
            <a:r>
              <a:rPr sz="1200">
                <a:solidFill>
                  <a:srgbClr val="E6EDF3"/>
                </a:solidFill>
                <a:latin typeface="Consolas"/>
              </a:rPr>
              <a:t>    }</a:t>
            </a:r>
          </a:p>
          <a:p>
            <a:pPr>
              <a:spcAft>
                <a:spcPts val="0"/>
              </a:spcAft>
            </a:pPr>
            <a:r>
              <a:rPr sz="1200">
                <a:solidFill>
                  <a:srgbClr val="E6EDF3"/>
                </a:solidFill>
                <a:latin typeface="Consolas"/>
              </a:rPr>
              <a:t>}</a:t>
            </a:r>
          </a:p>
          <a:p>
            <a:pPr>
              <a:spcAft>
                <a:spcPts val="0"/>
              </a:spcAft>
            </a:pPr>
            <a:r>
              <a:rPr sz="1200">
                <a:solidFill>
                  <a:srgbClr val="E6EDF3"/>
                </a:solidFill>
                <a:latin typeface="Consolas"/>
              </a:rPr>
              <a:t> </a:t>
            </a:r>
          </a:p>
          <a:p>
            <a:pPr>
              <a:spcAft>
                <a:spcPts val="0"/>
              </a:spcAft>
            </a:pPr>
            <a:r>
              <a:rPr sz="1200">
                <a:solidFill>
                  <a:srgbClr val="E6EDF3"/>
                </a:solidFill>
                <a:latin typeface="Consolas"/>
              </a:rPr>
              <a:t>int main(){</a:t>
            </a:r>
          </a:p>
          <a:p>
            <a:pPr>
              <a:spcAft>
                <a:spcPts val="0"/>
              </a:spcAft>
            </a:pPr>
            <a:r>
              <a:rPr sz="1200">
                <a:solidFill>
                  <a:srgbClr val="E6EDF3"/>
                </a:solidFill>
                <a:latin typeface="Consolas"/>
              </a:rPr>
              <a:t>    LIST l;</a:t>
            </a:r>
          </a:p>
          <a:p>
            <a:pPr>
              <a:spcAft>
                <a:spcPts val="0"/>
              </a:spcAft>
            </a:pPr>
            <a:r>
              <a:rPr sz="1200">
                <a:solidFill>
                  <a:srgbClr val="E6EDF3"/>
                </a:solidFill>
                <a:latin typeface="Consolas"/>
              </a:rPr>
              <a:t>    l.head = NULL; l.tail = NULL;</a:t>
            </a:r>
          </a:p>
          <a:p>
            <a:pPr>
              <a:spcAft>
                <a:spcPts val="0"/>
              </a:spcAft>
            </a:pPr>
            <a:r>
              <a:rPr sz="1200">
                <a:solidFill>
                  <a:srgbClr val="E6EDF3"/>
                </a:solidFill>
                <a:latin typeface="Consolas"/>
              </a:rPr>
              <a:t>    for(int i = 1; i &lt;= 10; 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 5/5)</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211556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1859534"/>
          </a:xfrm>
          <a:prstGeom prst="rect">
            <a:avLst/>
          </a:prstGeom>
          <a:noFill/>
        </p:spPr>
        <p:txBody>
          <a:bodyPr wrap="none">
            <a:spAutoFit/>
          </a:bodyPr>
          <a:lstStyle/>
          <a:p>
            <a:pPr>
              <a:spcAft>
                <a:spcPts val="0"/>
              </a:spcAft>
            </a:pPr>
            <a:r>
              <a:rPr sz="1400">
                <a:solidFill>
                  <a:srgbClr val="E6EDF3"/>
                </a:solidFill>
                <a:latin typeface="Consolas"/>
              </a:rPr>
              <a:t>        themdau(l, i);</a:t>
            </a:r>
          </a:p>
          <a:p>
            <a:pPr>
              <a:spcAft>
                <a:spcPts val="0"/>
              </a:spcAft>
            </a:pPr>
            <a:r>
              <a:rPr sz="1400">
                <a:solidFill>
                  <a:srgbClr val="E6EDF3"/>
                </a:solidFill>
                <a:latin typeface="Consolas"/>
              </a:rPr>
              <a:t>    }</a:t>
            </a:r>
          </a:p>
          <a:p>
            <a:pPr>
              <a:spcAft>
                <a:spcPts val="0"/>
              </a:spcAft>
            </a:pPr>
            <a:r>
              <a:rPr sz="1400">
                <a:solidFill>
                  <a:srgbClr val="E6EDF3"/>
                </a:solidFill>
                <a:latin typeface="Consolas"/>
              </a:rPr>
              <a:t>    duyet(l);</a:t>
            </a:r>
          </a:p>
          <a:p>
            <a:pPr>
              <a:spcAft>
                <a:spcPts val="0"/>
              </a:spcAft>
            </a:pPr>
            <a:r>
              <a:rPr sz="1400">
                <a:solidFill>
                  <a:srgbClr val="E6EDF3"/>
                </a:solidFill>
                <a:latin typeface="Consolas"/>
              </a:rPr>
              <a:t>    cout &lt;&lt; endl;</a:t>
            </a:r>
          </a:p>
          <a:p>
            <a:pPr>
              <a:spcAft>
                <a:spcPts val="0"/>
              </a:spcAft>
            </a:pPr>
            <a:r>
              <a:rPr sz="1400">
                <a:solidFill>
                  <a:srgbClr val="E6EDF3"/>
                </a:solidFill>
                <a:latin typeface="Consolas"/>
              </a:rPr>
              <a:t>    xoagiua(l, 3);</a:t>
            </a:r>
          </a:p>
          <a:p>
            <a:pPr>
              <a:spcAft>
                <a:spcPts val="0"/>
              </a:spcAft>
            </a:pPr>
            <a:r>
              <a:rPr sz="1400">
                <a:solidFill>
                  <a:srgbClr val="E6EDF3"/>
                </a:solidFill>
                <a:latin typeface="Consolas"/>
              </a:rPr>
              <a:t>    duyet(l);</a:t>
            </a:r>
          </a:p>
          <a:p>
            <a:pPr>
              <a:spcAft>
                <a:spcPts val="0"/>
              </a:spcAft>
            </a:pPr>
            <a:r>
              <a:rPr sz="1400">
                <a:solidFill>
                  <a:srgbClr val="E6EDF3"/>
                </a:solidFill>
                <a:latin typeface="Consolas"/>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 (tiếp)</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sz="1700">
                <a:solidFill>
                  <a:srgbClr val="1F2A37"/>
                </a:solidFill>
                <a:latin typeface="Calibri"/>
              </a:rPr>
              <a:t>Output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2. Xóa node giữa trong DSLK đôi quản lý bởi node head và tail</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Rectangle 5"/>
          <p:cNvSpPr/>
          <p:nvPr/>
        </p:nvSpPr>
        <p:spPr>
          <a:xfrm>
            <a:off x="685800" y="1371600"/>
            <a:ext cx="10817352" cy="82651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99616"/>
            <a:ext cx="10415016" cy="570484"/>
          </a:xfrm>
          <a:prstGeom prst="rect">
            <a:avLst/>
          </a:prstGeom>
          <a:noFill/>
        </p:spPr>
        <p:txBody>
          <a:bodyPr wrap="none">
            <a:spAutoFit/>
          </a:bodyPr>
          <a:lstStyle/>
          <a:p>
            <a:pPr>
              <a:spcAft>
                <a:spcPts val="0"/>
              </a:spcAft>
            </a:pPr>
            <a:r>
              <a:rPr sz="1400">
                <a:solidFill>
                  <a:srgbClr val="E6EDF3"/>
                </a:solidFill>
                <a:latin typeface="Consolas"/>
              </a:rPr>
              <a:t>10 9 8 7 6 5 4 3 2 1 </a:t>
            </a:r>
          </a:p>
          <a:p>
            <a:pPr>
              <a:spcAft>
                <a:spcPts val="0"/>
              </a:spcAft>
            </a:pPr>
            <a:r>
              <a:rPr sz="1400">
                <a:solidFill>
                  <a:srgbClr val="E6EDF3"/>
                </a:solidFill>
                <a:latin typeface="Consolas"/>
              </a:rPr>
              <a:t>10 9 7 6 5 4 3 2 1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66928"/>
            <a:ext cx="82296" cy="475488"/>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3544" y="457200"/>
            <a:ext cx="10515600" cy="731520"/>
          </a:xfrm>
          <a:prstGeom prst="rect">
            <a:avLst/>
          </a:prstGeom>
          <a:noFill/>
        </p:spPr>
        <p:txBody>
          <a:bodyPr wrap="square">
            <a:spAutoFit/>
          </a:bodyPr>
          <a:lstStyle/>
          <a:p>
            <a:r>
              <a:rPr sz="2600" b="1">
                <a:solidFill>
                  <a:srgbClr val="142B45"/>
                </a:solidFill>
                <a:latin typeface="Calibri"/>
              </a:rPr>
              <a:t>[DSLK Đôi]. Xóa Node Giữa Trong DSLK Đôi</a:t>
            </a:r>
          </a:p>
        </p:txBody>
      </p:sp>
      <p:sp>
        <p:nvSpPr>
          <p:cNvPr id="5" name="TextBox 4"/>
          <p:cNvSpPr txBox="1"/>
          <p:nvPr/>
        </p:nvSpPr>
        <p:spPr>
          <a:xfrm>
            <a:off x="685800" y="128016"/>
            <a:ext cx="10515600" cy="274320"/>
          </a:xfrm>
          <a:prstGeom prst="rect">
            <a:avLst/>
          </a:prstGeom>
          <a:noFill/>
        </p:spPr>
        <p:txBody>
          <a:bodyPr wrap="none">
            <a:spAutoFit/>
          </a:bodyPr>
          <a:lstStyle/>
          <a:p>
            <a:r>
              <a:rPr sz="1100">
                <a:solidFill>
                  <a:srgbClr val="6B7280"/>
                </a:solidFill>
                <a:latin typeface="Calibri"/>
              </a:rPr>
              <a:t>[DSLK Đôi]. Xóa Node Giữa Trong DSLK Đôi</a:t>
            </a:r>
          </a:p>
        </p:txBody>
      </p:sp>
      <p:sp>
        <p:nvSpPr>
          <p:cNvPr id="6" name="TextBox 5"/>
          <p:cNvSpPr txBox="1"/>
          <p:nvPr/>
        </p:nvSpPr>
        <p:spPr>
          <a:xfrm>
            <a:off x="685800" y="1371600"/>
            <a:ext cx="10817352" cy="4937760"/>
          </a:xfrm>
          <a:prstGeom prst="rect">
            <a:avLst/>
          </a:prstGeom>
          <a:noFill/>
        </p:spPr>
        <p:txBody>
          <a:bodyPr wrap="square">
            <a:spAutoFit/>
          </a:bodyPr>
          <a:lstStyle/>
          <a:p>
            <a:pPr>
              <a:spcAft>
                <a:spcPts val="1000"/>
              </a:spcAft>
            </a:pPr>
            <a:r>
              <a:rPr b="1" sz="1700">
                <a:solidFill>
                  <a:srgbClr val="1F2A37"/>
                </a:solidFill>
                <a:latin typeface="Calibri"/>
              </a:rPr>
              <a:t>Video Xóa Node Giữa Trong DSLK Đơn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