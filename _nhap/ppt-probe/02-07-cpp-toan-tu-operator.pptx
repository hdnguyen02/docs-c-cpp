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Toán Tử - Operator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 · 28Tech</a:t>
            </a:r>
          </a:p>
          <a:p>
            <a:pPr>
              <a:spcBef>
                <a:spcPts val="2600"/>
              </a:spcBef>
            </a:pPr>
            <a:r>
              <a:rPr sz="1100" b="0">
                <a:solidFill>
                  <a:srgbClr val="929FB2"/>
                </a:solidFill>
                <a:latin typeface="Calibri"/>
              </a:rPr>
              <a:t>https://blog.28tech.com.vn/cpp-toan-tu-operator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gán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 </a:t>
            </a:r>
            <a:r>
              <a:rPr sz="1900" b="0">
                <a:solidFill>
                  <a:srgbClr val="3598DB"/>
                </a:solidFill>
                <a:latin typeface="Consolas"/>
              </a:rPr>
              <a:t>X = Y</a:t>
            </a:r>
            <a:r>
              <a:rPr sz="2000" b="0">
                <a:solidFill>
                  <a:srgbClr val="222B38"/>
                </a:solidFill>
                <a:latin typeface="Calibri"/>
              </a:rPr>
              <a:t>: gán giá trị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Y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Gán chỉ copy giá trị tại thời điểm gán, không liên kết 2 biến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 = n;      // m =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 =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 = 56;         // p doi thanh 56, m van la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toán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 - * / %</a:t>
            </a:r>
            <a:r>
              <a:rPr sz="2000" b="0">
                <a:solidFill>
                  <a:srgbClr val="222B38"/>
                </a:solidFill>
                <a:latin typeface="Calibri"/>
              </a:rPr>
              <a:t>: cộng, trừ, nhân, chia, chia dư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Ưu tiên: nhân/chia/dư trước, cộng/trừ sau, trái qua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ngoặc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đảm bảo thứ tự tính đúng mong muốn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n1 = 100 + 200;  // 300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n2 = 200 - 100;  //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n3 = 28 * 2;     // 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n4 = 50 / 2;     // 25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n5 = 20 % 3;     //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+= -= *= /= %= : ket hop gan voi toan hoc, vd a += b tuong duong a = a +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chu vi, diện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dai,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dai &gt;&gt;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chuvi = 2 * (dai + rong);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dientich = dai *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cv = 2 * 3.14 *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dt = 3.14 * R *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fixed &lt;&lt; setprecision(2) &lt;&lt; cv &lt;&lt; " " &lt;&lt; dt;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ý: chia nguyên và chia thập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nguyên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chia nhau → phần thập phân </a:t>
            </a:r>
            <a:r>
              <a:rPr sz="2000" b="1">
                <a:solidFill>
                  <a:srgbClr val="222B38"/>
                </a:solidFill>
                <a:latin typeface="Calibri"/>
              </a:rPr>
              <a:t>bị loại bỏ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ít nhất 1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thực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kết quả mới giữ phần thập phân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ép: </a:t>
            </a:r>
            <a:r>
              <a:rPr sz="1900" b="0">
                <a:solidFill>
                  <a:srgbClr val="3598DB"/>
                </a:solidFill>
                <a:latin typeface="Consolas"/>
              </a:rPr>
              <a:t>(float)a / b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nhân </a:t>
            </a:r>
            <a:r>
              <a:rPr sz="1900" b="0">
                <a:solidFill>
                  <a:srgbClr val="3598DB"/>
                </a:solidFill>
                <a:latin typeface="Consolas"/>
              </a:rPr>
              <a:t>1.0 * a / b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10, b = 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thuong1 = a / b;          // 3 (chia nguyen truoc)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thuong2 = a / b;        // 3.00 (van la 3 roi moi ep kieu)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thuong3 = (float)a / b; // 3.33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thuong4 = 1.0 * a / b;  // 3.33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ý: tràn số khi nhân 2 số 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nhân nhau 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vượt giới hạn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Khắc phục: ép 1 trong 2 số sang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khi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1000000, b = 1000000;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tich1 = a * b;             // -727379968 (tran so)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tich2 = (long long)a * b;  // 1000000000000 (dung)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tich3 = 1ll * a * b;       // 1000000000000 (dung)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so sánh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 &gt;= &lt; &lt;= != ==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đúng (true)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sai (false)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để kiểm tra điều kiện trong chương trình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(10 &gt; 50);   // false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(20 &lt;= 30);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(10 == 10);  //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 (AND): đúng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</a:t>
            </a:r>
            <a:r>
              <a:rPr sz="1800" b="0">
                <a:solidFill>
                  <a:srgbClr val="222B38"/>
                </a:solidFill>
                <a:latin typeface="Calibri"/>
              </a:rPr>
              <a:t> toán hạng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||</a:t>
            </a:r>
            <a:r>
              <a:rPr sz="1800" b="0">
                <a:solidFill>
                  <a:srgbClr val="222B38"/>
                </a:solidFill>
                <a:latin typeface="Calibri"/>
              </a:rPr>
              <a:t> (OR): sai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</a:t>
            </a:r>
            <a:r>
              <a:rPr sz="1800" b="0">
                <a:solidFill>
                  <a:srgbClr val="222B38"/>
                </a:solidFill>
                <a:latin typeface="Calibri"/>
              </a:rPr>
              <a:t> toán hạng sai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!</a:t>
            </a:r>
            <a:r>
              <a:rPr sz="1800" b="0">
                <a:solidFill>
                  <a:srgbClr val="222B38"/>
                </a:solidFill>
                <a:latin typeface="Calibri"/>
              </a:rPr>
              <a:t> (NOT): phủ định đúng thành sai và ngược lại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Trong C++, mọi giá trị khác 0 được coi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res1 = (10 &lt; 20) &amp;&amp; (20 &gt;= 20);         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res3 = (10 &gt; 20) || (20 &lt; 10) || (5 == 5);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res4 = !(10 &lt; 20);                          //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tăng giảm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++a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tăng 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mới ngay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a++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tăng sau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cũ rồi mới tăng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Tương tự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--a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a--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n++ &lt;&lt; endl;  // in 100, sau do n = 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 &lt;&lt; endl;    // 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++n &lt;&lt; endl;  // tang truoc thanh 102, in 102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 &lt;&lt; endl;    //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điều kiện (3 ngôi)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[điều_kiện] ? [giá_trị_1] : [giá_trị_2]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Điều kiện đúng →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giá_trị_1</a:t>
            </a:r>
            <a:r>
              <a:rPr sz="2000" b="0">
                <a:solidFill>
                  <a:srgbClr val="222B38"/>
                </a:solidFill>
                <a:latin typeface="Calibri"/>
              </a:rPr>
              <a:t>, sai →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giá_trị_2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 &lt; 20 ? 28 : 82;   // 28, vi 10 &lt; 20 dung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 = (50 &lt; 50) &amp;&amp; (10 &gt; 3) ? 28 : 82;  // 82, vi dieu kien sai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Ưu tiên toán tử: </a:t>
            </a:r>
            <a:r>
              <a:rPr sz="1614" b="0">
                <a:solidFill>
                  <a:srgbClr val="3598DB"/>
                </a:solidFill>
                <a:latin typeface="Consolas"/>
              </a:rPr>
              <a:t>()</a:t>
            </a:r>
            <a:r>
              <a:rPr sz="1700" b="0">
                <a:solidFill>
                  <a:srgbClr val="222B38"/>
                </a:solidFill>
                <a:latin typeface="Calibri"/>
              </a:rPr>
              <a:t> &gt; </a:t>
            </a:r>
            <a:r>
              <a:rPr sz="1614" b="0">
                <a:solidFill>
                  <a:srgbClr val="3598DB"/>
                </a:solidFill>
                <a:latin typeface="Consolas"/>
              </a:rPr>
              <a:t>* / %</a:t>
            </a:r>
            <a:r>
              <a:rPr sz="1700" b="0">
                <a:solidFill>
                  <a:srgbClr val="222B38"/>
                </a:solidFill>
                <a:latin typeface="Calibri"/>
              </a:rPr>
              <a:t> &gt; </a:t>
            </a:r>
            <a:r>
              <a:rPr sz="1614" b="0">
                <a:solidFill>
                  <a:srgbClr val="3598DB"/>
                </a:solidFill>
                <a:latin typeface="Consolas"/>
              </a:rPr>
              <a:t>+ -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Chia 2 số nguyên bị mất phần thập phân, cần ép kiểu để giữ lại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Nhân 2 số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 lớn dễ </a:t>
            </a:r>
            <a:r>
              <a:rPr sz="1700" b="1">
                <a:solidFill>
                  <a:srgbClr val="222B38"/>
                </a:solidFill>
                <a:latin typeface="Calibri"/>
              </a:rPr>
              <a:t>tràn số</a:t>
            </a:r>
            <a:r>
              <a:rPr sz="1700" b="0">
                <a:solidFill>
                  <a:srgbClr val="222B38"/>
                </a:solidFill>
                <a:latin typeface="Calibri"/>
              </a:rPr>
              <a:t>, ép sang </a:t>
            </a:r>
            <a:r>
              <a:rPr sz="1614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||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!</a:t>
            </a:r>
            <a:r>
              <a:rPr sz="1700" b="0">
                <a:solidFill>
                  <a:srgbClr val="222B38"/>
                </a:solidFill>
                <a:latin typeface="Calibri"/>
              </a:rPr>
              <a:t> xử lý logic, mọi giá trị khác 0 là đúng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a++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giá trị trước rồi mới tăng, </a:t>
            </a:r>
            <a:r>
              <a:rPr sz="1614" b="0">
                <a:solidFill>
                  <a:srgbClr val="3598DB"/>
                </a:solidFill>
                <a:latin typeface="Consolas"/>
              </a:rPr>
              <a:t>++a</a:t>
            </a:r>
            <a:r>
              <a:rPr sz="1700" b="0">
                <a:solidFill>
                  <a:srgbClr val="222B38"/>
                </a:solidFill>
                <a:latin typeface="Calibri"/>
              </a:rPr>
              <a:t> tăng rồi mới dùng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