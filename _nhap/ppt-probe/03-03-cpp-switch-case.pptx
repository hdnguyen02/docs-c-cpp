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Switch Case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 · 28Tech</a:t>
            </a:r>
          </a:p>
          <a:p>
            <a:pPr>
              <a:spcBef>
                <a:spcPts val="2600"/>
              </a:spcBef>
            </a:pPr>
            <a:r>
              <a:rPr sz="1100" b="0">
                <a:solidFill>
                  <a:srgbClr val="929FB2"/>
                </a:solidFill>
                <a:latin typeface="Calibri"/>
              </a:rPr>
              <a:t>https://blog.28tech.com.vn/cpp-switch-case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Switch case giải quyết vấn đề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Switch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Cách khác để kiểm tra </a:t>
            </a:r>
            <a:r>
              <a:rPr sz="2000" b="1">
                <a:solidFill>
                  <a:srgbClr val="222B38"/>
                </a:solidFill>
                <a:latin typeface="Calibri"/>
              </a:rPr>
              <a:t>nhiều giá trị</a:t>
            </a:r>
            <a:r>
              <a:rPr sz="2000" b="0">
                <a:solidFill>
                  <a:srgbClr val="222B38"/>
                </a:solidFill>
                <a:latin typeface="Calibri"/>
              </a:rPr>
              <a:t> của 1 biến, gọn hơn </a:t>
            </a:r>
            <a:r>
              <a:rPr sz="1900" b="0">
                <a:solidFill>
                  <a:srgbClr val="3598DB"/>
                </a:solidFill>
                <a:latin typeface="Consolas"/>
              </a:rPr>
              <a:t>else if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So sánh </a:t>
            </a:r>
            <a:r>
              <a:rPr sz="1900" b="0">
                <a:solidFill>
                  <a:srgbClr val="3598DB"/>
                </a:solidFill>
                <a:latin typeface="Consolas"/>
              </a:rPr>
              <a:t>value</a:t>
            </a:r>
            <a:r>
              <a:rPr sz="2000" b="0">
                <a:solidFill>
                  <a:srgbClr val="222B38"/>
                </a:solidFill>
                <a:latin typeface="Calibri"/>
              </a:rPr>
              <a:t> lần lượt với từng </a:t>
            </a:r>
            <a:r>
              <a:rPr sz="1900" b="0">
                <a:solidFill>
                  <a:srgbClr val="3598DB"/>
                </a:solidFill>
                <a:latin typeface="Consolas"/>
              </a:rPr>
              <a:t>case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Không khớp </a:t>
            </a:r>
            <a:r>
              <a:rPr sz="1900" b="0">
                <a:solidFill>
                  <a:srgbClr val="3598DB"/>
                </a:solidFill>
                <a:latin typeface="Consolas"/>
              </a:rPr>
              <a:t>case</a:t>
            </a:r>
            <a:r>
              <a:rPr sz="2000" b="0">
                <a:solidFill>
                  <a:srgbClr val="222B38"/>
                </a:solidFill>
                <a:latin typeface="Calibri"/>
              </a:rPr>
              <a:t> nào thì chạy </a:t>
            </a:r>
            <a:r>
              <a:rPr sz="1900" b="0">
                <a:solidFill>
                  <a:srgbClr val="3598DB"/>
                </a:solidFill>
                <a:latin typeface="Consolas"/>
              </a:rPr>
              <a:t>default</a:t>
            </a:r>
            <a:r>
              <a:rPr sz="2000" b="0">
                <a:solidFill>
                  <a:srgbClr val="222B38"/>
                </a:solidFill>
                <a:latin typeface="Calibri"/>
              </a:rPr>
              <a:t> (tương tự </a:t>
            </a:r>
            <a:r>
              <a:rPr sz="1900" b="0">
                <a:solidFill>
                  <a:srgbClr val="3598DB"/>
                </a:solidFill>
                <a:latin typeface="Consolas"/>
              </a:rPr>
              <a:t>else</a:t>
            </a:r>
            <a:r>
              <a:rPr sz="2000" b="0">
                <a:solidFill>
                  <a:srgbClr val="222B38"/>
                </a:solidFill>
                <a:latin typeface="Calibri"/>
              </a:rPr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Cú pháp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Switch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049221"/>
            <a:ext cx="10765231" cy="325120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5525"/>
            <a:ext cx="10362895" cy="2958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switch(value){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case c1: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// code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break;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case c2: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// code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break;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default: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// code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Luồng chạy và lưu ý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Switch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Khớp </a:t>
            </a:r>
            <a:r>
              <a:rPr sz="1709" b="0">
                <a:solidFill>
                  <a:srgbClr val="3598DB"/>
                </a:solidFill>
                <a:latin typeface="Consolas"/>
              </a:rPr>
              <a:t>case</a:t>
            </a:r>
            <a:r>
              <a:rPr sz="1800" b="0">
                <a:solidFill>
                  <a:srgbClr val="222B38"/>
                </a:solidFill>
                <a:latin typeface="Calibri"/>
              </a:rPr>
              <a:t> nào thì chạy khối lệnh của </a:t>
            </a:r>
            <a:r>
              <a:rPr sz="1709" b="0">
                <a:solidFill>
                  <a:srgbClr val="3598DB"/>
                </a:solidFill>
                <a:latin typeface="Consolas"/>
              </a:rPr>
              <a:t>case</a:t>
            </a:r>
            <a:r>
              <a:rPr sz="1800" b="0">
                <a:solidFill>
                  <a:srgbClr val="222B38"/>
                </a:solidFill>
                <a:latin typeface="Calibri"/>
              </a:rPr>
              <a:t> đó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Mỗi </a:t>
            </a:r>
            <a:r>
              <a:rPr sz="1709" b="0">
                <a:solidFill>
                  <a:srgbClr val="3598DB"/>
                </a:solidFill>
                <a:latin typeface="Consolas"/>
              </a:rPr>
              <a:t>case</a:t>
            </a:r>
            <a:r>
              <a:rPr sz="1800" b="0">
                <a:solidFill>
                  <a:srgbClr val="222B38"/>
                </a:solidFill>
                <a:latin typeface="Calibri"/>
              </a:rPr>
              <a:t> cần </a:t>
            </a:r>
            <a:r>
              <a:rPr sz="1709" b="0">
                <a:solidFill>
                  <a:srgbClr val="3598DB"/>
                </a:solidFill>
                <a:latin typeface="Consolas"/>
              </a:rPr>
              <a:t>break</a:t>
            </a:r>
            <a:r>
              <a:rPr sz="1800" b="0">
                <a:solidFill>
                  <a:srgbClr val="222B38"/>
                </a:solidFill>
                <a:latin typeface="Calibri"/>
              </a:rPr>
              <a:t> để </a:t>
            </a:r>
            <a:r>
              <a:rPr sz="1800" b="1">
                <a:solidFill>
                  <a:srgbClr val="222B38"/>
                </a:solidFill>
                <a:latin typeface="Calibri"/>
              </a:rPr>
              <a:t>kết thúc</a:t>
            </a:r>
            <a:r>
              <a:rPr sz="1800" b="0">
                <a:solidFill>
                  <a:srgbClr val="222B38"/>
                </a:solidFill>
                <a:latin typeface="Calibri"/>
              </a:rPr>
              <a:t> switch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Thiếu </a:t>
            </a:r>
            <a:r>
              <a:rPr sz="1709" b="0">
                <a:solidFill>
                  <a:srgbClr val="3598DB"/>
                </a:solidFill>
                <a:latin typeface="Consolas"/>
              </a:rPr>
              <a:t>break</a:t>
            </a:r>
            <a:r>
              <a:rPr sz="1800" b="0">
                <a:solidFill>
                  <a:srgbClr val="222B38"/>
                </a:solidFill>
                <a:latin typeface="Calibri"/>
              </a:rPr>
              <a:t>: chạy tiếp các </a:t>
            </a:r>
            <a:r>
              <a:rPr sz="1709" b="0">
                <a:solidFill>
                  <a:srgbClr val="3598DB"/>
                </a:solidFill>
                <a:latin typeface="Consolas"/>
              </a:rPr>
              <a:t>case</a:t>
            </a:r>
            <a:r>
              <a:rPr sz="1800" b="0">
                <a:solidFill>
                  <a:srgbClr val="222B38"/>
                </a:solidFill>
                <a:latin typeface="Calibri"/>
              </a:rPr>
              <a:t> bên dưới dù không khớp (rơi xuyên)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Nhiều </a:t>
            </a:r>
            <a:r>
              <a:rPr sz="1709" b="0">
                <a:solidFill>
                  <a:srgbClr val="3598DB"/>
                </a:solidFill>
                <a:latin typeface="Consolas"/>
              </a:rPr>
              <a:t>case</a:t>
            </a:r>
            <a:r>
              <a:rPr sz="1800" b="0">
                <a:solidFill>
                  <a:srgbClr val="222B38"/>
                </a:solidFill>
                <a:latin typeface="Calibri"/>
              </a:rPr>
              <a:t> liên tiếp không </a:t>
            </a:r>
            <a:r>
              <a:rPr sz="1709" b="0">
                <a:solidFill>
                  <a:srgbClr val="3598DB"/>
                </a:solidFill>
                <a:latin typeface="Consolas"/>
              </a:rPr>
              <a:t>break</a:t>
            </a:r>
            <a:r>
              <a:rPr sz="1800" b="0">
                <a:solidFill>
                  <a:srgbClr val="222B38"/>
                </a:solidFill>
                <a:latin typeface="Calibri"/>
              </a:rPr>
              <a:t> để dùng chung 1 khối lệnh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Có break và thiếu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Switch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>
                <a:solidFill>
                  <a:srgbClr val="767F8C"/>
                </a:solidFill>
                <a:latin typeface="Calibri"/>
              </a:rPr>
              <a:t>n = 3 với có break chỉ in THREE; n = 2 thiếu break in từ TWO trở xuống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935918"/>
            <a:ext cx="10765231" cy="4288155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82222"/>
            <a:ext cx="10362895" cy="399554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switch(n){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    case 1: cout &lt;&lt; "ONE\n"; break;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    case 2: cout &lt;&lt; "TWO\n"; break;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    case 3: cout &lt;&lt; "THREE\n"; break;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    default: cout &lt;&lt; "DEFAULT\n";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// n=3 -&gt; THREE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switch(n){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    case 1: cout &lt;&lt; "ONE\n";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    case 2: cout &lt;&lt; "TWO\n";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    case 3: cout &lt;&lt; "THREE\n";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    default: cout &lt;&lt; "DEFAULT\n";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E8EFF7"/>
                </a:solidFill>
                <a:latin typeface="Consolas"/>
              </a:rPr>
              <a:t>// n=2 -&gt; TWO THREE DEFAULT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Ví dụ: toán tử và gộp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Switch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>
                <a:solidFill>
                  <a:srgbClr val="767F8C"/>
                </a:solidFill>
                <a:latin typeface="Calibri"/>
              </a:rPr>
              <a:t>Nhiều case liên tiếp không break để dùng chung khối lệnh (số ngày trong tháng)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945386"/>
            <a:ext cx="10765231" cy="426110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91690"/>
            <a:ext cx="10362895" cy="39684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FF7"/>
                </a:solidFill>
                <a:latin typeface="Consolas"/>
              </a:rPr>
              <a:t>switch(op){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FF7"/>
                </a:solidFill>
                <a:latin typeface="Consolas"/>
              </a:rPr>
              <a:t>    case '+': cout &lt;&lt; a + b &lt;&lt; endl; break;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FF7"/>
                </a:solidFill>
                <a:latin typeface="Consolas"/>
              </a:rPr>
              <a:t>    case '-': cout &lt;&lt; a - b &lt;&lt; endl; break;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FF7"/>
                </a:solidFill>
                <a:latin typeface="Consolas"/>
              </a:rPr>
              <a:t>    case '*': cout &lt;&lt; a * b &lt;&lt; endl; break;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FF7"/>
                </a:solidFill>
                <a:latin typeface="Consolas"/>
              </a:rPr>
              <a:t>    case '/': cout &lt;&lt; a / b &lt;&lt; endl; break;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FF7"/>
                </a:solidFill>
                <a:latin typeface="Consolas"/>
              </a:rPr>
              <a:t>    default: cout &lt;&lt; "INVALID INPUT" &lt;&lt; endl;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FF7"/>
                </a:solidFill>
                <a:latin typeface="Consolas"/>
              </a:rPr>
              <a:t>switch(m){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FF7"/>
                </a:solidFill>
                <a:latin typeface="Consolas"/>
              </a:rPr>
              <a:t>    case 1: case 3: case 5: case 7: case 8: case 10: case 12: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FF7"/>
                </a:solidFill>
                <a:latin typeface="Consolas"/>
              </a:rPr>
              <a:t>        cout &lt;&lt; 31 &lt;&lt; endl; break;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FF7"/>
                </a:solidFill>
                <a:latin typeface="Consolas"/>
              </a:rPr>
              <a:t>    case 4: case 6: case 9: case 11: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FF7"/>
                </a:solidFill>
                <a:latin typeface="Consolas"/>
              </a:rPr>
              <a:t>        cout &lt;&lt; 30 &lt;&lt; endl; break;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FF7"/>
                </a:solidFill>
                <a:latin typeface="Consolas"/>
              </a:rPr>
              <a:t>    case 2: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FF7"/>
                </a:solidFill>
                <a:latin typeface="Consolas"/>
              </a:rPr>
              <a:t>        cout &lt;&lt; (nam_nhuan ? 29 : 28) &lt;&lt; endl; break;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FF7"/>
                </a:solidFill>
                <a:latin typeface="Consolas"/>
              </a:rPr>
              <a:t>    default: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FF7"/>
                </a:solidFill>
                <a:latin typeface="Consolas"/>
              </a:rPr>
              <a:t>        cout &lt;&lt; "Du lieu khong hop le !\n";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Switch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switch</a:t>
            </a:r>
            <a:r>
              <a:rPr sz="1800" b="0">
                <a:solidFill>
                  <a:srgbClr val="222B38"/>
                </a:solidFill>
                <a:latin typeface="Calibri"/>
              </a:rPr>
              <a:t> so khớp giá trị </a:t>
            </a:r>
            <a:r>
              <a:rPr sz="1709" b="0">
                <a:solidFill>
                  <a:srgbClr val="3598DB"/>
                </a:solidFill>
                <a:latin typeface="Consolas"/>
              </a:rPr>
              <a:t>value</a:t>
            </a:r>
            <a:r>
              <a:rPr sz="1800" b="0">
                <a:solidFill>
                  <a:srgbClr val="222B38"/>
                </a:solidFill>
                <a:latin typeface="Calibri"/>
              </a:rPr>
              <a:t> với từng </a:t>
            </a:r>
            <a:r>
              <a:rPr sz="1709" b="0">
                <a:solidFill>
                  <a:srgbClr val="3598DB"/>
                </a:solidFill>
                <a:latin typeface="Consolas"/>
              </a:rPr>
              <a:t>case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Luôn nhớ </a:t>
            </a:r>
            <a:r>
              <a:rPr sz="1709" b="0">
                <a:solidFill>
                  <a:srgbClr val="3598DB"/>
                </a:solidFill>
                <a:latin typeface="Consolas"/>
              </a:rPr>
              <a:t>break</a:t>
            </a:r>
            <a:r>
              <a:rPr sz="1800" b="0">
                <a:solidFill>
                  <a:srgbClr val="222B38"/>
                </a:solidFill>
                <a:latin typeface="Calibri"/>
              </a:rPr>
              <a:t> ở cuối mỗi </a:t>
            </a:r>
            <a:r>
              <a:rPr sz="1709" b="0">
                <a:solidFill>
                  <a:srgbClr val="3598DB"/>
                </a:solidFill>
                <a:latin typeface="Consolas"/>
              </a:rPr>
              <a:t>case</a:t>
            </a:r>
            <a:r>
              <a:rPr sz="1800" b="0">
                <a:solidFill>
                  <a:srgbClr val="222B38"/>
                </a:solidFill>
                <a:latin typeface="Calibri"/>
              </a:rPr>
              <a:t>, trừ khi cố ý gộp nhánh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default</a:t>
            </a:r>
            <a:r>
              <a:rPr sz="1800" b="0">
                <a:solidFill>
                  <a:srgbClr val="222B38"/>
                </a:solidFill>
                <a:latin typeface="Calibri"/>
              </a:rPr>
              <a:t> đóng vai trò như </a:t>
            </a:r>
            <a:r>
              <a:rPr sz="1709" b="0">
                <a:solidFill>
                  <a:srgbClr val="3598DB"/>
                </a:solidFill>
                <a:latin typeface="Consolas"/>
              </a:rPr>
              <a:t>else</a:t>
            </a:r>
            <a:r>
              <a:rPr sz="1800" b="0">
                <a:solidFill>
                  <a:srgbClr val="222B38"/>
                </a:solidFill>
                <a:latin typeface="Calibri"/>
              </a:rPr>
              <a:t>, không bắt buộc phải có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Nhiều </a:t>
            </a:r>
            <a:r>
              <a:rPr sz="1709" b="0">
                <a:solidFill>
                  <a:srgbClr val="3598DB"/>
                </a:solidFill>
                <a:latin typeface="Consolas"/>
              </a:rPr>
              <a:t>case</a:t>
            </a:r>
            <a:r>
              <a:rPr sz="1800" b="0">
                <a:solidFill>
                  <a:srgbClr val="222B38"/>
                </a:solidFill>
                <a:latin typeface="Calibri"/>
              </a:rPr>
              <a:t> liền nhau không </a:t>
            </a:r>
            <a:r>
              <a:rPr sz="1709" b="0">
                <a:solidFill>
                  <a:srgbClr val="3598DB"/>
                </a:solidFill>
                <a:latin typeface="Consolas"/>
              </a:rPr>
              <a:t>break</a:t>
            </a:r>
            <a:r>
              <a:rPr sz="1800" b="0">
                <a:solidFill>
                  <a:srgbClr val="222B38"/>
                </a:solidFill>
                <a:latin typeface="Calibri"/>
              </a:rPr>
              <a:t> = dùng chung 1 xử lý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