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 · 28Tech</a:t>
            </a:r>
          </a:p>
          <a:p>
            <a:pPr>
              <a:spcBef>
                <a:spcPts val="2600"/>
              </a:spcBef>
            </a:pPr>
            <a:r>
              <a:rPr sz="1100" b="0">
                <a:solidFill>
                  <a:srgbClr val="929FB2"/>
                </a:solidFill>
                <a:latin typeface="Calibri"/>
              </a:rPr>
              <a:t>https://blog.28tech.com.vn/cpp-ham-function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Khối lệnh thực hiện </a:t>
            </a:r>
            <a:r>
              <a:rPr sz="2000" b="1">
                <a:solidFill>
                  <a:srgbClr val="222B38"/>
                </a:solidFill>
                <a:latin typeface="Calibri"/>
              </a:rPr>
              <a:t>1 chức năng cụ thể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lại được nhiều lần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Tránh code lặp lại, chương trình dễ quản lý hơn khi lớn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hàm nhiều lần thay vì viết lại toàn bộ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khai báo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data_type</a:t>
            </a:r>
            <a:r>
              <a:rPr sz="2000" b="0">
                <a:solidFill>
                  <a:srgbClr val="222B38"/>
                </a:solidFill>
                <a:latin typeface="Calibri"/>
              </a:rPr>
              <a:t>: kiểu trả về (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void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,...)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function_name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đặt tên theo quy tắc như tên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parameter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đầu vào của hàm, số lượng và kiểu tùy ý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data_type function_name(type1 param1, type2 param2){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a, int b, int c){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 + b +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Lời gọi hàm — 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hàm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main</a:t>
            </a:r>
            <a:r>
              <a:rPr sz="2000" b="0">
                <a:solidFill>
                  <a:srgbClr val="222B38"/>
                </a:solidFill>
                <a:latin typeface="Calibri"/>
              </a:rPr>
              <a:t> (hoặc hàm khác) để nó thực thi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Chương trình </a:t>
            </a:r>
            <a:r>
              <a:rPr sz="2000" b="1">
                <a:solidFill>
                  <a:srgbClr val="222B38"/>
                </a:solidFill>
                <a:latin typeface="Calibri"/>
              </a:rPr>
              <a:t>nhảy vào</a:t>
            </a:r>
            <a:r>
              <a:rPr sz="2000" b="0">
                <a:solidFill>
                  <a:srgbClr val="222B38"/>
                </a:solidFill>
                <a:latin typeface="Calibri"/>
              </a:rPr>
              <a:t> thân hàm, chạy hết lệnh rồi </a:t>
            </a:r>
            <a:r>
              <a:rPr sz="2000" b="1">
                <a:solidFill>
                  <a:srgbClr val="222B38"/>
                </a:solidFill>
                <a:latin typeface="Calibri"/>
              </a:rPr>
              <a:t>quay lại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lần gọi, các câu lệnh trong hàm chạy lại từ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greet(){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"Hello 28tech C++!\n";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"Before\n";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greet();          // nhảy vào thân hàm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"After\n";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// Before / Hello 28tech C++! / After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Tham số và đối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Tham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(parameter): khai báo trong định nghĩa hàm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Đối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(argument): giá trị truyền vào khi gọi hàm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Đối số gán cho tham số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 thứ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Kiểu đối số nên trùng hoặc nhỏ hơn kiểu tham số, tránh mất dữ liệu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Tham số truyền theo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9633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Thay đổi tham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bên trong hàm không ảnh hưởng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đối số bên ngoài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31313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7617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thaydoi(int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+=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n &lt;&lt; endl;      // 128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a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thaydoi(a);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a &lt;&lt; endl;      // vẫn là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Câu lệnh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nơi gọi hàm, hàm kết thúc </a:t>
            </a:r>
            <a:r>
              <a:rPr sz="2000" b="1">
                <a:solidFill>
                  <a:srgbClr val="222B38"/>
                </a:solidFill>
                <a:latin typeface="Calibri"/>
              </a:rPr>
              <a:t>ngay khi gặp return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giá trị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nên khớp kiểu trả về của hàm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void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return;</a:t>
            </a:r>
            <a:r>
              <a:rPr sz="2000" b="0">
                <a:solidFill>
                  <a:srgbClr val="222B38"/>
                </a:solidFill>
                <a:latin typeface="Calibri"/>
              </a:rPr>
              <a:t> (không kèm giá trị) để thoát sớm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int tong(int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 28;      // kết thúc, trả 28 ngay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 a + b;   // không bao giờ chạy tới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greet(int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n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return;         // thoát sớm khỏi hàm void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"khong chay toi day\n";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hàm có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0211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96515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a, int b, int c){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 + b +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factorial(int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long long gt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n; i++) gt *=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Xây dựng hàm tổng quát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chỉ nên làm </a:t>
            </a:r>
            <a:r>
              <a:rPr sz="2000" b="1">
                <a:solidFill>
                  <a:srgbClr val="222B38"/>
                </a:solidFill>
                <a:latin typeface="Calibri"/>
              </a:rPr>
              <a:t>1 nhiệm vụ rõ ràng</a:t>
            </a:r>
            <a:r>
              <a:rPr sz="2000" b="0">
                <a:solidFill>
                  <a:srgbClr val="222B38"/>
                </a:solidFill>
                <a:latin typeface="Calibri"/>
              </a:rPr>
              <a:t>, tránh gộp nhập/tính/xuất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Nhập, xuất nên để ở </a:t>
            </a:r>
            <a:r>
              <a:rPr sz="1900" b="0">
                <a:solidFill>
                  <a:srgbClr val="3598DB"/>
                </a:solidFill>
                <a:latin typeface="Consolas"/>
              </a:rPr>
              <a:t>main</a:t>
            </a:r>
            <a:r>
              <a:rPr sz="2000" b="0">
                <a:solidFill>
                  <a:srgbClr val="222B38"/>
                </a:solidFill>
                <a:latin typeface="Calibri"/>
              </a:rPr>
              <a:t>; hàm chỉ xử lý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kết quả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tổng quát tái sử dụng được cho nhiều bài toán khác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49168"/>
            <a:ext cx="10765231" cy="310591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95472"/>
            <a:ext cx="10362895" cy="2813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// chưa tổng quát: gộp cả nhập và xuất vào hàm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void xuly(){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int n;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for(int i=1;i&lt;=n;i++) if(n%i==0) tong+=i;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cout &lt;&lt; tong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// tổng quát: chỉ tính và trả kết quả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int tonguoc(int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for(int i=1;i&lt;=n;i++) if(n%i==0) tong+=i;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return tong;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giúp tái sử dụng code, chương trình dễ quản lý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Tham số truyền theo giá trị: sửa trong hàm không đổi đối số ngoài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</a:t>
            </a:r>
            <a:r>
              <a:rPr sz="1800" b="0">
                <a:solidFill>
                  <a:srgbClr val="222B38"/>
                </a:solidFill>
                <a:latin typeface="Calibri"/>
              </a:rPr>
              <a:t> giá trị kết thúc hàm ngay lập tức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nên tổng quát, tách biệt nhập/xuất khỏi phần xử lý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