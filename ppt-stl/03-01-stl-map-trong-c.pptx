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Map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Map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Container lưu dữ liệu dạng </a:t>
            </a:r>
            <a:r>
              <a:rPr sz="2000" b="1">
                <a:solidFill>
                  <a:srgbClr val="222B38"/>
                </a:solidFill>
                <a:latin typeface="Calibri"/>
              </a:rPr>
              <a:t>key - value</a:t>
            </a:r>
            <a:r>
              <a:rPr sz="2000" b="0">
                <a:solidFill>
                  <a:srgbClr val="222B38"/>
                </a:solidFill>
                <a:latin typeface="Calibri"/>
              </a:rPr>
              <a:t>, giống từ điển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phần tử là một </a:t>
            </a:r>
            <a:r>
              <a:rPr sz="1900" b="0">
                <a:solidFill>
                  <a:srgbClr val="3598DB"/>
                </a:solidFill>
                <a:latin typeface="Consolas"/>
              </a:rPr>
              <a:t>pair&lt;key, value&gt;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dụ: mã sinh viên (key) → tên sinh viên (value)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8068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2699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"map"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map&lt;key_data_type, value_data_type&gt; map_name;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Tính chất quan trọng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 </a:t>
            </a:r>
            <a:r>
              <a:rPr sz="1800" b="1">
                <a:solidFill>
                  <a:srgbClr val="222B38"/>
                </a:solidFill>
                <a:latin typeface="Calibri"/>
              </a:rPr>
              <a:t>key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map là riêng biệt, không trùng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Map duy trì thứ tự phần tử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key 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Tìm kiếm theo key: </a:t>
            </a:r>
            <a:r>
              <a:rPr sz="1800" b="1">
                <a:solidFill>
                  <a:srgbClr val="222B38"/>
                </a:solidFill>
                <a:latin typeface="Calibri"/>
              </a:rPr>
              <a:t>O(logN)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</a:t>
            </a:r>
            <a:r>
              <a:rPr sz="1800" b="0">
                <a:solidFill>
                  <a:srgbClr val="222B38"/>
                </a:solidFill>
                <a:latin typeface="Calibri"/>
              </a:rPr>
              <a:t> truy cập được qua chỉ số như mảng/vector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Thêm phần tử: insert() và map[key]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insert(make_pair(key, value))</a:t>
            </a:r>
            <a:r>
              <a:rPr sz="2000" b="0">
                <a:solidFill>
                  <a:srgbClr val="222B38"/>
                </a:solidFill>
                <a:latin typeface="Calibri"/>
              </a:rPr>
              <a:t>: thêm nếu key </a:t>
            </a:r>
            <a:r>
              <a:rPr sz="2000" b="1">
                <a:solidFill>
                  <a:srgbClr val="222B38"/>
                </a:solidFill>
                <a:latin typeface="Calibri"/>
              </a:rPr>
              <a:t>chưa tồn tại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map[key] = value</a:t>
            </a:r>
            <a:r>
              <a:rPr sz="2000" b="0">
                <a:solidFill>
                  <a:srgbClr val="222B38"/>
                </a:solidFill>
                <a:latin typeface="Calibri"/>
              </a:rPr>
              <a:t>: thêm mới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hoặc ghi đè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key đã có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map[key]</a:t>
            </a:r>
            <a:r>
              <a:rPr sz="2000" b="0">
                <a:solidFill>
                  <a:srgbClr val="222B38"/>
                </a:solidFill>
                <a:latin typeface="Calibri"/>
              </a:rPr>
              <a:t> cũng dùng để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đọc</a:t>
            </a:r>
            <a:r>
              <a:rPr sz="2000" b="0">
                <a:solidFill>
                  <a:srgbClr val="222B38"/>
                </a:solidFill>
                <a:latin typeface="Calibri"/>
              </a:rPr>
              <a:t> giá trị theo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map&lt;int,int&gt;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mp.insert(make_pair(1, 2)); // ok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mp.insert(make_pair(1, 5)); // khong doi, key 1 da co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mp[5] = 10;   // them moi key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mp[1] = 100;  // ghi de gia tri key 1 thanh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mp[1]; //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Duyệt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1: range-based </a:t>
            </a:r>
            <a:r>
              <a:rPr sz="1900" b="0">
                <a:solidFill>
                  <a:srgbClr val="3598DB"/>
                </a:solidFill>
                <a:latin typeface="Consolas"/>
              </a:rPr>
              <a:t>for</a:t>
            </a:r>
            <a:r>
              <a:rPr sz="2000" b="0">
                <a:solidFill>
                  <a:srgbClr val="222B38"/>
                </a:solidFill>
                <a:latin typeface="Calibri"/>
              </a:rPr>
              <a:t> với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pair&lt;key,value&gt;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Cách 2: duyệt bằng </a:t>
            </a:r>
            <a:r>
              <a:rPr sz="2000" b="1">
                <a:solidFill>
                  <a:srgbClr val="222B38"/>
                </a:solidFill>
                <a:latin typeface="Calibri"/>
              </a:rPr>
              <a:t>iterator</a:t>
            </a:r>
            <a:r>
              <a:rPr sz="2000" b="0">
                <a:solidFill>
                  <a:srgbClr val="222B38"/>
                </a:solidFill>
                <a:latin typeface="Calibri"/>
              </a:rPr>
              <a:t>, truy cập </a:t>
            </a:r>
            <a:r>
              <a:rPr sz="1900" b="0">
                <a:solidFill>
                  <a:srgbClr val="3598DB"/>
                </a:solidFill>
                <a:latin typeface="Consolas"/>
              </a:rPr>
              <a:t>(*it).first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(*it).second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ngược: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reverse_iterator</a:t>
            </a:r>
            <a:r>
              <a:rPr sz="2000" b="0">
                <a:solidFill>
                  <a:srgbClr val="222B38"/>
                </a:solidFill>
                <a:latin typeface="Calibri"/>
              </a:rPr>
              <a:t> (</a:t>
            </a:r>
            <a:r>
              <a:rPr sz="1900" b="0">
                <a:solidFill>
                  <a:srgbClr val="3598DB"/>
                </a:solidFill>
                <a:latin typeface="Consolas"/>
              </a:rPr>
              <a:t>rbegin()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rend()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for(pair&lt;int,int&gt; it : mp)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it.first &lt;&lt; " " &lt;&lt; it.second;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for(auto it = mp.begin(); it != mp.end(); it++)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(*it).first &lt;&lt; " " &lt;&lt; (*it).second;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for(auto it = mp.rbegin(); it != mp.rend(); it++)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(*it).first &lt;&lt; " " &lt;&lt; (*it).second; // tu cuoi ve dau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Map = tập cặp key-value, key </a:t>
            </a:r>
            <a:r>
              <a:rPr sz="1800" b="1">
                <a:solidFill>
                  <a:srgbClr val="222B38"/>
                </a:solidFill>
                <a:latin typeface="Calibri"/>
              </a:rPr>
              <a:t>duy nhất</a:t>
            </a:r>
            <a:r>
              <a:rPr sz="1800" b="0">
                <a:solidFill>
                  <a:srgbClr val="222B38"/>
                </a:solidFill>
                <a:latin typeface="Calibri"/>
              </a:rPr>
              <a:t>, sắp xếp theo key 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insert()</a:t>
            </a:r>
            <a:r>
              <a:rPr sz="1800" b="0">
                <a:solidFill>
                  <a:srgbClr val="222B38"/>
                </a:solidFill>
                <a:latin typeface="Calibri"/>
              </a:rPr>
              <a:t> không ghi đè key đã có, </a:t>
            </a:r>
            <a:r>
              <a:rPr sz="1709" b="0">
                <a:solidFill>
                  <a:srgbClr val="3598DB"/>
                </a:solidFill>
                <a:latin typeface="Consolas"/>
              </a:rPr>
              <a:t>map[key] = value</a:t>
            </a:r>
            <a:r>
              <a:rPr sz="1800" b="0">
                <a:solidFill>
                  <a:srgbClr val="222B38"/>
                </a:solidFill>
                <a:latin typeface="Calibri"/>
              </a:rPr>
              <a:t> thì có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hỗ trợ truy cập qua chỉ số như vector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begin()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rbegin()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lấy phần tử đầu/cuối theo key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