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Iterator Trong C++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STL C++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Iterator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Iterator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Đối tượng tương tự </a:t>
            </a:r>
            <a:r>
              <a:rPr sz="1800" b="1">
                <a:solidFill>
                  <a:srgbClr val="222B38"/>
                </a:solidFill>
                <a:latin typeface="Calibri"/>
              </a:rPr>
              <a:t>con trỏ</a:t>
            </a:r>
            <a:r>
              <a:rPr sz="1800" b="0">
                <a:solidFill>
                  <a:srgbClr val="222B38"/>
                </a:solidFill>
                <a:latin typeface="Calibri"/>
              </a:rPr>
              <a:t>, trỏ đến phần tử trong container STL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với </a:t>
            </a:r>
            <a:r>
              <a:rPr sz="1709" b="0">
                <a:solidFill>
                  <a:srgbClr val="3598DB"/>
                </a:solidFill>
                <a:latin typeface="Consolas"/>
              </a:rPr>
              <a:t>vector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set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map</a:t>
            </a:r>
            <a:r>
              <a:rPr sz="1800" b="0">
                <a:solidFill>
                  <a:srgbClr val="222B38"/>
                </a:solidFill>
                <a:latin typeface="Calibri"/>
              </a:rPr>
              <a:t>...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Là nền tảng để dùng các hàm/thuật toán của STL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Truy cập giá trị đang trỏ tới bằng toán tử </a:t>
            </a:r>
            <a:r>
              <a:rPr sz="1709" b="0">
                <a:solidFill>
                  <a:srgbClr val="3598DB"/>
                </a:solidFill>
                <a:latin typeface="Consolas"/>
              </a:rPr>
              <a:t>*</a:t>
            </a:r>
            <a:r>
              <a:rPr sz="1800" b="0">
                <a:solidFill>
                  <a:srgbClr val="222B38"/>
                </a:solidFill>
                <a:latin typeface="Calibri"/>
              </a:rPr>
              <a:t> (giải tham chiếu)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4 iterator chính của vector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Iterator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0108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begin()</a:t>
            </a:r>
            <a:r>
              <a:rPr sz="1800" b="0">
                <a:solidFill>
                  <a:srgbClr val="222B38"/>
                </a:solidFill>
                <a:latin typeface="Calibri"/>
              </a:rPr>
              <a:t>: trỏ tới phần tử </a:t>
            </a:r>
            <a:r>
              <a:rPr sz="1800" b="1">
                <a:solidFill>
                  <a:srgbClr val="222B38"/>
                </a:solidFill>
                <a:latin typeface="Calibri"/>
              </a:rPr>
              <a:t>đầu tiên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end()</a:t>
            </a:r>
            <a:r>
              <a:rPr sz="1800" b="0">
                <a:solidFill>
                  <a:srgbClr val="222B38"/>
                </a:solidFill>
                <a:latin typeface="Calibri"/>
              </a:rPr>
              <a:t>: trỏ tới vị trí </a:t>
            </a:r>
            <a:r>
              <a:rPr sz="1800" b="1">
                <a:solidFill>
                  <a:srgbClr val="222B38"/>
                </a:solidFill>
                <a:latin typeface="Calibri"/>
              </a:rPr>
              <a:t>sau phần tử cuối cùng</a:t>
            </a:r>
            <a:r>
              <a:rPr sz="1800" b="0">
                <a:solidFill>
                  <a:srgbClr val="222B38"/>
                </a:solidFill>
                <a:latin typeface="Calibri"/>
              </a:rPr>
              <a:t> (không tồn tại)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rbegin()</a:t>
            </a:r>
            <a:r>
              <a:rPr sz="1800" b="0">
                <a:solidFill>
                  <a:srgbClr val="222B38"/>
                </a:solidFill>
                <a:latin typeface="Calibri"/>
              </a:rPr>
              <a:t>: iterator ngược, trỏ tới phần tử </a:t>
            </a:r>
            <a:r>
              <a:rPr sz="1800" b="1">
                <a:solidFill>
                  <a:srgbClr val="222B38"/>
                </a:solidFill>
                <a:latin typeface="Calibri"/>
              </a:rPr>
              <a:t>cuối cùng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rend()</a:t>
            </a:r>
            <a:r>
              <a:rPr sz="1800" b="0">
                <a:solidFill>
                  <a:srgbClr val="222B38"/>
                </a:solidFill>
                <a:latin typeface="Calibri"/>
              </a:rPr>
              <a:t>: iterator ngược, trỏ tới vị trí </a:t>
            </a:r>
            <a:r>
              <a:rPr sz="1800" b="1">
                <a:solidFill>
                  <a:srgbClr val="222B38"/>
                </a:solidFill>
                <a:latin typeface="Calibri"/>
              </a:rPr>
              <a:t>trước phần tử đầu tiên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4992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9623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vector&lt;data_type&gt;::iterator it;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vector&lt;data_type&gt;::reverse_iterator rit;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vector&lt;int&gt; v = {28, 100, 30, 20, 15};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it1 = v.begin();   // *it1 = 28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it2 = v.rbegin();  // *it2 =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Duyệt vector bằng iterator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Iterator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03069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xuôi: </a:t>
            </a:r>
            <a:r>
              <a:rPr sz="1709" b="0">
                <a:solidFill>
                  <a:srgbClr val="3598DB"/>
                </a:solidFill>
                <a:latin typeface="Consolas"/>
              </a:rPr>
              <a:t>begin()</a:t>
            </a:r>
            <a:r>
              <a:rPr sz="1800" b="0">
                <a:solidFill>
                  <a:srgbClr val="222B38"/>
                </a:solidFill>
                <a:latin typeface="Calibri"/>
              </a:rPr>
              <a:t> → </a:t>
            </a:r>
            <a:r>
              <a:rPr sz="1709" b="0">
                <a:solidFill>
                  <a:srgbClr val="3598DB"/>
                </a:solidFill>
                <a:latin typeface="Consolas"/>
              </a:rPr>
              <a:t>end()</a:t>
            </a:r>
            <a:r>
              <a:rPr sz="1800" b="0">
                <a:solidFill>
                  <a:srgbClr val="222B38"/>
                </a:solidFill>
                <a:latin typeface="Calibri"/>
              </a:rPr>
              <a:t>, tăng bằng </a:t>
            </a:r>
            <a:r>
              <a:rPr sz="1709" b="0">
                <a:solidFill>
                  <a:srgbClr val="3598DB"/>
                </a:solidFill>
                <a:latin typeface="Consolas"/>
              </a:rPr>
              <a:t>it++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ngược: </a:t>
            </a:r>
            <a:r>
              <a:rPr sz="1709" b="0">
                <a:solidFill>
                  <a:srgbClr val="3598DB"/>
                </a:solidFill>
                <a:latin typeface="Consolas"/>
              </a:rPr>
              <a:t>rbegin()</a:t>
            </a:r>
            <a:r>
              <a:rPr sz="1800" b="0">
                <a:solidFill>
                  <a:srgbClr val="222B38"/>
                </a:solidFill>
                <a:latin typeface="Calibri"/>
              </a:rPr>
              <a:t> → </a:t>
            </a:r>
            <a:r>
              <a:rPr sz="1709" b="0">
                <a:solidFill>
                  <a:srgbClr val="3598DB"/>
                </a:solidFill>
                <a:latin typeface="Consolas"/>
              </a:rPr>
              <a:t>rend()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Có thể 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auto</a:t>
            </a:r>
            <a:r>
              <a:rPr sz="1800" b="0">
                <a:solidFill>
                  <a:srgbClr val="222B38"/>
                </a:solidFill>
                <a:latin typeface="Calibri"/>
              </a:rPr>
              <a:t> thay cho khai báo kiểu iterator dài dòng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begin() + x</a:t>
            </a:r>
            <a:r>
              <a:rPr sz="1800" b="0">
                <a:solidFill>
                  <a:srgbClr val="222B38"/>
                </a:solidFill>
                <a:latin typeface="Calibri"/>
              </a:rPr>
              <a:t>: iterator trỏ tới phần tử chỉ số </a:t>
            </a:r>
            <a:r>
              <a:rPr sz="1709" b="0">
                <a:solidFill>
                  <a:srgbClr val="3598DB"/>
                </a:solidFill>
                <a:latin typeface="Consolas"/>
              </a:rPr>
              <a:t>x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05190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9821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for(auto it = v.begin(); it != v.end(); it++) cout &lt;&lt; *it;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for(auto it = v.rbegin(); it != v.rend(); it++) cout &lt;&lt; *it;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it2 = v.begin() + 2;   // tro toi v[2]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Toán tử trên iterator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Iterator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334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Hỗ trợ </a:t>
            </a:r>
            <a:r>
              <a:rPr sz="1900" b="0">
                <a:solidFill>
                  <a:srgbClr val="3598DB"/>
                </a:solidFill>
                <a:latin typeface="Consolas"/>
              </a:rPr>
              <a:t>++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--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toán tử số học </a:t>
            </a:r>
            <a:r>
              <a:rPr sz="1900" b="0">
                <a:solidFill>
                  <a:srgbClr val="3598DB"/>
                </a:solidFill>
                <a:latin typeface="Consolas"/>
              </a:rPr>
              <a:t>+=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-=</a:t>
            </a:r>
            <a:r>
              <a:rPr sz="2000" b="0">
                <a:solidFill>
                  <a:srgbClr val="222B38"/>
                </a:solidFill>
                <a:latin typeface="Calibri"/>
              </a:rPr>
              <a:t> (riêng vector)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Tính khoảng cách 2 iterator bằng phép trừ hoặc hàm </a:t>
            </a:r>
            <a:r>
              <a:rPr sz="1900" b="0">
                <a:solidFill>
                  <a:srgbClr val="3598DB"/>
                </a:solidFill>
                <a:latin typeface="Consolas"/>
              </a:rPr>
              <a:t>distance()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Kết quả </a:t>
            </a:r>
            <a:r>
              <a:rPr sz="1900" b="0">
                <a:solidFill>
                  <a:srgbClr val="3598DB"/>
                </a:solidFill>
                <a:latin typeface="Consolas"/>
              </a:rPr>
              <a:t>distance()</a:t>
            </a:r>
            <a:r>
              <a:rPr sz="2000" b="0">
                <a:solidFill>
                  <a:srgbClr val="222B38"/>
                </a:solidFill>
                <a:latin typeface="Calibri"/>
              </a:rPr>
              <a:t> chính là chỉ số phần tử đang trỏ tới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0128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4759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it = v.begin();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++it;      // sang phan tu ke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it += 2;   // di chuyen 2 buoc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--it;      // lui 1 buoc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it - v.begin();          // khoang cach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distance(v.begin(), it); // tuong duong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Iterator trong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Iterator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3443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begin()</a:t>
            </a:r>
            <a:r>
              <a:rPr sz="2000" b="0">
                <a:solidFill>
                  <a:srgbClr val="222B38"/>
                </a:solidFill>
                <a:latin typeface="Calibri"/>
              </a:rPr>
              <a:t>/</a:t>
            </a:r>
            <a:r>
              <a:rPr sz="1900" b="0">
                <a:solidFill>
                  <a:srgbClr val="3598DB"/>
                </a:solidFill>
                <a:latin typeface="Consolas"/>
              </a:rPr>
              <a:t>end()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rbegin()</a:t>
            </a:r>
            <a:r>
              <a:rPr sz="2000" b="0">
                <a:solidFill>
                  <a:srgbClr val="222B38"/>
                </a:solidFill>
                <a:latin typeface="Calibri"/>
              </a:rPr>
              <a:t>/</a:t>
            </a:r>
            <a:r>
              <a:rPr sz="1900" b="0">
                <a:solidFill>
                  <a:srgbClr val="3598DB"/>
                </a:solidFill>
                <a:latin typeface="Consolas"/>
              </a:rPr>
              <a:t>rend()</a:t>
            </a:r>
            <a:r>
              <a:rPr sz="2000" b="0">
                <a:solidFill>
                  <a:srgbClr val="222B38"/>
                </a:solidFill>
                <a:latin typeface="Calibri"/>
              </a:rPr>
              <a:t> dùng như vector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*begin()</a:t>
            </a:r>
            <a:r>
              <a:rPr sz="2000" b="0">
                <a:solidFill>
                  <a:srgbClr val="222B38"/>
                </a:solidFill>
                <a:latin typeface="Calibri"/>
              </a:rPr>
              <a:t> là phần tử nhỏ nhất, </a:t>
            </a:r>
            <a:r>
              <a:rPr sz="1900" b="0">
                <a:solidFill>
                  <a:srgbClr val="3598DB"/>
                </a:solidFill>
                <a:latin typeface="Consolas"/>
              </a:rPr>
              <a:t>*rbegin()</a:t>
            </a:r>
            <a:r>
              <a:rPr sz="2000" b="0">
                <a:solidFill>
                  <a:srgbClr val="222B38"/>
                </a:solidFill>
                <a:latin typeface="Calibri"/>
              </a:rPr>
              <a:t> là phần tử lớn nhất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Chỉ hỗ trợ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1900" b="0">
                <a:solidFill>
                  <a:srgbClr val="3598DB"/>
                </a:solidFill>
                <a:latin typeface="Consolas"/>
              </a:rPr>
              <a:t>++</a:t>
            </a:r>
            <a:r>
              <a:rPr sz="2000" b="0">
                <a:solidFill>
                  <a:srgbClr val="222B38"/>
                </a:solidFill>
                <a:latin typeface="Calibri"/>
              </a:rPr>
              <a:t>/</a:t>
            </a:r>
            <a:r>
              <a:rPr sz="1900" b="0">
                <a:solidFill>
                  <a:srgbClr val="3598DB"/>
                </a:solidFill>
                <a:latin typeface="Consolas"/>
              </a:rPr>
              <a:t>--</a:t>
            </a:r>
            <a:r>
              <a:rPr sz="2000" b="0">
                <a:solidFill>
                  <a:srgbClr val="222B38"/>
                </a:solidFill>
                <a:latin typeface="Calibri"/>
              </a:rPr>
              <a:t>, KHÔNG hỗ trợ </a:t>
            </a:r>
            <a:r>
              <a:rPr sz="1900" b="0">
                <a:solidFill>
                  <a:srgbClr val="3598DB"/>
                </a:solidFill>
                <a:latin typeface="Consolas"/>
              </a:rPr>
              <a:t>+=</a:t>
            </a:r>
            <a:r>
              <a:rPr sz="2000" b="0">
                <a:solidFill>
                  <a:srgbClr val="222B38"/>
                </a:solidFill>
                <a:latin typeface="Calibri"/>
              </a:rPr>
              <a:t>/</a:t>
            </a:r>
            <a:r>
              <a:rPr sz="1900" b="0">
                <a:solidFill>
                  <a:srgbClr val="3598DB"/>
                </a:solidFill>
                <a:latin typeface="Consolas"/>
              </a:rPr>
              <a:t>-=</a:t>
            </a:r>
            <a:r>
              <a:rPr sz="2000" b="0">
                <a:solidFill>
                  <a:srgbClr val="222B38"/>
                </a:solidFill>
                <a:latin typeface="Calibri"/>
              </a:rPr>
              <a:t> như vector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0227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858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set&lt;int&gt; se = {1,2,3,4,5};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it1 = se.begin();  // *it1 = 1 (nho nhat)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it2 = se.end(); --it2; // *it2 = 5 (lon nhat)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for(auto it = se.begin(); it != se.end(); ++it) cout &lt;&lt; *it;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for(auto it = se.rbegin(); it != se.rend(); it++) cout &lt;&lt; *it;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Iterator trong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Iterator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334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Mỗi phần tử là cặp key-value, truy cập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it-&gt;first</a:t>
            </a:r>
            <a:r>
              <a:rPr sz="2000" b="0">
                <a:solidFill>
                  <a:srgbClr val="222B38"/>
                </a:solidFill>
                <a:latin typeface="Calibri"/>
              </a:rPr>
              <a:t>/</a:t>
            </a:r>
            <a:r>
              <a:rPr sz="1900" b="0">
                <a:solidFill>
                  <a:srgbClr val="3598DB"/>
                </a:solidFill>
                <a:latin typeface="Consolas"/>
              </a:rPr>
              <a:t>it-&gt;second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begin()</a:t>
            </a:r>
            <a:r>
              <a:rPr sz="2000" b="0">
                <a:solidFill>
                  <a:srgbClr val="222B38"/>
                </a:solidFill>
                <a:latin typeface="Calibri"/>
              </a:rPr>
              <a:t>/</a:t>
            </a:r>
            <a:r>
              <a:rPr sz="1900" b="0">
                <a:solidFill>
                  <a:srgbClr val="3598DB"/>
                </a:solidFill>
                <a:latin typeface="Consolas"/>
              </a:rPr>
              <a:t>rbegin()</a:t>
            </a:r>
            <a:r>
              <a:rPr sz="2000" b="0">
                <a:solidFill>
                  <a:srgbClr val="222B38"/>
                </a:solidFill>
                <a:latin typeface="Calibri"/>
              </a:rPr>
              <a:t> trỏ tới phần tử đầu/cuối theo thứ tự key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Cũng chỉ hỗ trợ </a:t>
            </a:r>
            <a:r>
              <a:rPr sz="1900" b="0">
                <a:solidFill>
                  <a:srgbClr val="3598DB"/>
                </a:solidFill>
                <a:latin typeface="Consolas"/>
              </a:rPr>
              <a:t>++</a:t>
            </a:r>
            <a:r>
              <a:rPr sz="2000" b="0">
                <a:solidFill>
                  <a:srgbClr val="222B38"/>
                </a:solidFill>
                <a:latin typeface="Calibri"/>
              </a:rPr>
              <a:t>/</a:t>
            </a:r>
            <a:r>
              <a:rPr sz="1900" b="0">
                <a:solidFill>
                  <a:srgbClr val="3598DB"/>
                </a:solidFill>
                <a:latin typeface="Consolas"/>
              </a:rPr>
              <a:t>--</a:t>
            </a:r>
            <a:r>
              <a:rPr sz="2000" b="0">
                <a:solidFill>
                  <a:srgbClr val="222B38"/>
                </a:solidFill>
                <a:latin typeface="Calibri"/>
              </a:rPr>
              <a:t>, không có </a:t>
            </a:r>
            <a:r>
              <a:rPr sz="1900" b="0">
                <a:solidFill>
                  <a:srgbClr val="3598DB"/>
                </a:solidFill>
                <a:latin typeface="Consolas"/>
              </a:rPr>
              <a:t>+=</a:t>
            </a:r>
            <a:r>
              <a:rPr sz="2000" b="0">
                <a:solidFill>
                  <a:srgbClr val="222B38"/>
                </a:solidFill>
                <a:latin typeface="Calibri"/>
              </a:rPr>
              <a:t>/</a:t>
            </a:r>
            <a:r>
              <a:rPr sz="1900" b="0">
                <a:solidFill>
                  <a:srgbClr val="3598DB"/>
                </a:solidFill>
                <a:latin typeface="Consolas"/>
              </a:rPr>
              <a:t>-=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0128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4759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map&lt;int,int&gt; 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mp[1]=2; mp[2]=3; mp[3]=4; mp[4]=5;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it1 = mp.begin();   // it1-&gt;first=1, it1-&gt;second=2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it2 = mp.rbegin();  // it2-&gt;first=4, it2-&gt;second=5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for(auto it = mp.begin(); it != mp.end(); it++)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it-&gt;first &lt;&lt; " " &lt;&lt; it-&gt;second;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Iterator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Iterator = con trỏ tổng quát cho mọi container STL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end()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rend()</a:t>
            </a:r>
            <a:r>
              <a:rPr sz="1800" b="0">
                <a:solidFill>
                  <a:srgbClr val="222B38"/>
                </a:solidFill>
                <a:latin typeface="Calibri"/>
              </a:rPr>
              <a:t> là vị trí </a:t>
            </a:r>
            <a:r>
              <a:rPr sz="1800" b="1">
                <a:solidFill>
                  <a:srgbClr val="222B38"/>
                </a:solidFill>
                <a:latin typeface="Calibri"/>
              </a:rPr>
              <a:t>ảo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không giải tham chiếu được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Vector cho phép </a:t>
            </a:r>
            <a:r>
              <a:rPr sz="1709" b="0">
                <a:solidFill>
                  <a:srgbClr val="3598DB"/>
                </a:solidFill>
                <a:latin typeface="Consolas"/>
              </a:rPr>
              <a:t>+=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-=</a:t>
            </a:r>
            <a:r>
              <a:rPr sz="1800" b="0">
                <a:solidFill>
                  <a:srgbClr val="222B38"/>
                </a:solidFill>
                <a:latin typeface="Calibri"/>
              </a:rPr>
              <a:t>, set/map chỉ cho </a:t>
            </a:r>
            <a:r>
              <a:rPr sz="1709" b="0">
                <a:solidFill>
                  <a:srgbClr val="3598DB"/>
                </a:solidFill>
                <a:latin typeface="Consolas"/>
              </a:rPr>
              <a:t>++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--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Nên 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auto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tránh viết kiểu iterator dài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