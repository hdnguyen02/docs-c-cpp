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" y="2331720"/>
            <a:ext cx="91440" cy="566928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94560"/>
            <a:ext cx="9692640" cy="2377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Các Hàm Thông Dụng Của Lớp Vector</a:t>
            </a:r>
          </a:p>
          <a:p>
            <a:pPr>
              <a:spcBef>
                <a:spcPts val="1400"/>
              </a:spcBef>
            </a:pPr>
            <a:r>
              <a:rPr sz="1800" b="0">
                <a:solidFill>
                  <a:srgbClr val="3598DB"/>
                </a:solidFill>
                <a:latin typeface="Calibri"/>
              </a:rPr>
              <a:t>STL C++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Nhóm hàm truy cập phần tử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Các Hàm Thông Dụng Của Lớp Vector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036419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900" b="0">
                <a:solidFill>
                  <a:srgbClr val="3598DB"/>
                </a:solidFill>
                <a:latin typeface="Consolas"/>
              </a:rPr>
              <a:t>[]</a:t>
            </a:r>
            <a:r>
              <a:rPr sz="2000" b="0">
                <a:solidFill>
                  <a:srgbClr val="222B38"/>
                </a:solidFill>
                <a:latin typeface="Calibri"/>
              </a:rPr>
              <a:t> và </a:t>
            </a:r>
            <a:r>
              <a:rPr sz="1900" b="0">
                <a:solidFill>
                  <a:srgbClr val="3598DB"/>
                </a:solidFill>
                <a:latin typeface="Consolas"/>
              </a:rPr>
              <a:t>at(index)</a:t>
            </a:r>
            <a:r>
              <a:rPr sz="2000" b="0">
                <a:solidFill>
                  <a:srgbClr val="222B38"/>
                </a:solidFill>
                <a:latin typeface="Calibri"/>
              </a:rPr>
              <a:t>: truy cập qua chỉ số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900" b="0">
                <a:solidFill>
                  <a:srgbClr val="3598DB"/>
                </a:solidFill>
                <a:latin typeface="Consolas"/>
              </a:rPr>
              <a:t>front()</a:t>
            </a:r>
            <a:r>
              <a:rPr sz="2000" b="0">
                <a:solidFill>
                  <a:srgbClr val="222B38"/>
                </a:solidFill>
                <a:latin typeface="Calibri"/>
              </a:rPr>
              <a:t>: phần tử </a:t>
            </a:r>
            <a:r>
              <a:rPr sz="2000" b="1">
                <a:solidFill>
                  <a:srgbClr val="222B38"/>
                </a:solidFill>
                <a:latin typeface="Calibri"/>
              </a:rPr>
              <a:t>đầu tiên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900" b="0">
                <a:solidFill>
                  <a:srgbClr val="3598DB"/>
                </a:solidFill>
                <a:latin typeface="Consolas"/>
              </a:rPr>
              <a:t>back()</a:t>
            </a:r>
            <a:r>
              <a:rPr sz="2000" b="0">
                <a:solidFill>
                  <a:srgbClr val="222B38"/>
                </a:solidFill>
                <a:latin typeface="Calibri"/>
              </a:rPr>
              <a:t>: phần tử </a:t>
            </a:r>
            <a:r>
              <a:rPr sz="2000" b="1">
                <a:solidFill>
                  <a:srgbClr val="222B38"/>
                </a:solidFill>
                <a:latin typeface="Calibri"/>
              </a:rPr>
              <a:t>cuối cùng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804259"/>
            <a:ext cx="10765231" cy="1519936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950563"/>
            <a:ext cx="10362895" cy="12273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vector&lt;int&gt; v = {100,200,300,400,500};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for(int i = 0; i &lt; 5; i++) cout &lt;&lt; v.at(i);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cout &lt;&lt; v.front();  // 100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cout &lt;&lt; v.back();   // 500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Nhóm hàm kích thước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Các Hàm Thông Dụng Của Lớp Vector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70108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9" b="0">
                <a:solidFill>
                  <a:srgbClr val="3598DB"/>
                </a:solidFill>
                <a:latin typeface="Consolas"/>
              </a:rPr>
              <a:t>size()</a:t>
            </a:r>
            <a:r>
              <a:rPr sz="1800" b="0">
                <a:solidFill>
                  <a:srgbClr val="222B38"/>
                </a:solidFill>
                <a:latin typeface="Calibri"/>
              </a:rPr>
              <a:t>: số phần tử hiện có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9" b="0">
                <a:solidFill>
                  <a:srgbClr val="3598DB"/>
                </a:solidFill>
                <a:latin typeface="Consolas"/>
              </a:rPr>
              <a:t>empty()</a:t>
            </a:r>
            <a:r>
              <a:rPr sz="1800" b="0">
                <a:solidFill>
                  <a:srgbClr val="222B38"/>
                </a:solidFill>
                <a:latin typeface="Calibri"/>
              </a:rPr>
              <a:t>: kiểm tra rỗng, trả </a:t>
            </a:r>
            <a:r>
              <a:rPr sz="1709" b="0">
                <a:solidFill>
                  <a:srgbClr val="3598DB"/>
                </a:solidFill>
                <a:latin typeface="Consolas"/>
              </a:rPr>
              <a:t>true</a:t>
            </a:r>
            <a:r>
              <a:rPr sz="1800" b="0">
                <a:solidFill>
                  <a:srgbClr val="222B38"/>
                </a:solidFill>
                <a:latin typeface="Calibri"/>
              </a:rPr>
              <a:t>/</a:t>
            </a:r>
            <a:r>
              <a:rPr sz="1709" b="0">
                <a:solidFill>
                  <a:srgbClr val="3598DB"/>
                </a:solidFill>
                <a:latin typeface="Consolas"/>
              </a:rPr>
              <a:t>false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9" b="0">
                <a:solidFill>
                  <a:srgbClr val="3598DB"/>
                </a:solidFill>
                <a:latin typeface="Consolas"/>
              </a:rPr>
              <a:t>max_size()</a:t>
            </a:r>
            <a:r>
              <a:rPr sz="1800" b="0">
                <a:solidFill>
                  <a:srgbClr val="222B38"/>
                </a:solidFill>
                <a:latin typeface="Calibri"/>
              </a:rPr>
              <a:t>: kích thước tối đa </a:t>
            </a:r>
            <a:r>
              <a:rPr sz="1800" b="1">
                <a:solidFill>
                  <a:srgbClr val="222B38"/>
                </a:solidFill>
                <a:latin typeface="Calibri"/>
              </a:rPr>
              <a:t>lý thuyết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9" b="0">
                <a:solidFill>
                  <a:srgbClr val="3598DB"/>
                </a:solidFill>
                <a:latin typeface="Consolas"/>
              </a:rPr>
              <a:t>resize()</a:t>
            </a:r>
            <a:r>
              <a:rPr sz="1800" b="0">
                <a:solidFill>
                  <a:srgbClr val="222B38"/>
                </a:solidFill>
                <a:latin typeface="Calibri"/>
              </a:rPr>
              <a:t>: thay đổi kích thước vector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849928"/>
            <a:ext cx="10765231" cy="2097024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996232"/>
            <a:ext cx="10362895" cy="18044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vector&lt;int&gt; v = {100,200,300,400,500};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cout &lt;&lt; v.size();      // 5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cout &lt;&lt; v.max_size();  // rat lon, chi la ly thuyet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v.resize(3);           // {100,200,300}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v.resize(0);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cout &lt;&lt; boolalpha &lt;&lt; v.empty(); // true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Thêm/xóa ở cuối — O(1)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Các Hàm Thông Dụng Của Lớp Vector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935429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900" b="0">
                <a:solidFill>
                  <a:srgbClr val="3598DB"/>
                </a:solidFill>
                <a:latin typeface="Consolas"/>
              </a:rPr>
              <a:t>push_back()</a:t>
            </a:r>
            <a:r>
              <a:rPr sz="2000" b="0">
                <a:solidFill>
                  <a:srgbClr val="222B38"/>
                </a:solidFill>
                <a:latin typeface="Calibri"/>
              </a:rPr>
              <a:t>/</a:t>
            </a:r>
            <a:r>
              <a:rPr sz="1900" b="0">
                <a:solidFill>
                  <a:srgbClr val="3598DB"/>
                </a:solidFill>
                <a:latin typeface="Consolas"/>
              </a:rPr>
              <a:t>emplace_back()</a:t>
            </a:r>
            <a:r>
              <a:rPr sz="2000" b="0">
                <a:solidFill>
                  <a:srgbClr val="222B38"/>
                </a:solidFill>
                <a:latin typeface="Calibri"/>
              </a:rPr>
              <a:t>: thêm phần tử vào cuối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900" b="0">
                <a:solidFill>
                  <a:srgbClr val="3598DB"/>
                </a:solidFill>
                <a:latin typeface="Consolas"/>
              </a:rPr>
              <a:t>pop_back()</a:t>
            </a:r>
            <a:r>
              <a:rPr sz="2000" b="0">
                <a:solidFill>
                  <a:srgbClr val="222B38"/>
                </a:solidFill>
                <a:latin typeface="Calibri"/>
              </a:rPr>
              <a:t>: xóa phần tử cuối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1">
                <a:solidFill>
                  <a:srgbClr val="222B38"/>
                </a:solidFill>
                <a:latin typeface="Calibri"/>
              </a:rPr>
              <a:t>Lưu ý</a:t>
            </a:r>
            <a:r>
              <a:rPr sz="2000" b="0">
                <a:solidFill>
                  <a:srgbClr val="222B38"/>
                </a:solidFill>
                <a:latin typeface="Calibri"/>
              </a:rPr>
              <a:t>: </a:t>
            </a:r>
            <a:r>
              <a:rPr sz="1900" b="0">
                <a:solidFill>
                  <a:srgbClr val="3598DB"/>
                </a:solidFill>
                <a:latin typeface="Consolas"/>
              </a:rPr>
              <a:t>pop_back()</a:t>
            </a:r>
            <a:r>
              <a:rPr sz="2000" b="0">
                <a:solidFill>
                  <a:srgbClr val="222B38"/>
                </a:solidFill>
                <a:latin typeface="Calibri"/>
              </a:rPr>
              <a:t> khi vector rỗng sẽ gây lỗi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703269"/>
            <a:ext cx="10765231" cy="1808480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849573"/>
            <a:ext cx="10362895" cy="15158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vector&lt;int&gt; v = {1,2,3};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v.push_back(4); v.emplace_back(5); v.push_back(6);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{1,2,3,4,5,6}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v.pop_back();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{1,2,3,4,5}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Chèn/xóa tại vị trí bất kỳ — O(N)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Các Hàm Thông Dụng Của Lớp Vector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834438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900" b="0">
                <a:solidFill>
                  <a:srgbClr val="3598DB"/>
                </a:solidFill>
                <a:latin typeface="Consolas"/>
              </a:rPr>
              <a:t>insert(iterator, value)</a:t>
            </a:r>
            <a:r>
              <a:rPr sz="2000" b="0">
                <a:solidFill>
                  <a:srgbClr val="222B38"/>
                </a:solidFill>
                <a:latin typeface="Calibri"/>
              </a:rPr>
              <a:t>: chèn qua iterator, ví dụ </a:t>
            </a:r>
            <a:r>
              <a:rPr sz="1900" b="0">
                <a:solidFill>
                  <a:srgbClr val="3598DB"/>
                </a:solidFill>
                <a:latin typeface="Consolas"/>
              </a:rPr>
              <a:t>v.begin()+3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900" b="0">
                <a:solidFill>
                  <a:srgbClr val="3598DB"/>
                </a:solidFill>
                <a:latin typeface="Consolas"/>
              </a:rPr>
              <a:t>erase(iterator)</a:t>
            </a:r>
            <a:r>
              <a:rPr sz="2000" b="0">
                <a:solidFill>
                  <a:srgbClr val="222B38"/>
                </a:solidFill>
                <a:latin typeface="Calibri"/>
              </a:rPr>
              <a:t>: xóa phần tử tại vị trí iterator trỏ tới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Cả hai đều làm dịch chuyển phần tử phía sau nên chậm hơn thao tác ở cuối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602278"/>
            <a:ext cx="10765231" cy="2097024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748582"/>
            <a:ext cx="10362895" cy="18044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vector&lt;int&gt; v = {1,2,3,4,5};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v.insert(v.begin()+3, 28);  // {1,2,3,28,4,5}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v.insert(v.begin(), 1000);  // {1000,1,2,3,28,4,5}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v.erase(v.begin()+3);   // xoa theo chi so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v.erase(v.begin());     // xoa dau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Xóa toàn bộ, gán lại, hoán đổi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Các Hàm Thông Dụng Của Lớp Vector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60009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9" b="0">
                <a:solidFill>
                  <a:srgbClr val="3598DB"/>
                </a:solidFill>
                <a:latin typeface="Consolas"/>
              </a:rPr>
              <a:t>clear()</a:t>
            </a:r>
            <a:r>
              <a:rPr sz="1800" b="0">
                <a:solidFill>
                  <a:srgbClr val="222B38"/>
                </a:solidFill>
                <a:latin typeface="Calibri"/>
              </a:rPr>
              <a:t>: xóa hết phần tử, vector thành rỗng — O(N)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9" b="0">
                <a:solidFill>
                  <a:srgbClr val="3598DB"/>
                </a:solidFill>
                <a:latin typeface="Consolas"/>
              </a:rPr>
              <a:t>assign(n, val)</a:t>
            </a:r>
            <a:r>
              <a:rPr sz="1800" b="0">
                <a:solidFill>
                  <a:srgbClr val="222B38"/>
                </a:solidFill>
                <a:latin typeface="Calibri"/>
              </a:rPr>
              <a:t>: gán lại toàn bộ nội dung vector — O(N)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9" b="0">
                <a:solidFill>
                  <a:srgbClr val="3598DB"/>
                </a:solidFill>
                <a:latin typeface="Consolas"/>
              </a:rPr>
              <a:t>assign(first, last)</a:t>
            </a:r>
            <a:r>
              <a:rPr sz="1800" b="0">
                <a:solidFill>
                  <a:srgbClr val="222B38"/>
                </a:solidFill>
                <a:latin typeface="Calibri"/>
              </a:rPr>
              <a:t>: gán từ dải iterator của vector khác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9" b="0">
                <a:solidFill>
                  <a:srgbClr val="3598DB"/>
                </a:solidFill>
                <a:latin typeface="Consolas"/>
              </a:rPr>
              <a:t>swap()</a:t>
            </a:r>
            <a:r>
              <a:rPr sz="1800" b="0">
                <a:solidFill>
                  <a:srgbClr val="222B38"/>
                </a:solidFill>
                <a:latin typeface="Calibri"/>
              </a:rPr>
              <a:t>: hoán đổi nội dung 2 vector — O(N)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748938"/>
            <a:ext cx="10765231" cy="2385567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895242"/>
            <a:ext cx="10362895" cy="20929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vector&lt;int&gt; v = {1,2,3,4,5};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v.clear();  // rong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v1.assign(5, 28);              // 5 phan tu = 28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v2.assign(v1.begin(), v1.begin()+3); // 3 phan tu dau cua v1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v1.swap(v2); // hoan doi noi dung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Ghi nhớ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Các Hàm Thông Dụng Của Lớp Vector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Truy cập đầu/cuối/</a:t>
            </a:r>
            <a:r>
              <a:rPr sz="1709" b="0">
                <a:solidFill>
                  <a:srgbClr val="3598DB"/>
                </a:solidFill>
                <a:latin typeface="Consolas"/>
              </a:rPr>
              <a:t>[]</a:t>
            </a:r>
            <a:r>
              <a:rPr sz="1800" b="0">
                <a:solidFill>
                  <a:srgbClr val="222B38"/>
                </a:solidFill>
                <a:latin typeface="Calibri"/>
              </a:rPr>
              <a:t>: O(1); chèn/xóa </a:t>
            </a:r>
            <a:r>
              <a:rPr sz="1800" b="1">
                <a:solidFill>
                  <a:srgbClr val="222B38"/>
                </a:solidFill>
                <a:latin typeface="Calibri"/>
              </a:rPr>
              <a:t>giữa</a:t>
            </a:r>
            <a:r>
              <a:rPr sz="1800" b="0">
                <a:solidFill>
                  <a:srgbClr val="222B38"/>
                </a:solidFill>
                <a:latin typeface="Calibri"/>
              </a:rPr>
              <a:t> vector: O(N)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9" b="0">
                <a:solidFill>
                  <a:srgbClr val="3598DB"/>
                </a:solidFill>
                <a:latin typeface="Consolas"/>
              </a:rPr>
              <a:t>push_back</a:t>
            </a:r>
            <a:r>
              <a:rPr sz="1800" b="0">
                <a:solidFill>
                  <a:srgbClr val="222B38"/>
                </a:solidFill>
                <a:latin typeface="Calibri"/>
              </a:rPr>
              <a:t>/</a:t>
            </a:r>
            <a:r>
              <a:rPr sz="1709" b="0">
                <a:solidFill>
                  <a:srgbClr val="3598DB"/>
                </a:solidFill>
                <a:latin typeface="Consolas"/>
              </a:rPr>
              <a:t>pop_back</a:t>
            </a:r>
            <a:r>
              <a:rPr sz="1800" b="0">
                <a:solidFill>
                  <a:srgbClr val="222B38"/>
                </a:solidFill>
                <a:latin typeface="Calibri"/>
              </a:rPr>
              <a:t> luôn rẻ hơn </a:t>
            </a:r>
            <a:r>
              <a:rPr sz="1709" b="0">
                <a:solidFill>
                  <a:srgbClr val="3598DB"/>
                </a:solidFill>
                <a:latin typeface="Consolas"/>
              </a:rPr>
              <a:t>insert</a:t>
            </a:r>
            <a:r>
              <a:rPr sz="1800" b="0">
                <a:solidFill>
                  <a:srgbClr val="222B38"/>
                </a:solidFill>
                <a:latin typeface="Calibri"/>
              </a:rPr>
              <a:t>/</a:t>
            </a:r>
            <a:r>
              <a:rPr sz="1709" b="0">
                <a:solidFill>
                  <a:srgbClr val="3598DB"/>
                </a:solidFill>
                <a:latin typeface="Consolas"/>
              </a:rPr>
              <a:t>erase</a:t>
            </a:r>
            <a:r>
              <a:rPr sz="1800" b="0">
                <a:solidFill>
                  <a:srgbClr val="222B38"/>
                </a:solidFill>
                <a:latin typeface="Calibri"/>
              </a:rPr>
              <a:t> ở giữa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9" b="0">
                <a:solidFill>
                  <a:srgbClr val="3598DB"/>
                </a:solidFill>
                <a:latin typeface="Consolas"/>
              </a:rPr>
              <a:t>insert()</a:t>
            </a:r>
            <a:r>
              <a:rPr sz="1800" b="0">
                <a:solidFill>
                  <a:srgbClr val="222B38"/>
                </a:solidFill>
                <a:latin typeface="Calibri"/>
              </a:rPr>
              <a:t>/</a:t>
            </a:r>
            <a:r>
              <a:rPr sz="1709" b="0">
                <a:solidFill>
                  <a:srgbClr val="3598DB"/>
                </a:solidFill>
                <a:latin typeface="Consolas"/>
              </a:rPr>
              <a:t>erase()</a:t>
            </a:r>
            <a:r>
              <a:rPr sz="1800" b="0">
                <a:solidFill>
                  <a:srgbClr val="222B38"/>
                </a:solidFill>
                <a:latin typeface="Calibri"/>
              </a:rPr>
              <a:t>/</a:t>
            </a:r>
            <a:r>
              <a:rPr sz="1709" b="0">
                <a:solidFill>
                  <a:srgbClr val="3598DB"/>
                </a:solidFill>
                <a:latin typeface="Consolas"/>
              </a:rPr>
              <a:t>assign()</a:t>
            </a:r>
            <a:r>
              <a:rPr sz="1800" b="0">
                <a:solidFill>
                  <a:srgbClr val="222B38"/>
                </a:solidFill>
                <a:latin typeface="Calibri"/>
              </a:rPr>
              <a:t> thao tác qua </a:t>
            </a:r>
            <a:r>
              <a:rPr sz="1800" b="1">
                <a:solidFill>
                  <a:srgbClr val="222B38"/>
                </a:solidFill>
                <a:latin typeface="Calibri"/>
              </a:rPr>
              <a:t>iterator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9" b="0">
                <a:solidFill>
                  <a:srgbClr val="3598DB"/>
                </a:solidFill>
                <a:latin typeface="Consolas"/>
              </a:rPr>
              <a:t>max_size()</a:t>
            </a:r>
            <a:r>
              <a:rPr sz="1800" b="0">
                <a:solidFill>
                  <a:srgbClr val="222B38"/>
                </a:solidFill>
                <a:latin typeface="Calibri"/>
              </a:rPr>
              <a:t> chỉ mang tính lý thuyết, giới hạn thực tế do bộ nhớ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