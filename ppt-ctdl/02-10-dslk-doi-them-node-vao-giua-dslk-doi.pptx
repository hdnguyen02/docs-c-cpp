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Thêm Node Vào Giữa DSLK Đôi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CTDL &amp; Giải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Vấn đề: thêm node vào vị trí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Giữa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Vị trí hợp lệ: từ </a:t>
            </a:r>
            <a:r>
              <a:rPr sz="2000" b="1">
                <a:solidFill>
                  <a:srgbClr val="222B38"/>
                </a:solidFill>
                <a:latin typeface="Calibri"/>
              </a:rPr>
              <a:t>1 đến n+1</a:t>
            </a:r>
            <a:r>
              <a:rPr sz="2000" b="0">
                <a:solidFill>
                  <a:srgbClr val="222B38"/>
                </a:solidFill>
                <a:latin typeface="Calibri"/>
              </a:rPr>
              <a:t> (n = số node hiện có)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Chèn vào vị trí n+1 tương đương </a:t>
            </a:r>
            <a:r>
              <a:rPr sz="2000" b="1">
                <a:solidFill>
                  <a:srgbClr val="222B38"/>
                </a:solidFill>
                <a:latin typeface="Calibri"/>
              </a:rPr>
              <a:t>thêm vào cuối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đôi: từ node K có thể quay lại K-1 qua </a:t>
            </a:r>
            <a:r>
              <a:rPr sz="1900" b="0">
                <a:solidFill>
                  <a:srgbClr val="3598DB"/>
                </a:solidFill>
                <a:latin typeface="Consolas"/>
              </a:rPr>
              <a:t>prev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bước thêm vào vị trí K (K &gt;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Giữa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0505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tới node thứ </a:t>
            </a:r>
            <a:r>
              <a:rPr sz="1800" b="1">
                <a:solidFill>
                  <a:srgbClr val="222B38"/>
                </a:solidFill>
                <a:latin typeface="Calibri"/>
              </a:rPr>
              <a:t>K</a:t>
            </a:r>
            <a:r>
              <a:rPr sz="1800" b="0">
                <a:solidFill>
                  <a:srgbClr val="222B38"/>
                </a:solidFill>
                <a:latin typeface="Calibri"/>
              </a:rPr>
              <a:t> (</a:t>
            </a:r>
            <a:r>
              <a:rPr sz="1709" b="0">
                <a:solidFill>
                  <a:srgbClr val="3598DB"/>
                </a:solidFill>
                <a:latin typeface="Consolas"/>
              </a:rPr>
              <a:t>tmp</a:t>
            </a:r>
            <a:r>
              <a:rPr sz="18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Cho </a:t>
            </a:r>
            <a:r>
              <a:rPr sz="1709" b="0">
                <a:solidFill>
                  <a:srgbClr val="3598DB"/>
                </a:solidFill>
                <a:latin typeface="Consolas"/>
              </a:rPr>
              <a:t>newNode-&gt;next = tmp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Nối K-1 với </a:t>
            </a:r>
            <a:r>
              <a:rPr sz="1709" b="0">
                <a:solidFill>
                  <a:srgbClr val="3598DB"/>
                </a:solidFill>
                <a:latin typeface="Consolas"/>
              </a:rPr>
              <a:t>newNode</a:t>
            </a:r>
            <a:r>
              <a:rPr sz="1800" b="0">
                <a:solidFill>
                  <a:srgbClr val="222B38"/>
                </a:solidFill>
                <a:latin typeface="Calibri"/>
              </a:rPr>
              <a:t>: </a:t>
            </a:r>
            <a:r>
              <a:rPr sz="1709" b="0">
                <a:solidFill>
                  <a:srgbClr val="3598DB"/>
                </a:solidFill>
                <a:latin typeface="Consolas"/>
              </a:rPr>
              <a:t>tmp-&gt;prev-&gt;next = newNode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newNode-&gt;prev = tmp-&gt;prev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Cho </a:t>
            </a:r>
            <a:r>
              <a:rPr sz="1709" b="0">
                <a:solidFill>
                  <a:srgbClr val="3598DB"/>
                </a:solidFill>
                <a:latin typeface="Consolas"/>
              </a:rPr>
              <a:t>tmp-&gt;prev = newNode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253890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00194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Truoc:  1 &lt;-&gt; 2 &lt;-&gt; 3 &lt;-&gt; NULL   (chen x vao k=2)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Sau:    1 &lt;-&gt; x &lt;-&gt; 2 &lt;-&gt; 3 &lt;-&gt; NULL   // tmp=2, newNode=x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hàm </a:t>
            </a:r>
            <a:r>
              <a:rPr sz="2565" b="1">
                <a:solidFill>
                  <a:srgbClr val="3598DB"/>
                </a:solidFill>
                <a:latin typeface="Consolas"/>
              </a:rPr>
              <a:t>themgiua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Giữa DSLK Đôi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45259"/>
            <a:ext cx="10765231" cy="440537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91563"/>
            <a:ext cx="10362895" cy="41127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themgiua(node **head, int x, int k){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n = len(*head);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if(k &lt; 1 || k &gt; n + 1) return;      // vi tri khong hop le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*newNode = makeNode(x);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if(k == 1){                         // khong co node k-1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newNode-&gt;next = *head;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if(*head) (*head)-&gt;prev = newNode;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*head = newNode; return;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*tmp = *head;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1; i &lt;= k - 1; i++) tmp = tmp-&gt;next;  // toi node 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newNode-&gt;next = tmp; tmp-&gt;prev-&gt;next = newNode;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newNode-&gt;prev = tmp-&gt;prev; tmp-&gt;prev = newNode;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k=1 phải tách riêng?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Giữa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Chèn vào K cần nối với node </a:t>
            </a:r>
            <a:r>
              <a:rPr sz="2000" b="1">
                <a:solidFill>
                  <a:srgbClr val="222B38"/>
                </a:solidFill>
                <a:latin typeface="Calibri"/>
              </a:rPr>
              <a:t>K-1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K=1 không có node thứ 0 để lấy </a:t>
            </a:r>
            <a:r>
              <a:rPr sz="1900" b="0">
                <a:solidFill>
                  <a:srgbClr val="3598DB"/>
                </a:solidFill>
                <a:latin typeface="Consolas"/>
              </a:rPr>
              <a:t>prev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Xử lý như </a:t>
            </a:r>
            <a:r>
              <a:rPr sz="2000" b="1">
                <a:solidFill>
                  <a:srgbClr val="222B38"/>
                </a:solidFill>
                <a:latin typeface="Calibri"/>
              </a:rPr>
              <a:t>thêm vào đầu</a:t>
            </a:r>
            <a:r>
              <a:rPr sz="2000" b="0">
                <a:solidFill>
                  <a:srgbClr val="222B38"/>
                </a:solidFill>
                <a:latin typeface="Calibri"/>
              </a:rPr>
              <a:t>: cập nhật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Quản lý bằng head và tail: điểm khác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Giữa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DSLK rỗng và </a:t>
            </a:r>
            <a:r>
              <a:rPr sz="1709" b="0">
                <a:solidFill>
                  <a:srgbClr val="3598DB"/>
                </a:solidFill>
                <a:latin typeface="Consolas"/>
              </a:rPr>
              <a:t>k==1</a:t>
            </a:r>
            <a:r>
              <a:rPr sz="1800" b="0">
                <a:solidFill>
                  <a:srgbClr val="222B38"/>
                </a:solidFill>
                <a:latin typeface="Calibri"/>
              </a:rPr>
              <a:t>: gán thẳng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 = tail = newNode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Chèn vào cuối cùng (K = n+1): sau khi nối phải </a:t>
            </a:r>
            <a:r>
              <a:rPr sz="1800" b="1">
                <a:solidFill>
                  <a:srgbClr val="222B38"/>
                </a:solidFill>
                <a:latin typeface="Calibri"/>
              </a:rPr>
              <a:t>cập nhật tail = newNode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 vị trí giữa khác: không đụng tới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Trường hợp đặc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Giữa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Vị trí không hợp lệ (</a:t>
            </a:r>
            <a:r>
              <a:rPr sz="1709" b="0">
                <a:solidFill>
                  <a:srgbClr val="3598DB"/>
                </a:solidFill>
                <a:latin typeface="Consolas"/>
              </a:rPr>
              <a:t>k &lt; 1</a:t>
            </a:r>
            <a:r>
              <a:rPr sz="1800" b="0">
                <a:solidFill>
                  <a:srgbClr val="222B38"/>
                </a:solidFill>
                <a:latin typeface="Calibri"/>
              </a:rPr>
              <a:t> hoặc </a:t>
            </a:r>
            <a:r>
              <a:rPr sz="1709" b="0">
                <a:solidFill>
                  <a:srgbClr val="3598DB"/>
                </a:solidFill>
                <a:latin typeface="Consolas"/>
              </a:rPr>
              <a:t>k &gt; n+1</a:t>
            </a:r>
            <a:r>
              <a:rPr sz="1800" b="0">
                <a:solidFill>
                  <a:srgbClr val="222B38"/>
                </a:solidFill>
                <a:latin typeface="Calibri"/>
              </a:rPr>
              <a:t>): báo lỗi, không chèn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DSLK rỗng: chỉ </a:t>
            </a:r>
            <a:r>
              <a:rPr sz="1709" b="0">
                <a:solidFill>
                  <a:srgbClr val="3598DB"/>
                </a:solidFill>
                <a:latin typeface="Consolas"/>
              </a:rPr>
              <a:t>k = 1</a:t>
            </a:r>
            <a:r>
              <a:rPr sz="1800" b="0">
                <a:solidFill>
                  <a:srgbClr val="222B38"/>
                </a:solidFill>
                <a:latin typeface="Calibri"/>
              </a:rPr>
              <a:t> hợp lệ,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 = tail = newNode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Chèn ở vị trí cuối (</a:t>
            </a:r>
            <a:r>
              <a:rPr sz="1709" b="0">
                <a:solidFill>
                  <a:srgbClr val="3598DB"/>
                </a:solidFill>
                <a:latin typeface="Consolas"/>
              </a:rPr>
              <a:t>k = n+1</a:t>
            </a:r>
            <a:r>
              <a:rPr sz="1800" b="0">
                <a:solidFill>
                  <a:srgbClr val="222B38"/>
                </a:solidFill>
                <a:latin typeface="Calibri"/>
              </a:rPr>
              <a:t>): tương đương thêm cuối, nhớ cập nhật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Giữa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Chèn K: nối </a:t>
            </a:r>
            <a:r>
              <a:rPr sz="1709" b="0">
                <a:solidFill>
                  <a:srgbClr val="3598DB"/>
                </a:solidFill>
                <a:latin typeface="Consolas"/>
              </a:rPr>
              <a:t>newNode</a:t>
            </a:r>
            <a:r>
              <a:rPr sz="1800" b="0">
                <a:solidFill>
                  <a:srgbClr val="222B38"/>
                </a:solidFill>
                <a:latin typeface="Calibri"/>
              </a:rPr>
              <a:t> với cả K-1 và K — 4 liên kết cập nhật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K=1 không có node trước → xử lý như thêm đầu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Vị trí hợp lệ luôn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1 đến n+1</a:t>
            </a:r>
            <a:r>
              <a:rPr sz="1800" b="0">
                <a:solidFill>
                  <a:srgbClr val="222B38"/>
                </a:solidFill>
                <a:latin typeface="Calibri"/>
              </a:rPr>
              <a:t>, kiểm tra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len()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</a:t>
            </a:r>
            <a:r>
              <a:rPr sz="1800" b="0">
                <a:solidFill>
                  <a:srgbClr val="222B38"/>
                </a:solidFill>
                <a:latin typeface="Calibri"/>
              </a:rPr>
              <a:t>: chỉ cập nhật khi chèn đúng vào vị trí cuối cùng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