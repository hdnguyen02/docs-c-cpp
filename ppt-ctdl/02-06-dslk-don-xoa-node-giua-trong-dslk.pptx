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Xóa Node Giữa Trong DSLK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CTDL &amp; Giải Thuật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Vấn đề: xóa node ở vị trí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Xóa node thứ K cần nối node </a:t>
            </a:r>
            <a:r>
              <a:rPr sz="2000" b="1">
                <a:solidFill>
                  <a:srgbClr val="222B38"/>
                </a:solidFill>
                <a:latin typeface="Calibri"/>
              </a:rPr>
              <a:t>K-1</a:t>
            </a:r>
            <a:r>
              <a:rPr sz="2000" b="0">
                <a:solidFill>
                  <a:srgbClr val="222B38"/>
                </a:solidFill>
                <a:latin typeface="Calibri"/>
              </a:rPr>
              <a:t> với node </a:t>
            </a:r>
            <a:r>
              <a:rPr sz="2000" b="1">
                <a:solidFill>
                  <a:srgbClr val="222B38"/>
                </a:solidFill>
                <a:latin typeface="Calibri"/>
              </a:rPr>
              <a:t>K+1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duyệt từ đầu tới K-1 vì DSLK đơn không lùi được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 = 1 là trường hợp đặc biệt: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có node thứ 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Các bước xóa node giữa (quản lý bằng head)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05050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Duyệt tới node </a:t>
            </a:r>
            <a:r>
              <a:rPr sz="1800" b="1">
                <a:solidFill>
                  <a:srgbClr val="222B38"/>
                </a:solidFill>
                <a:latin typeface="Calibri"/>
              </a:rPr>
              <a:t>K-1</a:t>
            </a:r>
            <a:r>
              <a:rPr sz="1800" b="0">
                <a:solidFill>
                  <a:srgbClr val="222B38"/>
                </a:solidFill>
                <a:latin typeface="Calibri"/>
              </a:rPr>
              <a:t> (</a:t>
            </a:r>
            <a:r>
              <a:rPr sz="1709" b="0">
                <a:solidFill>
                  <a:srgbClr val="3598DB"/>
                </a:solidFill>
                <a:latin typeface="Consolas"/>
              </a:rPr>
              <a:t>tmp</a:t>
            </a:r>
            <a:r>
              <a:rPr sz="1800" b="0">
                <a:solidFill>
                  <a:srgbClr val="222B38"/>
                </a:solidFill>
                <a:latin typeface="Calibri"/>
              </a:rPr>
              <a:t>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Lưu lại node K: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delNode = tmp-&gt;next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Nối K-1 với K+1: </a:t>
            </a:r>
            <a:r>
              <a:rPr sz="1709" b="0">
                <a:solidFill>
                  <a:srgbClr val="3598DB"/>
                </a:solidFill>
                <a:latin typeface="Consolas"/>
              </a:rPr>
              <a:t>tmp-&gt;next = delNode-&gt;next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1709" b="0">
                <a:solidFill>
                  <a:srgbClr val="3598DB"/>
                </a:solidFill>
                <a:latin typeface="Consolas"/>
              </a:rPr>
              <a:t>delNode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253890"/>
            <a:ext cx="10765231" cy="94284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00194"/>
            <a:ext cx="10362895" cy="650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Truoc:  1 -&gt; 2 -&gt; 3 -&gt; 4 -&gt; NULL   (xoa vi tri k=3)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Sau:    1 -&gt; 2 -&gt; 4 -&gt; NULL        // tmp=2, delNode=3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Cài đặt hàm </a:t>
            </a:r>
            <a:r>
              <a:rPr sz="2565" b="1">
                <a:solidFill>
                  <a:srgbClr val="3598DB"/>
                </a:solidFill>
                <a:latin typeface="Consolas"/>
              </a:rPr>
              <a:t>xoagiua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049221"/>
            <a:ext cx="10765231" cy="325120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5525"/>
            <a:ext cx="10362895" cy="2958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void xoagiua(node **head, int k){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&lt; 1 || k &gt; len(*head)) return;  // vi tri khong hop le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if(k == 1){ xoadau(head); return; }  // k=1: khong co node k-1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*tmp = *head;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for(int i = 1; i &lt;= k - 2;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    tmp = tmp-&gt;next;                 // toi node k-1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node *delNode = tmp-&gt;next;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tmp-&gt;next = delNode-&gt;next;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free(delNode);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k=1 phải tách riêng?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Xóa node K cần có node </a:t>
            </a:r>
            <a:r>
              <a:rPr sz="2000" b="1">
                <a:solidFill>
                  <a:srgbClr val="222B38"/>
                </a:solidFill>
                <a:latin typeface="Calibri"/>
              </a:rPr>
              <a:t>K-1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nối lại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K=1 là node đầu tiên, không tồn tại node thứ 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Xử lý bằng cách gọi lại </a:t>
            </a:r>
            <a:r>
              <a:rPr sz="1900" b="0">
                <a:solidFill>
                  <a:srgbClr val="3598DB"/>
                </a:solidFill>
                <a:latin typeface="Consolas"/>
              </a:rPr>
              <a:t>xoadau(head)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Quản lý bằng head và tail: điểm khác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Kiểm tra vị trí hợp lệ qua </a:t>
            </a:r>
            <a:r>
              <a:rPr sz="1900" b="0">
                <a:solidFill>
                  <a:srgbClr val="3598DB"/>
                </a:solidFill>
                <a:latin typeface="Consolas"/>
              </a:rPr>
              <a:t>len(LIST)</a:t>
            </a:r>
            <a:r>
              <a:rPr sz="2000" b="0">
                <a:solidFill>
                  <a:srgbClr val="222B38"/>
                </a:solidFill>
                <a:latin typeface="Calibri"/>
              </a:rPr>
              <a:t> thay vì </a:t>
            </a:r>
            <a:r>
              <a:rPr sz="1900" b="0">
                <a:solidFill>
                  <a:srgbClr val="3598DB"/>
                </a:solidFill>
                <a:latin typeface="Consolas"/>
              </a:rPr>
              <a:t>len(node*)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Nếu node K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node cuối</a:t>
            </a:r>
            <a:r>
              <a:rPr sz="2000" b="0">
                <a:solidFill>
                  <a:srgbClr val="222B38"/>
                </a:solidFill>
                <a:latin typeface="Calibri"/>
              </a:rPr>
              <a:t> thì phải </a:t>
            </a:r>
            <a:r>
              <a:rPr sz="2000" b="1">
                <a:solidFill>
                  <a:srgbClr val="222B38"/>
                </a:solidFill>
                <a:latin typeface="Calibri"/>
              </a:rPr>
              <a:t>cập nhật tail = tmp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Xóa ở đầu (</a:t>
            </a:r>
            <a:r>
              <a:rPr sz="1900" b="0">
                <a:solidFill>
                  <a:srgbClr val="3598DB"/>
                </a:solidFill>
                <a:latin typeface="Consolas"/>
              </a:rPr>
              <a:t>k==1</a:t>
            </a:r>
            <a:r>
              <a:rPr sz="2000" b="0">
                <a:solidFill>
                  <a:srgbClr val="222B38"/>
                </a:solidFill>
                <a:latin typeface="Calibri"/>
              </a:rPr>
              <a:t>) gọi </a:t>
            </a:r>
            <a:r>
              <a:rPr sz="1900" b="0">
                <a:solidFill>
                  <a:srgbClr val="3598DB"/>
                </a:solidFill>
                <a:latin typeface="Consolas"/>
              </a:rPr>
              <a:t>xoadau(l)</a:t>
            </a:r>
            <a:r>
              <a:rPr sz="2000" b="0">
                <a:solidFill>
                  <a:srgbClr val="222B38"/>
                </a:solidFill>
                <a:latin typeface="Calibri"/>
              </a:rPr>
              <a:t>, hàm tự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Trường hợp đặc biệt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Vị trí không hợp lệ (</a:t>
            </a:r>
            <a:r>
              <a:rPr sz="1900" b="0">
                <a:solidFill>
                  <a:srgbClr val="3598DB"/>
                </a:solidFill>
                <a:latin typeface="Consolas"/>
              </a:rPr>
              <a:t>k &lt; 1</a:t>
            </a:r>
            <a:r>
              <a:rPr sz="2000" b="0">
                <a:solidFill>
                  <a:srgbClr val="222B38"/>
                </a:solidFill>
                <a:latin typeface="Calibri"/>
              </a:rPr>
              <a:t> hoặc </a:t>
            </a:r>
            <a:r>
              <a:rPr sz="1900" b="0">
                <a:solidFill>
                  <a:srgbClr val="3598DB"/>
                </a:solidFill>
                <a:latin typeface="Consolas"/>
              </a:rPr>
              <a:t>k &gt; len</a:t>
            </a:r>
            <a:r>
              <a:rPr sz="2000" b="0">
                <a:solidFill>
                  <a:srgbClr val="222B38"/>
                </a:solidFill>
                <a:latin typeface="Calibri"/>
              </a:rPr>
              <a:t>): return, không xóa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DSLK chỉ có 1 node: chỉ hợp lệ </a:t>
            </a:r>
            <a:r>
              <a:rPr sz="1900" b="0">
                <a:solidFill>
                  <a:srgbClr val="3598DB"/>
                </a:solidFill>
                <a:latin typeface="Consolas"/>
              </a:rPr>
              <a:t>k = 1</a:t>
            </a:r>
            <a:r>
              <a:rPr sz="2000" b="0">
                <a:solidFill>
                  <a:srgbClr val="222B38"/>
                </a:solidFill>
                <a:latin typeface="Calibri"/>
              </a:rPr>
              <a:t>, tương đương xóa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Xóa đúng vị trí cuối: cần cập nhật </a:t>
            </a:r>
            <a:r>
              <a:rPr sz="1900" b="0">
                <a:solidFill>
                  <a:srgbClr val="3598DB"/>
                </a:solidFill>
                <a:latin typeface="Consolas"/>
              </a:rPr>
              <a:t>tail</a:t>
            </a:r>
            <a:r>
              <a:rPr sz="2000" b="0">
                <a:solidFill>
                  <a:srgbClr val="222B38"/>
                </a:solidFill>
                <a:latin typeface="Calibri"/>
              </a:rPr>
              <a:t> nếu dùng head+tail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Giải phóng bộ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Node K bị tách khỏi danh sách sau khi nối K-1 với K+1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Phải </a:t>
            </a:r>
            <a:r>
              <a:rPr sz="1900" b="0">
                <a:solidFill>
                  <a:srgbClr val="3598DB"/>
                </a:solidFill>
                <a:latin typeface="Consolas"/>
              </a:rPr>
              <a:t>free</a:t>
            </a:r>
            <a:r>
              <a:rPr sz="2000" b="0">
                <a:solidFill>
                  <a:srgbClr val="222B38"/>
                </a:solidFill>
                <a:latin typeface="Calibri"/>
              </a:rPr>
              <a:t>/</a:t>
            </a:r>
            <a:r>
              <a:rPr sz="1900" b="0">
                <a:solidFill>
                  <a:srgbClr val="3598DB"/>
                </a:solidFill>
                <a:latin typeface="Consolas"/>
              </a:rPr>
              <a:t>delete</a:t>
            </a:r>
            <a:r>
              <a:rPr sz="2000" b="0">
                <a:solidFill>
                  <a:srgbClr val="222B38"/>
                </a:solidFill>
                <a:latin typeface="Calibri"/>
              </a:rPr>
              <a:t> </a:t>
            </a:r>
            <a:r>
              <a:rPr sz="1900" b="0">
                <a:solidFill>
                  <a:srgbClr val="3598DB"/>
                </a:solidFill>
                <a:latin typeface="Consolas"/>
              </a:rPr>
              <a:t>delNode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tránh rò rỉ bộ nhớ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Giải phóng </a:t>
            </a:r>
            <a:r>
              <a:rPr sz="2000" b="1">
                <a:solidFill>
                  <a:srgbClr val="222B38"/>
                </a:solidFill>
                <a:latin typeface="Calibri"/>
              </a:rPr>
              <a:t>sau khi</a:t>
            </a:r>
            <a:r>
              <a:rPr sz="2000" b="0">
                <a:solidFill>
                  <a:srgbClr val="222B38"/>
                </a:solidFill>
                <a:latin typeface="Calibri"/>
              </a:rPr>
              <a:t> đã nối lại liên kết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Xóa Node Giữa Trong DSLK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Xóa giữa = nối K-1 với K+1, rồi giải phóng node K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k == 1</a:t>
            </a:r>
            <a:r>
              <a:rPr sz="1800" b="0">
                <a:solidFill>
                  <a:srgbClr val="222B38"/>
                </a:solidFill>
                <a:latin typeface="Calibri"/>
              </a:rPr>
              <a:t> không có node K-1 → xử lý như xóa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Luôn kiểm tra vị trí hợp lệ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len()</a:t>
            </a:r>
            <a:r>
              <a:rPr sz="1800" b="0">
                <a:solidFill>
                  <a:srgbClr val="222B38"/>
                </a:solidFill>
                <a:latin typeface="Calibri"/>
              </a:rPr>
              <a:t> trước khi xóa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tail</a:t>
            </a:r>
            <a:r>
              <a:rPr sz="1800" b="0">
                <a:solidFill>
                  <a:srgbClr val="222B38"/>
                </a:solidFill>
                <a:latin typeface="Calibri"/>
              </a:rPr>
              <a:t>: cập nhật khi node xóa là node cuối cùng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