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Giữa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chèn node vào vị trí thứ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node mới vào vị trí thứ </a:t>
            </a:r>
            <a:r>
              <a:rPr sz="2000" b="1">
                <a:solidFill>
                  <a:srgbClr val="222B38"/>
                </a:solidFill>
                <a:latin typeface="Calibri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DSLK đang có N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Vị trí hợp lệ: 1 ≤ K ≤ N + 1 (K = N+1 tương đương thêm vào cuối)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Ngoài phạm vi này thì báo </a:t>
            </a:r>
            <a:r>
              <a:rPr sz="2000" b="1">
                <a:solidFill>
                  <a:srgbClr val="222B38"/>
                </a:solidFill>
                <a:latin typeface="Calibri"/>
              </a:rPr>
              <a:t>vị trí chèn không hợp lệ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node vào giữa — chú ý thứ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Thứ tự bắt buộc khi chèn vào vị trí K (K &gt; 1):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1. Duyệt tmp tới node thứ K - 1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2. newNode-&gt;next = tmp-&gt;next   (nối trước khi đổi tmp-&gt;next)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3. tmp-&gt;next = newNode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Đảo bước 2, 3 sẽ làm mất toàn bộ phần đuôi phía sau vị trí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 = 1</a:t>
            </a:r>
            <a:r>
              <a:rPr sz="2000" b="0">
                <a:solidFill>
                  <a:srgbClr val="222B38"/>
                </a:solidFill>
                <a:latin typeface="Calibri"/>
              </a:rPr>
              <a:t>: DSLK không có node thứ 0 → xử lý như </a:t>
            </a:r>
            <a:r>
              <a:rPr sz="2000" b="1">
                <a:solidFill>
                  <a:srgbClr val="222B38"/>
                </a:solidFill>
                <a:latin typeface="Calibri"/>
              </a:rPr>
              <a:t>thêm node vào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 &lt; 1 hoặc K &gt; N + 1</a:t>
            </a:r>
            <a:r>
              <a:rPr sz="2000" b="0">
                <a:solidFill>
                  <a:srgbClr val="222B38"/>
                </a:solidFill>
                <a:latin typeface="Calibri"/>
              </a:rPr>
              <a:t>: vị trí không hợp lệ, báo lỗi và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len()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đếm số node để kiểm tra hợp lệ trước khi chèn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1: con trỏ tới con trỏ /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themgiua(node **head, int x,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n = len(*head);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n + 1){ printf("Khong hop le\n"); return;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makeNode(x);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1){ themdau(head, x); return;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k - 1; i++) tmp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2: hàm trả về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8864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Bắt buộc gán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themgiua(head, x, k)</a:t>
            </a:r>
            <a:r>
              <a:rPr sz="2000" b="0">
                <a:solidFill>
                  <a:srgbClr val="222B38"/>
                </a:solidFill>
                <a:latin typeface="Calibri"/>
              </a:rPr>
              <a:t> ở nơi gọi hàm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3032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662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node* themgiua(node *head, int x,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n = len(head);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n + 1) return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makeNode(x);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 return themdau(head,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k - 1; i++) tmp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cách 3: quản lý bằng head và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8864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Chèn tại K = N + 1 (vào cuối) phải cập nhật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3032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662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themgiua(LIST *l, int x,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n = len(l-&gt;head);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n + 1) return;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makeNode(x);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1){ themdau(l, x); return;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l-&gt;head;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k - 1; i++) tmp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if(tmp-&gt;next == NULL) l-&gt;tail = newNode;   // chèn vào cuối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duyệt tới node thứ K - 1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trường hợp xấu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Nhanh hơn nếu K nhỏ (vị trí gần đầu danh sách)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Giữa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Vị trí hợp lệ: 1 ≤ K ≤ N + 1, ngoài khoảng này phải báo lỗi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 = 1 là trường hợp đặc biệt, xử lý như thêm node vào đầu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Thứ tự bắt buộc: </a:t>
            </a:r>
            <a:r>
              <a:rPr sz="1614" b="0">
                <a:solidFill>
                  <a:srgbClr val="3598DB"/>
                </a:solidFill>
                <a:latin typeface="Consolas"/>
              </a:rPr>
              <a:t>newNode-&gt;next = tmp-&gt;next</a:t>
            </a:r>
            <a:r>
              <a:rPr sz="1700" b="0">
                <a:solidFill>
                  <a:srgbClr val="222B38"/>
                </a:solidFill>
                <a:latin typeface="Calibri"/>
              </a:rPr>
              <a:t> trước, rồi mới </a:t>
            </a:r>
            <a:r>
              <a:rPr sz="1614" b="0">
                <a:solidFill>
                  <a:srgbClr val="3598DB"/>
                </a:solidFill>
                <a:latin typeface="Consolas"/>
              </a:rPr>
              <a:t>tmp-&gt;next = newNode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Chèn vào cuối (K = N+1) khi có </a:t>
            </a:r>
            <a:r>
              <a:rPr sz="1614" b="0">
                <a:solidFill>
                  <a:srgbClr val="3598DB"/>
                </a:solidFill>
                <a:latin typeface="Consolas"/>
              </a:rPr>
              <a:t>tail</a:t>
            </a:r>
            <a:r>
              <a:rPr sz="1700" b="0">
                <a:solidFill>
                  <a:srgbClr val="222B38"/>
                </a:solidFill>
                <a:latin typeface="Calibri"/>
              </a:rPr>
              <a:t>: nhớ cập nhật lại </a:t>
            </a:r>
            <a:r>
              <a:rPr sz="1614" b="0">
                <a:solidFill>
                  <a:srgbClr val="3598DB"/>
                </a:solidFill>
                <a:latin typeface="Consolas"/>
              </a:rPr>
              <a:t>tail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Độ phức tạp O(N) do phải duyệt tìm vị trí chèn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