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Xóa Node Giữa Trong DSLK Đôi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xóa node ở vị trí K trong DSLK đôi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Nhờ có </a:t>
            </a:r>
            <a:r>
              <a:rPr sz="1900" b="0">
                <a:solidFill>
                  <a:srgbClr val="3598DB"/>
                </a:solidFill>
                <a:latin typeface="Consolas"/>
              </a:rPr>
              <a:t>prev</a:t>
            </a:r>
            <a:r>
              <a:rPr sz="2000" b="0">
                <a:solidFill>
                  <a:srgbClr val="222B38"/>
                </a:solidFill>
                <a:latin typeface="Calibri"/>
              </a:rPr>
              <a:t>, chỉ cần duyệt tới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đúng node K</a:t>
            </a:r>
            <a:r>
              <a:rPr sz="2000" b="0">
                <a:solidFill>
                  <a:srgbClr val="222B38"/>
                </a:solidFill>
                <a:latin typeface="Calibri"/>
              </a:rPr>
              <a:t> (không cần K-1)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Nối K-1 với K+1 </a:t>
            </a:r>
            <a:r>
              <a:rPr sz="2000" b="1">
                <a:solidFill>
                  <a:srgbClr val="222B38"/>
                </a:solidFill>
                <a:latin typeface="Calibri"/>
              </a:rPr>
              <a:t>theo cả 2 chiều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1900" b="0">
                <a:solidFill>
                  <a:srgbClr val="3598DB"/>
                </a:solidFill>
                <a:latin typeface="Consolas"/>
              </a:rPr>
              <a:t>next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prev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 = 1 vẫn là trường hợp đặc biệt như DSLK đơn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xóa node giữa (K &gt;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505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tới node </a:t>
            </a:r>
            <a:r>
              <a:rPr sz="1800" b="1">
                <a:solidFill>
                  <a:srgbClr val="222B38"/>
                </a:solidFill>
                <a:latin typeface="Calibri"/>
              </a:rPr>
              <a:t>K</a:t>
            </a:r>
            <a:r>
              <a:rPr sz="1800" b="0">
                <a:solidFill>
                  <a:srgbClr val="222B38"/>
                </a:solidFill>
                <a:latin typeface="Calibri"/>
              </a:rPr>
              <a:t> (</a:t>
            </a:r>
            <a:r>
              <a:rPr sz="1709" b="0">
                <a:solidFill>
                  <a:srgbClr val="3598DB"/>
                </a:solidFill>
                <a:latin typeface="Consolas"/>
              </a:rPr>
              <a:t>tmp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Cho K-1 trỏ tới K+1: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tmp-&gt;prev-&gt;next = tmp-&gt;next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Cho K+1 trỏ ngược về K-1: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tmp-&gt;next-&gt;prev = tmp-&gt;prev</a:t>
            </a:r>
            <a:r>
              <a:rPr sz="1800" b="0">
                <a:solidFill>
                  <a:srgbClr val="222B38"/>
                </a:solidFill>
                <a:latin typeface="Calibri"/>
              </a:rPr>
              <a:t> (nếu K+1 tồn tại)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Giải phóng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53890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00194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Truoc:  1 &lt;-&gt; 2 &lt;-&gt; 3 &lt;-&gt; 4 &lt;-&gt; NULL  (xoa k=3)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Sau:    1 &lt;-&gt; 2 &lt;-&gt; 4 &lt;-&gt; NULL        // noi 2 va 4 ca 2 chieu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xoagiua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 Đôi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48230"/>
            <a:ext cx="10765231" cy="353974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94534"/>
            <a:ext cx="10362895" cy="32471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xoagiua(node **head, int k){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&lt; 1 || k &gt; len(*head)) return;  // vi tri khong hop 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== 1){ xoadau(head); return; }  // k=1: khong co node k-1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*tmp = *head;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&lt;= k - 1;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tmp = tmp-&gt;next;                 // toi dung node 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tmp-&gt;prev-&gt;next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if(tmp-&gt;next != NULL)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tmp-&gt;next-&gt;prev = tmp-&gt;prev;     // K+1 co ton tai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free(tmp);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So với DSLK đơn: khác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đơn phải duyệt tới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K-1</a:t>
            </a:r>
            <a:r>
              <a:rPr sz="2000" b="0">
                <a:solidFill>
                  <a:srgbClr val="222B38"/>
                </a:solidFill>
                <a:latin typeface="Calibri"/>
              </a:rPr>
              <a:t> vì không lùi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đôi duyệt thẳng tới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K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prev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nối ngược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Thêm 1 bước: cập nhật </a:t>
            </a:r>
            <a:r>
              <a:rPr sz="1900" b="0">
                <a:solidFill>
                  <a:srgbClr val="3598DB"/>
                </a:solidFill>
                <a:latin typeface="Consolas"/>
              </a:rPr>
              <a:t>next-&gt;prev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node K+1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Quản lý bằng head và tail: điểm khác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Vẫn duyệt tới node K và nối 2 chiều như cách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Nếu K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node cuối</a:t>
            </a:r>
            <a:r>
              <a:rPr sz="1800" b="0">
                <a:solidFill>
                  <a:srgbClr val="222B38"/>
                </a:solidFill>
                <a:latin typeface="Calibri"/>
              </a:rPr>
              <a:t> (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tmp-&gt;next == NULL</a:t>
            </a:r>
            <a:r>
              <a:rPr sz="1800" b="0">
                <a:solidFill>
                  <a:srgbClr val="222B38"/>
                </a:solidFill>
                <a:latin typeface="Calibri"/>
              </a:rPr>
              <a:t>): phải </a:t>
            </a:r>
            <a:r>
              <a:rPr sz="1800" b="1">
                <a:solidFill>
                  <a:srgbClr val="222B38"/>
                </a:solidFill>
                <a:latin typeface="Calibri"/>
              </a:rPr>
              <a:t>cập nhật tail = tmp-&gt;prev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ở đầu (</a:t>
            </a:r>
            <a:r>
              <a:rPr sz="1709" b="0">
                <a:solidFill>
                  <a:srgbClr val="3598DB"/>
                </a:solidFill>
                <a:latin typeface="Consolas"/>
              </a:rPr>
              <a:t>k==1</a:t>
            </a:r>
            <a:r>
              <a:rPr sz="1800" b="0">
                <a:solidFill>
                  <a:srgbClr val="222B38"/>
                </a:solidFill>
                <a:latin typeface="Calibri"/>
              </a:rPr>
              <a:t>) gọi </a:t>
            </a:r>
            <a:r>
              <a:rPr sz="1709" b="0">
                <a:solidFill>
                  <a:srgbClr val="3598DB"/>
                </a:solidFill>
                <a:latin typeface="Consolas"/>
              </a:rPr>
              <a:t>xoadau(l)</a:t>
            </a:r>
            <a:r>
              <a:rPr sz="1800" b="0">
                <a:solidFill>
                  <a:srgbClr val="222B38"/>
                </a:solidFill>
                <a:latin typeface="Calibri"/>
              </a:rPr>
              <a:t>, hàm tự xử lý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Vị trí không hợp lệ (</a:t>
            </a:r>
            <a:r>
              <a:rPr sz="1900" b="0">
                <a:solidFill>
                  <a:srgbClr val="3598DB"/>
                </a:solidFill>
                <a:latin typeface="Consolas"/>
              </a:rPr>
              <a:t>k &lt; 1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1900" b="0">
                <a:solidFill>
                  <a:srgbClr val="3598DB"/>
                </a:solidFill>
                <a:latin typeface="Consolas"/>
              </a:rPr>
              <a:t>k &gt; len</a:t>
            </a:r>
            <a:r>
              <a:rPr sz="2000" b="0">
                <a:solidFill>
                  <a:srgbClr val="222B38"/>
                </a:solidFill>
                <a:latin typeface="Calibri"/>
              </a:rPr>
              <a:t>): return, không xóa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chỉ có 1 node: chỉ hợp lệ </a:t>
            </a:r>
            <a:r>
              <a:rPr sz="1900" b="0">
                <a:solidFill>
                  <a:srgbClr val="3598DB"/>
                </a:solidFill>
                <a:latin typeface="Consolas"/>
              </a:rPr>
              <a:t>k = 1</a:t>
            </a:r>
            <a:r>
              <a:rPr sz="2000" b="0">
                <a:solidFill>
                  <a:srgbClr val="222B38"/>
                </a:solidFill>
                <a:latin typeface="Calibri"/>
              </a:rPr>
              <a:t>, tương đương xóa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Xóa đúng node cuối: cần cập nhật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dùng head+tail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Giải phóng bộ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Node K bị tách khỏi danh sách sau khi nối K-1 với K+1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</a:t>
            </a:r>
            <a:r>
              <a:rPr sz="2000" b="0">
                <a:solidFill>
                  <a:srgbClr val="222B38"/>
                </a:solidFill>
                <a:latin typeface="Calibri"/>
              </a:rPr>
              <a:t> node đó để tránh rò rỉ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phóng </a:t>
            </a:r>
            <a:r>
              <a:rPr sz="2000" b="1">
                <a:solidFill>
                  <a:srgbClr val="222B38"/>
                </a:solidFill>
                <a:latin typeface="Calibri"/>
              </a:rPr>
              <a:t>sau khi</a:t>
            </a:r>
            <a:r>
              <a:rPr sz="2000" b="0">
                <a:solidFill>
                  <a:srgbClr val="222B38"/>
                </a:solidFill>
                <a:latin typeface="Calibri"/>
              </a:rPr>
              <a:t> đã nối lại cả 2 chiều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đôi xóa giữa: duyệt tới đúng K, nối K-1 và K+1 </a:t>
            </a:r>
            <a:r>
              <a:rPr sz="1800" b="1">
                <a:solidFill>
                  <a:srgbClr val="222B38"/>
                </a:solidFill>
                <a:latin typeface="Calibri"/>
              </a:rPr>
              <a:t>2 chiều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k == 1</a:t>
            </a:r>
            <a:r>
              <a:rPr sz="1800" b="0">
                <a:solidFill>
                  <a:srgbClr val="222B38"/>
                </a:solidFill>
                <a:latin typeface="Calibri"/>
              </a:rPr>
              <a:t> không có node trước → xử lý như xóa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kiểm tra vị trí hợp lệ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len()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 khi xóa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: cập nhật khi node xóa là node cuối cùng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