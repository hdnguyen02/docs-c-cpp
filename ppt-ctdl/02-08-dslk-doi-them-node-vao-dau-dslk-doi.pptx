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Thêm Node Vào Đầu DSLK Đôi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đề: thêm node vào đầu DSLK đôi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DSLK đôi có thêm con trỏ </a:t>
            </a:r>
            <a:r>
              <a:rPr sz="1800" b="1">
                <a:solidFill>
                  <a:srgbClr val="222B38"/>
                </a:solidFill>
                <a:latin typeface="Calibri"/>
              </a:rPr>
              <a:t>prev</a:t>
            </a:r>
            <a:r>
              <a:rPr sz="1800" b="0">
                <a:solidFill>
                  <a:srgbClr val="222B38"/>
                </a:solidFill>
                <a:latin typeface="Calibri"/>
              </a:rPr>
              <a:t> trỏ về node trước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Thêm node mới vào đầu phải cập nhật </a:t>
            </a:r>
            <a:r>
              <a:rPr sz="1800" b="1">
                <a:solidFill>
                  <a:srgbClr val="222B38"/>
                </a:solidFill>
                <a:latin typeface="Calibri"/>
              </a:rPr>
              <a:t>cả next và prev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3 cách cài đặt: con trỏ-tới-con trỏ, hàm trả về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</a:t>
            </a:r>
            <a:r>
              <a:rPr sz="1800" b="0">
                <a:solidFill>
                  <a:srgbClr val="222B38"/>
                </a:solidFill>
                <a:latin typeface="Calibri"/>
              </a:rPr>
              <a:t>,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</a:t>
            </a:r>
            <a:r>
              <a:rPr sz="1800" b="0">
                <a:solidFill>
                  <a:srgbClr val="222B38"/>
                </a:solidFill>
                <a:latin typeface="Calibri"/>
              </a:rPr>
              <a:t>+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bước thêm vào đầu (cách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0406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Cấp phát </a:t>
            </a:r>
            <a:r>
              <a:rPr sz="1709" b="0">
                <a:solidFill>
                  <a:srgbClr val="3598DB"/>
                </a:solidFill>
                <a:latin typeface="Consolas"/>
              </a:rPr>
              <a:t>newNode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next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prev</a:t>
            </a:r>
            <a:r>
              <a:rPr sz="1800" b="0">
                <a:solidFill>
                  <a:srgbClr val="222B38"/>
                </a:solidFill>
                <a:latin typeface="Calibri"/>
              </a:rPr>
              <a:t> = </a:t>
            </a:r>
            <a:r>
              <a:rPr sz="1709" b="0">
                <a:solidFill>
                  <a:srgbClr val="3598DB"/>
                </a:solidFill>
                <a:latin typeface="Consolas"/>
              </a:rPr>
              <a:t>NULL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Cho </a:t>
            </a:r>
            <a:r>
              <a:rPr sz="1709" b="0">
                <a:solidFill>
                  <a:srgbClr val="3598DB"/>
                </a:solidFill>
                <a:latin typeface="Consolas"/>
              </a:rPr>
              <a:t>newNode-&gt;next = head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Nếu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 != NULL</a:t>
            </a:r>
            <a:r>
              <a:rPr sz="1800" b="0">
                <a:solidFill>
                  <a:srgbClr val="222B38"/>
                </a:solidFill>
                <a:latin typeface="Calibri"/>
              </a:rPr>
              <a:t>: cho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head-&gt;prev = newNode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Cập nhật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 = newNode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152900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9204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Truoc:  1 &lt;-&gt; 2 &lt;-&gt; 3 &lt;-&gt; NULL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Them node 0 vao dau: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Sau:    0 &lt;-&gt; 1 &lt;-&gt; 2 &lt;-&gt; 3 &lt;-&gt; NULL   // newNode=0, head=0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themdau</a:t>
            </a:r>
            <a:r>
              <a:rPr sz="2700" b="1">
                <a:solidFill>
                  <a:srgbClr val="142B45"/>
                </a:solidFill>
                <a:latin typeface="Calibri"/>
              </a:rPr>
              <a:t> (con trỏ tới con trỏ)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 Đôi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150211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96515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themdau(node **head,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*newNode = (node*)malloc(sizeof(node));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newNode-&gt;data = x;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newNode-&gt;next = newNode-&gt;prev = NULL;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newNode-&gt;next = (*head);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if(*head != NULL)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(*head)-&gt;prev = newNode;      // tro nguoc lai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(*head) = newNode;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Cách 2 và cách 3: điểm khác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Cách 2</a:t>
            </a:r>
            <a:r>
              <a:rPr sz="1800" b="0">
                <a:solidFill>
                  <a:srgbClr val="222B38"/>
                </a:solidFill>
                <a:latin typeface="Calibri"/>
              </a:rPr>
              <a:t>: hàm </a:t>
            </a:r>
            <a:r>
              <a:rPr sz="1709" b="0">
                <a:solidFill>
                  <a:srgbClr val="3598DB"/>
                </a:solidFill>
                <a:latin typeface="Consolas"/>
              </a:rPr>
              <a:t>themdau</a:t>
            </a:r>
            <a:r>
              <a:rPr sz="1800" b="0">
                <a:solidFill>
                  <a:srgbClr val="222B38"/>
                </a:solidFill>
                <a:latin typeface="Calibri"/>
              </a:rPr>
              <a:t> trả về </a:t>
            </a:r>
            <a:r>
              <a:rPr sz="1709" b="0">
                <a:solidFill>
                  <a:srgbClr val="3598DB"/>
                </a:solidFill>
                <a:latin typeface="Consolas"/>
              </a:rPr>
              <a:t>node*</a:t>
            </a:r>
            <a:r>
              <a:rPr sz="1800" b="0">
                <a:solidFill>
                  <a:srgbClr val="222B38"/>
                </a:solidFill>
                <a:latin typeface="Calibri"/>
              </a:rPr>
              <a:t>, gọi phải gán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 = themdau(...)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Cách 3</a:t>
            </a:r>
            <a:r>
              <a:rPr sz="1800" b="0">
                <a:solidFill>
                  <a:srgbClr val="222B38"/>
                </a:solidFill>
                <a:latin typeface="Calibri"/>
              </a:rPr>
              <a:t>: quản lý bằng struct </a:t>
            </a:r>
            <a:r>
              <a:rPr sz="1709" b="0">
                <a:solidFill>
                  <a:srgbClr val="3598DB"/>
                </a:solidFill>
                <a:latin typeface="Consolas"/>
              </a:rPr>
              <a:t>LIST{head, tail}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DSLK rỗng: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 = tail = newNode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DSLK có node: nối như cách 1, rồi cập nhật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phải kiểm tra head != NULL trước khi gán prev?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Nếu DSLK đang rỗng,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NULL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Gọi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head-&gt;prev</a:t>
            </a:r>
            <a:r>
              <a:rPr sz="2000" b="0">
                <a:solidFill>
                  <a:srgbClr val="222B38"/>
                </a:solidFill>
                <a:latin typeface="Calibri"/>
              </a:rPr>
              <a:t> trên con trỏ </a:t>
            </a:r>
            <a:r>
              <a:rPr sz="1900" b="0">
                <a:solidFill>
                  <a:srgbClr val="3598DB"/>
                </a:solidFill>
                <a:latin typeface="Consolas"/>
              </a:rPr>
              <a:t>NULL</a:t>
            </a:r>
            <a:r>
              <a:rPr sz="2000" b="0">
                <a:solidFill>
                  <a:srgbClr val="222B38"/>
                </a:solidFill>
                <a:latin typeface="Calibri"/>
              </a:rPr>
              <a:t> gây lỗi truy cập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Phải kiểm tra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!= NULL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 khi gán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head-&gt;prev = newNode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Trường hợp đặc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rỗng: không có node nào để trỏ </a:t>
            </a:r>
            <a:r>
              <a:rPr sz="1900" b="0">
                <a:solidFill>
                  <a:srgbClr val="3598DB"/>
                </a:solidFill>
                <a:latin typeface="Consolas"/>
              </a:rPr>
              <a:t>prev</a:t>
            </a:r>
            <a:r>
              <a:rPr sz="2000" b="0">
                <a:solidFill>
                  <a:srgbClr val="222B38"/>
                </a:solidFill>
                <a:latin typeface="Calibri"/>
              </a:rPr>
              <a:t> ngược lại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3 (head+tail): DSLK rỗng thì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 tail = newNode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Luôn là thêm vào đầu nên không có vị trí không hợp lệ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Thêm vào đầu DSLK đôi: cập nhật </a:t>
            </a:r>
            <a:r>
              <a:rPr sz="1709" b="0">
                <a:solidFill>
                  <a:srgbClr val="3598DB"/>
                </a:solidFill>
                <a:latin typeface="Consolas"/>
              </a:rPr>
              <a:t>next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node mới </a:t>
            </a:r>
            <a:r>
              <a:rPr sz="1800" b="1">
                <a:solidFill>
                  <a:srgbClr val="222B38"/>
                </a:solidFill>
                <a:latin typeface="Calibri"/>
              </a:rPr>
              <a:t>và</a:t>
            </a:r>
            <a:r>
              <a:rPr sz="1800" b="0">
                <a:solidFill>
                  <a:srgbClr val="222B38"/>
                </a:solidFill>
                <a:latin typeface="Calibri"/>
              </a:rPr>
              <a:t> </a:t>
            </a:r>
            <a:r>
              <a:rPr sz="1709" b="0">
                <a:solidFill>
                  <a:srgbClr val="3598DB"/>
                </a:solidFill>
                <a:latin typeface="Consolas"/>
              </a:rPr>
              <a:t>prev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node cũ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kiểm tra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 != NULL</a:t>
            </a:r>
            <a:r>
              <a:rPr sz="1800" b="0">
                <a:solidFill>
                  <a:srgbClr val="222B38"/>
                </a:solidFill>
                <a:latin typeface="Calibri"/>
              </a:rPr>
              <a:t> trước khi gán </a:t>
            </a:r>
            <a:r>
              <a:rPr sz="1709" b="0">
                <a:solidFill>
                  <a:srgbClr val="3598DB"/>
                </a:solidFill>
                <a:latin typeface="Consolas"/>
              </a:rPr>
              <a:t>prev</a:t>
            </a:r>
            <a:r>
              <a:rPr sz="1800" b="0">
                <a:solidFill>
                  <a:srgbClr val="222B38"/>
                </a:solidFill>
                <a:latin typeface="Calibri"/>
              </a:rPr>
              <a:t> ngược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3 cách cài đặt (con trỏ kép / tham chiếu / trả về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</a:t>
            </a:r>
            <a:r>
              <a:rPr sz="1800" b="0">
                <a:solidFill>
                  <a:srgbClr val="222B38"/>
                </a:solidFill>
                <a:latin typeface="Calibri"/>
              </a:rPr>
              <a:t>) tương đương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</a:t>
            </a:r>
            <a:r>
              <a:rPr sz="1800" b="0">
                <a:solidFill>
                  <a:srgbClr val="222B38"/>
                </a:solidFill>
                <a:latin typeface="Calibri"/>
              </a:rPr>
              <a:t>+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  <a:r>
              <a:rPr sz="1800" b="0">
                <a:solidFill>
                  <a:srgbClr val="222B38"/>
                </a:solidFill>
                <a:latin typeface="Calibri"/>
              </a:rPr>
              <a:t>: xử lý riêng khi DSLK đang rỗng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