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Thêm Node Vào Đầu DSLK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thêm node vào đầu DSLK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Chèn một phần tử mới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node 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danh sách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mới trở thành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mới, trỏ tới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cũ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con trỏ tới con trỏ / tham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biến con trỏ; truyền vào hàm theo kiểu thường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pass by value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chỉ sửa được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 node</a:t>
            </a:r>
            <a:r>
              <a:rPr sz="1800" b="0">
                <a:solidFill>
                  <a:srgbClr val="222B38"/>
                </a:solidFill>
                <a:latin typeface="Calibri"/>
              </a:rPr>
              <a:t> qua con trỏ, không sửa được bản thân biến con trỏ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đổi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khi hàm kết thúc: dùng con trỏ tới con trỏ (</a:t>
            </a:r>
            <a:r>
              <a:rPr sz="1709" b="0">
                <a:solidFill>
                  <a:srgbClr val="3598DB"/>
                </a:solidFill>
                <a:latin typeface="Consolas"/>
              </a:rPr>
              <a:t>node**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Hoặc dùng tham chiếu tới con trỏ (</a:t>
            </a:r>
            <a:r>
              <a:rPr sz="1709" b="0">
                <a:solidFill>
                  <a:srgbClr val="3598DB"/>
                </a:solidFill>
                <a:latin typeface="Consolas"/>
              </a:rPr>
              <a:t>node*&amp;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) — chỉ có ở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thêm node vào đầu — chú ý thứ tự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Thứ tự bắt buộc: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1. Cấp phát node mới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2. newNode-&gt;next = head CŨ  (làm trước khi đổi head)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3. head = newNode           (mới cập nhật head)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Đảo bước 2 và 3: head đã đổi trước, newNode-&gt;next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sẽ trỏ vào chính newNode -&gt; mất hết phần đuôi DSLK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1: con trỏ tới con trỏ / tham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9260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node **head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thao tác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(*head)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34284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80588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C++ (tham chiếu)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themdau(node *&amp;head,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new 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head;   // 1. trỏ tới head cũ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head = newNode;         // 2. cập nhật head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biệt: danh sách rỗng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DSLK rỗng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== 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newNode-&gt;next = 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tự nhiên gán NULL, không cần xử lý riêng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1 và cách 2 đều hoạt động đúng ngay cả khi DSLK đang rỗng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2: hàm trả về head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cần con trỏ tới con trỏ hay tham chiếu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Bắt buộc gán lại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themdau(head, x)</a:t>
            </a:r>
            <a:r>
              <a:rPr sz="2000" b="0">
                <a:solidFill>
                  <a:srgbClr val="222B38"/>
                </a:solidFill>
                <a:latin typeface="Calibri"/>
              </a:rPr>
              <a:t> ở nơi gọi hàm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node* themdau(node *head,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new 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head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gọi: head = themdau(head, x);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3: quản lý bằng head và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Trường hợp đặc biệt</a:t>
            </a:r>
            <a:r>
              <a:rPr sz="2000" b="0">
                <a:solidFill>
                  <a:srgbClr val="222B38"/>
                </a:solidFill>
                <a:latin typeface="Calibri"/>
              </a:rPr>
              <a:t>: DSLK rỗng thì phải gán luôn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này phổ biến trong giáo trình Việt Nam, ít gặp ở tài liệu quốc tế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themdau(LIST &amp;l,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new 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 newNode-&gt;next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if(l.head == NULL) l.tail = newNode; // DSLK rỗng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l.head;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l.head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 node vào đầu luôn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O(1)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phụ thuộc vào số lượng phần tử hiện có trong DSLK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Đầu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Muốn sửa </a:t>
            </a:r>
            <a:r>
              <a:rPr sz="1614" b="0">
                <a:solidFill>
                  <a:srgbClr val="3598DB"/>
                </a:solidFill>
                <a:latin typeface="Consolas"/>
              </a:rPr>
              <a:t>head</a:t>
            </a:r>
            <a:r>
              <a:rPr sz="1700" b="0">
                <a:solidFill>
                  <a:srgbClr val="222B38"/>
                </a:solidFill>
                <a:latin typeface="Calibri"/>
              </a:rPr>
              <a:t> qua hàm: dùng con trỏ tới con trỏ hoặc tham chiếu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Thứ tự bắt buộc: gán </a:t>
            </a:r>
            <a:r>
              <a:rPr sz="1614" b="0">
                <a:solidFill>
                  <a:srgbClr val="3598DB"/>
                </a:solidFill>
                <a:latin typeface="Consolas"/>
              </a:rPr>
              <a:t>newNode-&gt;next = head</a:t>
            </a:r>
            <a:r>
              <a:rPr sz="1700" b="0">
                <a:solidFill>
                  <a:srgbClr val="222B38"/>
                </a:solidFill>
                <a:latin typeface="Calibri"/>
              </a:rPr>
              <a:t> trước, rồi mới </a:t>
            </a:r>
            <a:r>
              <a:rPr sz="1614" b="0">
                <a:solidFill>
                  <a:srgbClr val="3598DB"/>
                </a:solidFill>
                <a:latin typeface="Consolas"/>
              </a:rPr>
              <a:t>head = newNode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Cách trả về con trỏ mới đơn giản hơn nhưng phải nhớ gán lại </a:t>
            </a:r>
            <a:r>
              <a:rPr sz="1614" b="0">
                <a:solidFill>
                  <a:srgbClr val="3598DB"/>
                </a:solidFill>
                <a:latin typeface="Consolas"/>
              </a:rPr>
              <a:t>head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gọi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Có </a:t>
            </a:r>
            <a:r>
              <a:rPr sz="1614" b="0">
                <a:solidFill>
                  <a:srgbClr val="3598DB"/>
                </a:solidFill>
                <a:latin typeface="Consolas"/>
              </a:rPr>
              <a:t>tail</a:t>
            </a:r>
            <a:r>
              <a:rPr sz="1700" b="0">
                <a:solidFill>
                  <a:srgbClr val="222B38"/>
                </a:solidFill>
                <a:latin typeface="Calibri"/>
              </a:rPr>
              <a:t>: nhớ cập nhật </a:t>
            </a:r>
            <a:r>
              <a:rPr sz="1614" b="0">
                <a:solidFill>
                  <a:srgbClr val="3598DB"/>
                </a:solidFill>
                <a:latin typeface="Consolas"/>
              </a:rPr>
              <a:t>tail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DSLK đang rỗng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Độ phức tạp: O(1)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