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Danh Sách Liên Kết Đơn (Singly Linked List)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Danh sách liên kết đơn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Danh Sách Liên Kết Đơn (Singly Linked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Cấu trúc dữ liệu tương tự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 động</a:t>
            </a:r>
            <a:r>
              <a:rPr sz="1800" b="0">
                <a:solidFill>
                  <a:srgbClr val="222B38"/>
                </a:solidFill>
                <a:latin typeface="Calibri"/>
              </a:rPr>
              <a:t>, mở rộng/thu hẹp linh hoạt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Phần tử gọi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node</a:t>
            </a:r>
            <a:r>
              <a:rPr sz="1800" b="0">
                <a:solidFill>
                  <a:srgbClr val="222B38"/>
                </a:solidFill>
                <a:latin typeface="Calibri"/>
              </a:rPr>
              <a:t>, được cấp phát động trên heap khi cần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truy cập theo chỉ số như mảng, phải duyệt tuần tự từ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Dễ chèn/xóa phần tử, nhưng các node không có thứ tự vị trí cố định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Cấu trúc một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Danh Sách Liên Kết Đơn (Singly Linked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72081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node gồm 2 phần: </a:t>
            </a:r>
            <a:r>
              <a:rPr sz="1800" b="1">
                <a:solidFill>
                  <a:srgbClr val="222B38"/>
                </a:solidFill>
                <a:latin typeface="Calibri"/>
              </a:rPr>
              <a:t>data</a:t>
            </a:r>
            <a:r>
              <a:rPr sz="1800" b="0">
                <a:solidFill>
                  <a:srgbClr val="222B38"/>
                </a:solidFill>
                <a:latin typeface="Calibri"/>
              </a:rPr>
              <a:t> (dữ liệu)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next</a:t>
            </a:r>
            <a:r>
              <a:rPr sz="1800" b="0">
                <a:solidFill>
                  <a:srgbClr val="222B38"/>
                </a:solidFill>
                <a:latin typeface="Calibri"/>
              </a:rPr>
              <a:t> (con trỏ tới node sau)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được quản lý thông qua node đầu tiên, gọi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Node cuối cùng trong danh sách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next =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0861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87165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 -&gt; B -&gt; C -&gt; NULL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mỗi ô là 1 node: data + 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next của node cuối (C) luôn là NULL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node (C và C++)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Danh Sách Liên Kết Đơn (Singly Linked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87652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Tạo node mới: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malloc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C,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new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C++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29332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75636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node{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data;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struct node *next;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struct node node;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C++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struct node{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data;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Lưu ý về con trỏ trong DSLK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Danh Sách Liên Kết Đơn (Singly Linked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node thực chất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một 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, trỏ tới vùng nhớ cấp phát động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toán tử </a:t>
            </a:r>
            <a:r>
              <a:rPr sz="1709" b="0">
                <a:solidFill>
                  <a:srgbClr val="3598DB"/>
                </a:solidFill>
                <a:latin typeface="Consolas"/>
              </a:rPr>
              <a:t>-&gt;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truy cập </a:t>
            </a:r>
            <a:r>
              <a:rPr sz="1709" b="0">
                <a:solidFill>
                  <a:srgbClr val="3598DB"/>
                </a:solidFill>
                <a:latin typeface="Consolas"/>
              </a:rPr>
              <a:t>data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next</a:t>
            </a:r>
            <a:r>
              <a:rPr sz="1800" b="0">
                <a:solidFill>
                  <a:srgbClr val="222B38"/>
                </a:solidFill>
                <a:latin typeface="Calibri"/>
              </a:rPr>
              <a:t> thông qua con trỏ đó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thực chất là danh sách quản lý các con trỏ kiểu </a:t>
            </a:r>
            <a:r>
              <a:rPr sz="1709" b="0">
                <a:solidFill>
                  <a:srgbClr val="3598DB"/>
                </a:solidFill>
                <a:latin typeface="Consolas"/>
              </a:rPr>
              <a:t>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lượng node phụ thuộc vào bộ nhớ heap, không cố định như mảng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phức tạp các thao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Danh Sách Liên Kết Đơn (Singly Linked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xuất phần tử: </a:t>
            </a:r>
            <a:r>
              <a:rPr sz="1800" b="1">
                <a:solidFill>
                  <a:srgbClr val="222B38"/>
                </a:solidFill>
                <a:latin typeface="Calibri"/>
              </a:rPr>
              <a:t>O(N)</a:t>
            </a:r>
            <a:r>
              <a:rPr sz="1800" b="0">
                <a:solidFill>
                  <a:srgbClr val="222B38"/>
                </a:solidFill>
                <a:latin typeface="Calibri"/>
              </a:rPr>
              <a:t> (phải duyệt tuần tự từ head)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Chèn/xóa node ở </a:t>
            </a:r>
            <a:r>
              <a:rPr sz="1800" b="1">
                <a:solidFill>
                  <a:srgbClr val="222B38"/>
                </a:solidFill>
                <a:latin typeface="Calibri"/>
              </a:rPr>
              <a:t>đầu</a:t>
            </a:r>
            <a:r>
              <a:rPr sz="1800" b="0">
                <a:solidFill>
                  <a:srgbClr val="222B38"/>
                </a:solidFill>
                <a:latin typeface="Calibri"/>
              </a:rPr>
              <a:t>: O(1)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Chèn/xóa node ở </a:t>
            </a:r>
            <a:r>
              <a:rPr sz="1800" b="1">
                <a:solidFill>
                  <a:srgbClr val="222B38"/>
                </a:solidFill>
                <a:latin typeface="Calibri"/>
              </a:rPr>
              <a:t>cuối</a:t>
            </a:r>
            <a:r>
              <a:rPr sz="1800" b="0">
                <a:solidFill>
                  <a:srgbClr val="222B38"/>
                </a:solidFill>
                <a:latin typeface="Calibri"/>
              </a:rPr>
              <a:t>: 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Chèn/xóa node ở </a:t>
            </a:r>
            <a:r>
              <a:rPr sz="1800" b="1">
                <a:solidFill>
                  <a:srgbClr val="222B38"/>
                </a:solidFill>
                <a:latin typeface="Calibri"/>
              </a:rPr>
              <a:t>giữa</a:t>
            </a:r>
            <a:r>
              <a:rPr sz="1800" b="0">
                <a:solidFill>
                  <a:srgbClr val="222B38"/>
                </a:solidFill>
                <a:latin typeface="Calibri"/>
              </a:rPr>
              <a:t>: O(N)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Danh Sách Liên Kết Đơn (Singly Linked 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đơn: mỗi node gồm </a:t>
            </a:r>
            <a:r>
              <a:rPr sz="1709" b="0">
                <a:solidFill>
                  <a:srgbClr val="3598DB"/>
                </a:solidFill>
                <a:latin typeface="Consolas"/>
              </a:rPr>
              <a:t>data</a:t>
            </a:r>
            <a:r>
              <a:rPr sz="1800" b="0">
                <a:solidFill>
                  <a:srgbClr val="222B38"/>
                </a:solidFill>
                <a:latin typeface="Calibri"/>
              </a:rPr>
              <a:t> + con trỏ </a:t>
            </a:r>
            <a:r>
              <a:rPr sz="1709" b="0">
                <a:solidFill>
                  <a:srgbClr val="3598DB"/>
                </a:solidFill>
                <a:latin typeface="Consolas"/>
              </a:rPr>
              <a:t>next</a:t>
            </a:r>
            <a:r>
              <a:rPr sz="1800" b="0">
                <a:solidFill>
                  <a:srgbClr val="222B38"/>
                </a:solidFill>
                <a:latin typeface="Calibri"/>
              </a:rPr>
              <a:t>, node cuối trỏ NULL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Quản lý bằng con trỏ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truy cập được theo chỉ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Chèn/xóa ở đầu là O(1), các vị trí còn lại là O(N) do phải duyệt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node là vùng nhớ cấp phát động, thao tác qua con trỏ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-&gt;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