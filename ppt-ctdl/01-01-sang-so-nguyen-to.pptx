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Sàng Số Nguyên Tố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đếm số nguyên tố từ 1 tới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Sàng Số Nguyên Tố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Liệt kê/đếm số nguyên tố trong đoạn [1, N], với N ≤ 10 triệu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thường: kiểm tra từng số bằng hàm O(√N) → tổng </a:t>
            </a:r>
            <a:r>
              <a:rPr sz="2000" b="1">
                <a:solidFill>
                  <a:srgbClr val="222B38"/>
                </a:solidFill>
                <a:latin typeface="Calibri"/>
              </a:rPr>
              <a:t>O(N√N)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Sàng Eratosthenes hiệu quả hơn nhiều: </a:t>
            </a:r>
            <a:r>
              <a:rPr sz="2000" b="1">
                <a:solidFill>
                  <a:srgbClr val="222B38"/>
                </a:solidFill>
                <a:latin typeface="Calibri"/>
              </a:rPr>
              <a:t>O(N log log 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Ý tưởng sàng Eratosthenes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Sàng Số Nguyên Tố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Bước 1: coi tất cả số từ 0 tới N đều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số nguyên tố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Bước 2: duyệt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 từ 2 tới √N, nếu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 còn là nguyên tố thì loại bội của nó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đánh dấu cần tối thiểu N + 1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Ví dụ N = 30: chỉ cần nguyên tố 2, 3, 5 (≤ √30) là loại hết hợp số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chỉ duyệt tới √N và bắt đầu từ i*i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Sàng Số Nguyên Tố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Nếu N = a * b thì ít nhất một trong a, b phải ≤ √N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Nên ước nguyên tố nhỏ nhất của hợp số N luôn nằm trong [2, √N]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Bội của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 nhỏ hơn </a:t>
            </a:r>
            <a:r>
              <a:rPr sz="1709" b="0">
                <a:solidFill>
                  <a:srgbClr val="3598DB"/>
                </a:solidFill>
                <a:latin typeface="Consolas"/>
              </a:rPr>
              <a:t>i*i</a:t>
            </a:r>
            <a:r>
              <a:rPr sz="1800" b="0">
                <a:solidFill>
                  <a:srgbClr val="222B38"/>
                </a:solidFill>
                <a:latin typeface="Calibri"/>
              </a:rPr>
              <a:t> đã bị loại bởi số nguyên tố nhỏ hơn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Nên chỉ cần duyệt bội của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 bắt đầu từ </a:t>
            </a:r>
            <a:r>
              <a:rPr sz="1709" b="0">
                <a:solidFill>
                  <a:srgbClr val="3598DB"/>
                </a:solidFill>
                <a:latin typeface="Consolas"/>
              </a:rPr>
              <a:t>i*i</a:t>
            </a:r>
            <a:r>
              <a:rPr sz="1800" b="0">
                <a:solidFill>
                  <a:srgbClr val="222B38"/>
                </a:solidFill>
                <a:latin typeface="Calibri"/>
              </a:rPr>
              <a:t>, bước nhảy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sàng cơ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Sàng Số Nguyên Tố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746250"/>
            <a:ext cx="10765231" cy="411683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554"/>
            <a:ext cx="10362895" cy="3824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prime[10000001]; // N = 10^7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sang(){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&lt;= 10000000; i++) prime[i]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prime[0] = prime[1]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2; i &lt;= sqrt(10000000);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if(prime[i]){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for(int j = i*i; j &lt;= 10000000; j += i)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    prime[j]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prime[i] == 1  -&gt;  i là số nguyên tố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Độ phức tạp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Sàng Số Nguyên Tố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Sàng Eratosthenes: </a:t>
            </a:r>
            <a:r>
              <a:rPr sz="2000" b="1">
                <a:solidFill>
                  <a:srgbClr val="222B38"/>
                </a:solidFill>
                <a:latin typeface="Calibri"/>
              </a:rPr>
              <a:t>O(N log log 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thường (kiểm tra từng số): O(N√N), chậm hơn nhiều với N lớn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Đánh đổi: cần mảng đánh dấu cỡ N + 1 → giới hạn bởi bộ nhớ (~256MB)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Sàng số nguyên tố trên đoạn [L, 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Sàng Số Nguyên Tố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L, R có thể rất lớn (long long), không thể cấp mảng cỡ R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mảng cỡ </a:t>
            </a:r>
            <a:r>
              <a:rPr sz="1800" b="1">
                <a:solidFill>
                  <a:srgbClr val="222B38"/>
                </a:solidFill>
                <a:latin typeface="Calibri"/>
              </a:rPr>
              <a:t>R - L + 1</a:t>
            </a:r>
            <a:r>
              <a:rPr sz="1800" b="0">
                <a:solidFill>
                  <a:srgbClr val="222B38"/>
                </a:solidFill>
                <a:latin typeface="Calibri"/>
              </a:rPr>
              <a:t>, chỉ số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 ứng với giá trị </a:t>
            </a:r>
            <a:r>
              <a:rPr sz="1709" b="0">
                <a:solidFill>
                  <a:srgbClr val="3598DB"/>
                </a:solidFill>
                <a:latin typeface="Consolas"/>
              </a:rPr>
              <a:t>L + 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Ý tưởng sàng giống hệt bản 1→N, chỉ đổi cách quy đổi chỉ số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Bội đầu tiên cần xét của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: max(i*i, bội nhỏ nhất của i mà ≥ 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sàng trên đoạn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Sàng Số Nguyên Tố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88642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kết quả bắt đầu từ </a:t>
            </a:r>
            <a:r>
              <a:rPr sz="1900" b="0">
                <a:solidFill>
                  <a:srgbClr val="3598DB"/>
                </a:solidFill>
                <a:latin typeface="Consolas"/>
              </a:rPr>
              <a:t>max(2, L)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không tính nhầm 0, 1 là nguyên tố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430322"/>
            <a:ext cx="10765231" cy="353974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76626"/>
            <a:ext cx="10362895" cy="32471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sang(ll L, ll R){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prime[R - L + 1];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for(ll i = L; i &lt;= R; i++) prime[i - L]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for(ll i = 2; i &lt;= sqrt(R);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ll start = max(i*i, (L + i - 1) / i * i);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for(ll j = start; j &lt;= R; j += i)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prime[j - L]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for(ll i = max(2ll, L); i &lt;= R;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if(prime[i - L]) cout &lt;&lt; i &lt;&lt; ' 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Ứng dụng: ước nguyên tố nhỏ nhất &amp; phân tích thừa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Sàng Số Nguyên Tố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332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Sàng biến thể: </a:t>
            </a:r>
            <a:r>
              <a:rPr sz="1709" b="0">
                <a:solidFill>
                  <a:srgbClr val="3598DB"/>
                </a:solidFill>
                <a:latin typeface="Consolas"/>
              </a:rPr>
              <a:t>prime[i] = i</a:t>
            </a:r>
            <a:r>
              <a:rPr sz="1800" b="0">
                <a:solidFill>
                  <a:srgbClr val="222B38"/>
                </a:solidFill>
                <a:latin typeface="Calibri"/>
              </a:rPr>
              <a:t> ban đầu, cập nhật </a:t>
            </a:r>
            <a:r>
              <a:rPr sz="1709" b="0">
                <a:solidFill>
                  <a:srgbClr val="3598DB"/>
                </a:solidFill>
                <a:latin typeface="Consolas"/>
              </a:rPr>
              <a:t>prime[j] = i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j là bội chưa đổi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Sau sàng, </a:t>
            </a:r>
            <a:r>
              <a:rPr sz="1709" b="0">
                <a:solidFill>
                  <a:srgbClr val="3598DB"/>
                </a:solidFill>
                <a:latin typeface="Consolas"/>
              </a:rPr>
              <a:t>prime[i]</a:t>
            </a:r>
            <a:r>
              <a:rPr sz="1800" b="0">
                <a:solidFill>
                  <a:srgbClr val="222B38"/>
                </a:solidFill>
                <a:latin typeface="Calibri"/>
              </a:rPr>
              <a:t> chính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ước nguyên tố nhỏ nhất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Phân tích thừa số nguyên tố của nhiều số: chia liên tiếp cho </a:t>
            </a:r>
            <a:r>
              <a:rPr sz="1709" b="0">
                <a:solidFill>
                  <a:srgbClr val="3598DB"/>
                </a:solidFill>
                <a:latin typeface="Consolas"/>
              </a:rPr>
              <a:t>prime[i]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Hiệu quả khi cần phân tích </a:t>
            </a:r>
            <a:r>
              <a:rPr sz="1800" b="1">
                <a:solidFill>
                  <a:srgbClr val="222B38"/>
                </a:solidFill>
                <a:latin typeface="Calibri"/>
              </a:rPr>
              <a:t>nhiều số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đoạn, không hợp cho 1 số đơn lẻ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32168"/>
            <a:ext cx="10765231" cy="271919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78472"/>
            <a:ext cx="10362895" cy="24265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int prime[1000001];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void sang(){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for(int i = 1; i &lt;= 1000000; i++) prime[i] = 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for(int i = 2; i*i &lt;= 1000000;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    if(prime[i] == i)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        for(int j = i*i; j &lt;= 1000000; j += i)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            if(prime[j] == j) prime[j] = 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// phân tích n: while(n != 1){ p = prime[n]; n /= p;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Sàng Số Nguyên Tố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Sàng Eratosthenes: O(N log log N), tối ưu hơn kiểm tra từng số O(N√N)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cần loại bội của số nguyên tố ≤ √N, bắt đầu từ </a:t>
            </a:r>
            <a:r>
              <a:rPr sz="1709" b="0">
                <a:solidFill>
                  <a:srgbClr val="3598DB"/>
                </a:solidFill>
                <a:latin typeface="Consolas"/>
              </a:rPr>
              <a:t>i*i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Sàng trên đoạn [L, R]: dùng mảng cỡ R - L + 1, không cấp mảng cỡ R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Biến thể sàng lưu ước nguyên tố nhỏ nhất → phân tích thừa số nhanh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