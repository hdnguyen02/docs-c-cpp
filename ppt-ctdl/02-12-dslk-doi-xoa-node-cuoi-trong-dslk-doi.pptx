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Xóa Node Cuối Trong DSLK Đôi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CTDL &amp; Giải Thuật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Vấn đề: xóa node cuối trong DSLK đôi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Cuối Trong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Vẫn phải duyệt tới </a:t>
            </a:r>
            <a:r>
              <a:rPr sz="2000" b="1">
                <a:solidFill>
                  <a:srgbClr val="222B38"/>
                </a:solidFill>
                <a:latin typeface="Calibri"/>
              </a:rPr>
              <a:t>node thứ 2 từ cuối</a:t>
            </a:r>
            <a:r>
              <a:rPr sz="2000" b="0">
                <a:solidFill>
                  <a:srgbClr val="222B38"/>
                </a:solidFill>
                <a:latin typeface="Calibri"/>
              </a:rPr>
              <a:t> như DSLK đơn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Cách cài đặt này </a:t>
            </a:r>
            <a:r>
              <a:rPr sz="2000" b="1">
                <a:solidFill>
                  <a:srgbClr val="222B38"/>
                </a:solidFill>
                <a:latin typeface="Calibri"/>
              </a:rPr>
              <a:t>chưa tận dụng prev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nhảy thẳng tới cuối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Node có </a:t>
            </a:r>
            <a:r>
              <a:rPr sz="1900" b="0">
                <a:solidFill>
                  <a:srgbClr val="3598DB"/>
                </a:solidFill>
                <a:latin typeface="Consolas"/>
              </a:rPr>
              <a:t>prev</a:t>
            </a:r>
            <a:r>
              <a:rPr sz="2000" b="0">
                <a:solidFill>
                  <a:srgbClr val="222B38"/>
                </a:solidFill>
                <a:latin typeface="Calibri"/>
              </a:rPr>
              <a:t> nhưng vẫn duyệt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tmp-&gt;next-&gt;next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 bước xóa node cuối (quản lý bằng head)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Cuối Trong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05050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tới node thứ 2 từ cuối (</a:t>
            </a:r>
            <a:r>
              <a:rPr sz="1709" b="0">
                <a:solidFill>
                  <a:srgbClr val="3598DB"/>
                </a:solidFill>
                <a:latin typeface="Consolas"/>
              </a:rPr>
              <a:t>tmp</a:t>
            </a:r>
            <a:r>
              <a:rPr sz="18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Lưu lại node cuối: </a:t>
            </a:r>
            <a:r>
              <a:rPr sz="1709" b="0">
                <a:solidFill>
                  <a:srgbClr val="3598DB"/>
                </a:solidFill>
                <a:latin typeface="Consolas"/>
              </a:rPr>
              <a:t>delNode = tmp-&gt;next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Cho </a:t>
            </a:r>
            <a:r>
              <a:rPr sz="1709" b="0">
                <a:solidFill>
                  <a:srgbClr val="3598DB"/>
                </a:solidFill>
                <a:latin typeface="Consolas"/>
              </a:rPr>
              <a:t>tmp-&gt;next = NULL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Giải phóng </a:t>
            </a:r>
            <a:r>
              <a:rPr sz="1709" b="0">
                <a:solidFill>
                  <a:srgbClr val="3598DB"/>
                </a:solidFill>
                <a:latin typeface="Consolas"/>
              </a:rPr>
              <a:t>delNode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253890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00194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Truoc:  8 &lt;-&gt; 9 &lt;-&gt; 10 &lt;-&gt; NULL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Sau:    8 &lt;-&gt; 9 &lt;-&gt; NULL   // tmp=9, giai phong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hàm </a:t>
            </a:r>
            <a:r>
              <a:rPr sz="2565" b="1">
                <a:solidFill>
                  <a:srgbClr val="3598DB"/>
                </a:solidFill>
                <a:latin typeface="Consolas"/>
              </a:rPr>
              <a:t>xoacuoi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Cuối Trong DSLK Đôi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746250"/>
            <a:ext cx="10765231" cy="411683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554"/>
            <a:ext cx="10362895" cy="38242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xoacuoi(node **head){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if(*head == NULL) return;          // rong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if((*head)-&gt;next == NULL){         // 1 node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free(*head); *head = NULL;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 else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node *tmp = *head;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while(tmp-&gt;next-&gt;next != NULL)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 tmp = tmp-&gt;next;           // toi node thu 2 tu cuoi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node *delNode = tmp-&gt;next;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tmp-&gt;next = NULL;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free(delNode);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phải xử lý DSLK 1 node riêng?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Cuối Trong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Điều kiện </a:t>
            </a:r>
            <a:r>
              <a:rPr sz="1900" b="0">
                <a:solidFill>
                  <a:srgbClr val="3598DB"/>
                </a:solidFill>
                <a:latin typeface="Consolas"/>
              </a:rPr>
              <a:t>tmp-&gt;next-&gt;next != NULL</a:t>
            </a:r>
            <a:r>
              <a:rPr sz="2000" b="0">
                <a:solidFill>
                  <a:srgbClr val="222B38"/>
                </a:solidFill>
                <a:latin typeface="Calibri"/>
              </a:rPr>
              <a:t> cần </a:t>
            </a:r>
            <a:r>
              <a:rPr sz="2000" b="1">
                <a:solidFill>
                  <a:srgbClr val="222B38"/>
                </a:solidFill>
                <a:latin typeface="Calibri"/>
              </a:rPr>
              <a:t>2 bước next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chỉ có 1 node: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head-&gt;next</a:t>
            </a:r>
            <a:r>
              <a:rPr sz="2000" b="0">
                <a:solidFill>
                  <a:srgbClr val="222B38"/>
                </a:solidFill>
                <a:latin typeface="Calibri"/>
              </a:rPr>
              <a:t> đã là </a:t>
            </a:r>
            <a:r>
              <a:rPr sz="1900" b="0">
                <a:solidFill>
                  <a:srgbClr val="3598DB"/>
                </a:solidFill>
                <a:latin typeface="Consolas"/>
              </a:rPr>
              <a:t>NULL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Truy cập tiếp </a:t>
            </a:r>
            <a:r>
              <a:rPr sz="1900" b="0">
                <a:solidFill>
                  <a:srgbClr val="3598DB"/>
                </a:solidFill>
                <a:latin typeface="Consolas"/>
              </a:rPr>
              <a:t>-&gt;next</a:t>
            </a:r>
            <a:r>
              <a:rPr sz="2000" b="0">
                <a:solidFill>
                  <a:srgbClr val="222B38"/>
                </a:solidFill>
                <a:latin typeface="Calibri"/>
              </a:rPr>
              <a:t> trên </a:t>
            </a:r>
            <a:r>
              <a:rPr sz="1900" b="0">
                <a:solidFill>
                  <a:srgbClr val="3598DB"/>
                </a:solidFill>
                <a:latin typeface="Consolas"/>
              </a:rPr>
              <a:t>NULL</a:t>
            </a:r>
            <a:r>
              <a:rPr sz="2000" b="0">
                <a:solidFill>
                  <a:srgbClr val="222B38"/>
                </a:solidFill>
                <a:latin typeface="Calibri"/>
              </a:rPr>
              <a:t> gây lỗi bộ nhớ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Quản lý bằng head và tail: điểm khác biệt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Cuối Trong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Vẫn duyệt tới node thứ 2 từ cuối như cách 1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Sau khi cắt, phải </a:t>
            </a:r>
            <a:r>
              <a:rPr sz="2000" b="1">
                <a:solidFill>
                  <a:srgbClr val="222B38"/>
                </a:solidFill>
                <a:latin typeface="Calibri"/>
              </a:rPr>
              <a:t>cập nhật tail = tmp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còn 1 node: xóa xong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 = tail = NULL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Trường hợp đặc biệt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Cuối Trong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rỗng (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 == NULL</a:t>
            </a:r>
            <a:r>
              <a:rPr sz="2000" b="0">
                <a:solidFill>
                  <a:srgbClr val="222B38"/>
                </a:solidFill>
                <a:latin typeface="Calibri"/>
              </a:rPr>
              <a:t>): return ngay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1 node: xóa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</a:t>
            </a:r>
            <a:r>
              <a:rPr sz="2000" b="0">
                <a:solidFill>
                  <a:srgbClr val="222B38"/>
                </a:solidFill>
                <a:latin typeface="Calibri"/>
              </a:rPr>
              <a:t>, gán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 = NULL</a:t>
            </a:r>
            <a:r>
              <a:rPr sz="2000" b="0">
                <a:solidFill>
                  <a:srgbClr val="222B38"/>
                </a:solidFill>
                <a:latin typeface="Calibri"/>
              </a:rPr>
              <a:t> (và </a:t>
            </a:r>
            <a:r>
              <a:rPr sz="1900" b="0">
                <a:solidFill>
                  <a:srgbClr val="3598DB"/>
                </a:solidFill>
                <a:latin typeface="Consolas"/>
              </a:rPr>
              <a:t>tail = NULL</a:t>
            </a:r>
            <a:r>
              <a:rPr sz="20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≥2 node: duyệt tới node thứ 2 từ cuối rồi cắt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Giải phóng bộ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Cuối Trong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Node cuối bị tách ra, không còn ai trỏ tới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Phải </a:t>
            </a:r>
            <a:r>
              <a:rPr sz="1900" b="0">
                <a:solidFill>
                  <a:srgbClr val="3598DB"/>
                </a:solidFill>
                <a:latin typeface="Consolas"/>
              </a:rPr>
              <a:t>free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delete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tránh rò rỉ bộ nhớ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Giải phóng </a:t>
            </a:r>
            <a:r>
              <a:rPr sz="2000" b="1">
                <a:solidFill>
                  <a:srgbClr val="222B38"/>
                </a:solidFill>
                <a:latin typeface="Calibri"/>
              </a:rPr>
              <a:t>sau khi</a:t>
            </a:r>
            <a:r>
              <a:rPr sz="2000" b="0">
                <a:solidFill>
                  <a:srgbClr val="222B38"/>
                </a:solidFill>
                <a:latin typeface="Calibri"/>
              </a:rPr>
              <a:t> đã cắt </a:t>
            </a:r>
            <a:r>
              <a:rPr sz="1900" b="0">
                <a:solidFill>
                  <a:srgbClr val="3598DB"/>
                </a:solidFill>
                <a:latin typeface="Consolas"/>
              </a:rPr>
              <a:t>tmp-&gt;next = NULL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Cuối Trong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Xóa cuối DSLK đôi trong bài này </a:t>
            </a:r>
            <a:r>
              <a:rPr sz="1800" b="1">
                <a:solidFill>
                  <a:srgbClr val="222B38"/>
                </a:solidFill>
                <a:latin typeface="Calibri"/>
              </a:rPr>
              <a:t>vẫn phải duyệt</a:t>
            </a:r>
            <a:r>
              <a:rPr sz="1800" b="0">
                <a:solidFill>
                  <a:srgbClr val="222B38"/>
                </a:solidFill>
                <a:latin typeface="Calibri"/>
              </a:rPr>
              <a:t>, chưa tận dụng </a:t>
            </a:r>
            <a:r>
              <a:rPr sz="1709" b="0">
                <a:solidFill>
                  <a:srgbClr val="3598DB"/>
                </a:solidFill>
                <a:latin typeface="Consolas"/>
              </a:rPr>
              <a:t>prev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Luôn tách 3 trường hợp: rỗng → 1 node → ≥2 node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tail</a:t>
            </a:r>
            <a:r>
              <a:rPr sz="1800" b="0">
                <a:solidFill>
                  <a:srgbClr val="222B38"/>
                </a:solidFill>
                <a:latin typeface="Calibri"/>
              </a:rPr>
              <a:t>: cập nhật </a:t>
            </a:r>
            <a:r>
              <a:rPr sz="1709" b="0">
                <a:solidFill>
                  <a:srgbClr val="3598DB"/>
                </a:solidFill>
                <a:latin typeface="Consolas"/>
              </a:rPr>
              <a:t>tail</a:t>
            </a:r>
            <a:r>
              <a:rPr sz="1800" b="0">
                <a:solidFill>
                  <a:srgbClr val="222B38"/>
                </a:solidFill>
                <a:latin typeface="Calibri"/>
              </a:rPr>
              <a:t> sau khi cắt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Giải phóng node đã tách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delete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free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