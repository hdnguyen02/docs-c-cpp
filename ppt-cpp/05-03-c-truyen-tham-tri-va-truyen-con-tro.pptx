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Truyền Tham Trị Và Truyền Con Trỏ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hàm muốn sửa biến bên ngoài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gọi hàm,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đối số</a:t>
            </a:r>
            <a:r>
              <a:rPr sz="2000" b="0">
                <a:solidFill>
                  <a:srgbClr val="222B38"/>
                </a:solidFill>
                <a:latin typeface="Calibri"/>
              </a:rPr>
              <a:t> được sao chép vào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có truyền tham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có tham chiếu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&amp;n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sửa biến ngoài: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biến (con trỏ)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Truyền tham trị (pass by value)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biến độc lập</a:t>
            </a:r>
            <a:r>
              <a:rPr sz="2000" b="0">
                <a:solidFill>
                  <a:srgbClr val="222B38"/>
                </a:solidFill>
                <a:latin typeface="Calibri"/>
              </a:rPr>
              <a:t>, có địa chỉ riêng trong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tham số trong hàm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ảnh hưởng đối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địa chỉ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%p</a:t>
            </a:r>
            <a:r>
              <a:rPr sz="2000" b="0">
                <a:solidFill>
                  <a:srgbClr val="222B38"/>
                </a:solidFill>
                <a:latin typeface="Calibri"/>
              </a:rPr>
              <a:t> kèm ép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(void *)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+=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m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m);   // vẫn là 1000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Hai toán tử &amp; và 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&amp;x</a:t>
            </a:r>
            <a:r>
              <a:rPr sz="2000" b="0">
                <a:solidFill>
                  <a:srgbClr val="222B38"/>
                </a:solidFill>
                <a:latin typeface="Calibri"/>
              </a:rPr>
              <a:t>: lấy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biến 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*p</a:t>
            </a:r>
            <a:r>
              <a:rPr sz="2000" b="0">
                <a:solidFill>
                  <a:srgbClr val="222B38"/>
                </a:solidFill>
                <a:latin typeface="Calibri"/>
              </a:rPr>
              <a:t>: khai báo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p lưu địa chỉ một int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*p</a:t>
            </a:r>
            <a:r>
              <a:rPr sz="2000" b="0">
                <a:solidFill>
                  <a:srgbClr val="222B38"/>
                </a:solidFill>
                <a:latin typeface="Calibri"/>
              </a:rPr>
              <a:t>: truy cập </a:t>
            </a:r>
            <a:r>
              <a:rPr sz="2000" b="1">
                <a:solidFill>
                  <a:srgbClr val="222B38"/>
                </a:solidFill>
                <a:latin typeface="Calibri"/>
              </a:rPr>
              <a:t>ô nhớ</a:t>
            </a:r>
            <a:r>
              <a:rPr sz="2000" b="0">
                <a:solidFill>
                  <a:srgbClr val="222B38"/>
                </a:solidFill>
                <a:latin typeface="Calibri"/>
              </a:rPr>
              <a:t> mà p đang trỏ tới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 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 = &amp;x;         // p trỏ tới x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*p);  // 10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 = 28;             // ghi vào ô nhớ của x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x);   //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Truyền con trỏ (pass by pointer)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khai báo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*n</a:t>
            </a:r>
            <a:r>
              <a:rPr sz="2000" b="0">
                <a:solidFill>
                  <a:srgbClr val="222B38"/>
                </a:solidFill>
                <a:latin typeface="Calibri"/>
              </a:rPr>
              <a:t>, khi gọi truyền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Trong hàm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*n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đọc/ghi ô nhớ của 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truyền được hằng số: </a:t>
            </a:r>
            <a:r>
              <a:rPr sz="1900" b="0">
                <a:solidFill>
                  <a:srgbClr val="3598DB"/>
                </a:solidFill>
                <a:latin typeface="Consolas"/>
              </a:rPr>
              <a:t>thaydoi(&amp;1000)</a:t>
            </a:r>
            <a:r>
              <a:rPr sz="2000" b="0">
                <a:solidFill>
                  <a:srgbClr val="222B38"/>
                </a:solidFill>
                <a:latin typeface="Calibri"/>
              </a:rPr>
              <a:t> sai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*n){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*n +=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m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thaydoi(&amp;m);          // truyền địa chỉ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m);   // thành 1100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hoán đổi 2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48230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94534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swap1(int a, int b){        // tham trị: vô ích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tmp = a; a = b; b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swap2(int *a, int *b){      // con trỏ: đúng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tmp = *a; *a = *b; *b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 = 100, y = 200;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swap1(x, y);     // 100 200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swap2(&amp;x, &amp;y);   // 200 100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Trả về nhiều giá trị qua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</a:t>
            </a:r>
            <a:r>
              <a:rPr sz="2000" b="0">
                <a:solidFill>
                  <a:srgbClr val="222B38"/>
                </a:solidFill>
                <a:latin typeface="Calibri"/>
              </a:rPr>
              <a:t> giá trị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số đầu ra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con trỏ để hàm ghi kết quả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trạng thái, kết quả đi qua con trỏ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chia(int a, int b, int *thuong, int *du){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if(b == 0) return 0;          // thất bại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*thuong = a /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*du = a %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1;                     // thành công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q,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if(chia(17, 5, &amp;q, &amp;r)) printf("%d %d\n", q, r);  // 3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Lỗi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Quên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gọi: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swap2(x, y)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cảnh báo, crash khi chạy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Quên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*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hàm: </a:t>
            </a:r>
            <a:r>
              <a:rPr sz="1900" b="0">
                <a:solidFill>
                  <a:srgbClr val="3598DB"/>
                </a:solidFill>
                <a:latin typeface="Consolas"/>
              </a:rPr>
              <a:t>n += 100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đổi địa chỉ con trỏ giữ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scanf("%d", &amp;x)</a:t>
            </a:r>
            <a:r>
              <a:rPr sz="20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 vì scanf phải ghi vào 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Tham Trị Và Truyền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luôn truyền tham trị: tham số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 sao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đối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hàm sửa biến ngoài: tham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 *p</a:t>
            </a:r>
            <a:r>
              <a:rPr sz="1800" b="0">
                <a:solidFill>
                  <a:srgbClr val="222B38"/>
                </a:solidFill>
                <a:latin typeface="Calibri"/>
              </a:rPr>
              <a:t>, gọi với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Trong hàm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*p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truy cập giá trị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Con trỏ giúp hàm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nhiều kết quả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