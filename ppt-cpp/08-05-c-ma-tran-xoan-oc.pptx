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Ma Trận Xoắn Ốc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Ma trận xoắn ốc là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Ma Trận Xoắn Ốc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Ma trận vuông N×N (hoặc N×M), điền số theo hình </a:t>
            </a:r>
            <a:r>
              <a:rPr sz="2000" b="1">
                <a:solidFill>
                  <a:srgbClr val="222B38"/>
                </a:solidFill>
                <a:latin typeface="Calibri"/>
              </a:rPr>
              <a:t>xoắn ốc</a:t>
            </a:r>
            <a:r>
              <a:rPr sz="2000" b="0">
                <a:solidFill>
                  <a:srgbClr val="222B38"/>
                </a:solidFill>
                <a:latin typeface="Calibri"/>
              </a:rPr>
              <a:t> từ 1 tới N²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Xây dựng </a:t>
            </a:r>
            <a:r>
              <a:rPr sz="2000" b="1">
                <a:solidFill>
                  <a:srgbClr val="222B38"/>
                </a:solidFill>
                <a:latin typeface="Calibri"/>
              </a:rPr>
              <a:t>từng vòng xoắn ốc</a:t>
            </a:r>
            <a:r>
              <a:rPr sz="2000" b="0">
                <a:solidFill>
                  <a:srgbClr val="222B38"/>
                </a:solidFill>
                <a:latin typeface="Calibri"/>
              </a:rPr>
              <a:t>, mỗi vòng gồm 4 cạnh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Xong 1 vòng thì thu hẹp biên để xây vòng tiếp theo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4 biến biên và 4 hướng duyệt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Ma Trận Xoắn Ốc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805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614" b="0">
                <a:solidFill>
                  <a:srgbClr val="3598DB"/>
                </a:solidFill>
                <a:latin typeface="Consolas"/>
              </a:rPr>
              <a:t>h1</a:t>
            </a:r>
            <a:r>
              <a:rPr sz="1700" b="0">
                <a:solidFill>
                  <a:srgbClr val="222B38"/>
                </a:solidFill>
                <a:latin typeface="Calibri"/>
              </a:rPr>
              <a:t>: hàng </a:t>
            </a:r>
            <a:r>
              <a:rPr sz="1700" b="1">
                <a:solidFill>
                  <a:srgbClr val="222B38"/>
                </a:solidFill>
                <a:latin typeface="Calibri"/>
              </a:rPr>
              <a:t>trên</a:t>
            </a:r>
            <a:r>
              <a:rPr sz="1700" b="0">
                <a:solidFill>
                  <a:srgbClr val="222B38"/>
                </a:solidFill>
                <a:latin typeface="Calibri"/>
              </a:rPr>
              <a:t>, </a:t>
            </a:r>
            <a:r>
              <a:rPr sz="1614" b="0">
                <a:solidFill>
                  <a:srgbClr val="3598DB"/>
                </a:solidFill>
                <a:latin typeface="Consolas"/>
              </a:rPr>
              <a:t>h2</a:t>
            </a:r>
            <a:r>
              <a:rPr sz="1700" b="0">
                <a:solidFill>
                  <a:srgbClr val="222B38"/>
                </a:solidFill>
                <a:latin typeface="Calibri"/>
              </a:rPr>
              <a:t>: hàng </a:t>
            </a:r>
            <a:r>
              <a:rPr sz="1700" b="1">
                <a:solidFill>
                  <a:srgbClr val="222B38"/>
                </a:solidFill>
                <a:latin typeface="Calibri"/>
              </a:rPr>
              <a:t>dưới</a:t>
            </a:r>
            <a:r>
              <a:rPr sz="1700" b="0">
                <a:solidFill>
                  <a:srgbClr val="222B38"/>
                </a:solidFill>
                <a:latin typeface="Calibri"/>
              </a:rPr>
              <a:t>, </a:t>
            </a:r>
            <a:r>
              <a:rPr sz="1614" b="0">
                <a:solidFill>
                  <a:srgbClr val="3598DB"/>
                </a:solidFill>
                <a:latin typeface="Consolas"/>
              </a:rPr>
              <a:t>c1</a:t>
            </a:r>
            <a:r>
              <a:rPr sz="1700" b="0">
                <a:solidFill>
                  <a:srgbClr val="222B38"/>
                </a:solidFill>
                <a:latin typeface="Calibri"/>
              </a:rPr>
              <a:t>: cột </a:t>
            </a:r>
            <a:r>
              <a:rPr sz="1700" b="1">
                <a:solidFill>
                  <a:srgbClr val="222B38"/>
                </a:solidFill>
                <a:latin typeface="Calibri"/>
              </a:rPr>
              <a:t>trái</a:t>
            </a:r>
            <a:r>
              <a:rPr sz="1700" b="0">
                <a:solidFill>
                  <a:srgbClr val="222B38"/>
                </a:solidFill>
                <a:latin typeface="Calibri"/>
              </a:rPr>
              <a:t>, </a:t>
            </a:r>
            <a:r>
              <a:rPr sz="1614" b="0">
                <a:solidFill>
                  <a:srgbClr val="3598DB"/>
                </a:solidFill>
                <a:latin typeface="Consolas"/>
              </a:rPr>
              <a:t>c2</a:t>
            </a:r>
            <a:r>
              <a:rPr sz="1700" b="0">
                <a:solidFill>
                  <a:srgbClr val="222B38"/>
                </a:solidFill>
                <a:latin typeface="Calibri"/>
              </a:rPr>
              <a:t>: cột </a:t>
            </a:r>
            <a:r>
              <a:rPr sz="1700" b="1">
                <a:solidFill>
                  <a:srgbClr val="222B38"/>
                </a:solidFill>
                <a:latin typeface="Calibri"/>
              </a:rPr>
              <a:t>phải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Cạnh trên: đi từ </a:t>
            </a:r>
            <a:r>
              <a:rPr sz="1614" b="0">
                <a:solidFill>
                  <a:srgbClr val="3598DB"/>
                </a:solidFill>
                <a:latin typeface="Consolas"/>
              </a:rPr>
              <a:t>c1 → c2</a:t>
            </a:r>
            <a:r>
              <a:rPr sz="1700" b="0">
                <a:solidFill>
                  <a:srgbClr val="222B38"/>
                </a:solidFill>
                <a:latin typeface="Calibri"/>
              </a:rPr>
              <a:t> trên hàng </a:t>
            </a:r>
            <a:r>
              <a:rPr sz="1614" b="0">
                <a:solidFill>
                  <a:srgbClr val="3598DB"/>
                </a:solidFill>
                <a:latin typeface="Consolas"/>
              </a:rPr>
              <a:t>h1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Cạnh phải: đi từ </a:t>
            </a:r>
            <a:r>
              <a:rPr sz="1614" b="0">
                <a:solidFill>
                  <a:srgbClr val="3598DB"/>
                </a:solidFill>
                <a:latin typeface="Consolas"/>
              </a:rPr>
              <a:t>h1 → h2</a:t>
            </a:r>
            <a:r>
              <a:rPr sz="1700" b="0">
                <a:solidFill>
                  <a:srgbClr val="222B38"/>
                </a:solidFill>
                <a:latin typeface="Calibri"/>
              </a:rPr>
              <a:t> trên cột </a:t>
            </a:r>
            <a:r>
              <a:rPr sz="1614" b="0">
                <a:solidFill>
                  <a:srgbClr val="3598DB"/>
                </a:solidFill>
                <a:latin typeface="Consolas"/>
              </a:rPr>
              <a:t>c2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Cạnh dưới: đi từ </a:t>
            </a:r>
            <a:r>
              <a:rPr sz="1614" b="0">
                <a:solidFill>
                  <a:srgbClr val="3598DB"/>
                </a:solidFill>
                <a:latin typeface="Consolas"/>
              </a:rPr>
              <a:t>c2 → c1</a:t>
            </a:r>
            <a:r>
              <a:rPr sz="1700" b="0">
                <a:solidFill>
                  <a:srgbClr val="222B38"/>
                </a:solidFill>
                <a:latin typeface="Calibri"/>
              </a:rPr>
              <a:t> trên hàng </a:t>
            </a:r>
            <a:r>
              <a:rPr sz="1614" b="0">
                <a:solidFill>
                  <a:srgbClr val="3598DB"/>
                </a:solidFill>
                <a:latin typeface="Consolas"/>
              </a:rPr>
              <a:t>h2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Cạnh trái: đi từ </a:t>
            </a:r>
            <a:r>
              <a:rPr sz="1614" b="0">
                <a:solidFill>
                  <a:srgbClr val="3598DB"/>
                </a:solidFill>
                <a:latin typeface="Consolas"/>
              </a:rPr>
              <a:t>h2 → h1</a:t>
            </a:r>
            <a:r>
              <a:rPr sz="1700" b="0">
                <a:solidFill>
                  <a:srgbClr val="222B38"/>
                </a:solidFill>
                <a:latin typeface="Calibri"/>
              </a:rPr>
              <a:t> trên cột </a:t>
            </a:r>
            <a:r>
              <a:rPr sz="1614" b="0">
                <a:solidFill>
                  <a:srgbClr val="3598DB"/>
                </a:solidFill>
                <a:latin typeface="Consolas"/>
              </a:rPr>
              <a:t>c1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Sau mỗi cạnh: thu hẹp biên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Ma Trận Xoắn Ốc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Xong cạnh trên → tăng </a:t>
            </a:r>
            <a:r>
              <a:rPr sz="1900" b="0">
                <a:solidFill>
                  <a:srgbClr val="3598DB"/>
                </a:solidFill>
                <a:latin typeface="Consolas"/>
              </a:rPr>
              <a:t>h1</a:t>
            </a:r>
            <a:r>
              <a:rPr sz="2000" b="0">
                <a:solidFill>
                  <a:srgbClr val="222B38"/>
                </a:solidFill>
                <a:latin typeface="Calibri"/>
              </a:rPr>
              <a:t>; xong cạnh phải → giảm </a:t>
            </a:r>
            <a:r>
              <a:rPr sz="1900" b="0">
                <a:solidFill>
                  <a:srgbClr val="3598DB"/>
                </a:solidFill>
                <a:latin typeface="Consolas"/>
              </a:rPr>
              <a:t>c2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Xong cạnh dưới → giảm </a:t>
            </a:r>
            <a:r>
              <a:rPr sz="1900" b="0">
                <a:solidFill>
                  <a:srgbClr val="3598DB"/>
                </a:solidFill>
                <a:latin typeface="Consolas"/>
              </a:rPr>
              <a:t>h2</a:t>
            </a:r>
            <a:r>
              <a:rPr sz="2000" b="0">
                <a:solidFill>
                  <a:srgbClr val="222B38"/>
                </a:solidFill>
                <a:latin typeface="Calibri"/>
              </a:rPr>
              <a:t>; xong cạnh trái → tăng </a:t>
            </a:r>
            <a:r>
              <a:rPr sz="1900" b="0">
                <a:solidFill>
                  <a:srgbClr val="3598DB"/>
                </a:solidFill>
                <a:latin typeface="Consolas"/>
              </a:rPr>
              <a:t>c1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Lặp lại vòng mới khi vẫn còn </a:t>
            </a:r>
            <a:r>
              <a:rPr sz="1900" b="0">
                <a:solidFill>
                  <a:srgbClr val="3598DB"/>
                </a:solidFill>
                <a:latin typeface="Consolas"/>
              </a:rPr>
              <a:t>h1 &lt;= h2 &amp;&amp; c1 &lt;= c2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Code dựng ma trận xoắn ốc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Ma Trận Xoắn Ốc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847240"/>
            <a:ext cx="10765231" cy="3828288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93544"/>
            <a:ext cx="10362895" cy="3535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h1 = 0, h2 = n - 1, c1 = 0, c2 = n - 1, dem =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while (h1 &lt;= h2 &amp;&amp; c1 &lt;= c2)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 (int i = c1; i &lt;= c2; i++) a[h1][i] = dem++;   // cạnh trên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h1++;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 (int i = h1; i &lt;= h2; i++) a[i][c2] = dem++;   // cạnh phải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c2--;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 (int i = c2; i &gt;= c1; i--) a[h2][i] = dem++;   // cạnh dưới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h2--;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 (int i = h2; i &gt;= h1; i--) a[i][c1] = dem++;   // cạnh trái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c1++;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in: printf("%d ", a[i][j]);  n=5 -&gt; 1 2 3 4 5 / 16 17 18 19 6 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Biến thể: xoắn ốc nguyên tố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Ma Trận Xoắn Ốc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69109"/>
            <a:ext cx="10765231" cy="16230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Chuẩn bị trước </a:t>
            </a:r>
            <a:r>
              <a:rPr sz="1800" b="1">
                <a:solidFill>
                  <a:srgbClr val="222B38"/>
                </a:solidFill>
                <a:latin typeface="Calibri"/>
              </a:rPr>
              <a:t>mảng số nguyên tố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đủ N² phần tử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Logic vòng lặp duyệt xoắn ốc </a:t>
            </a:r>
            <a:r>
              <a:rPr sz="1800" b="1">
                <a:solidFill>
                  <a:srgbClr val="222B38"/>
                </a:solidFill>
                <a:latin typeface="Calibri"/>
              </a:rPr>
              <a:t>giữ nguyên</a:t>
            </a:r>
            <a:r>
              <a:rPr sz="1800" b="0">
                <a:solidFill>
                  <a:srgbClr val="222B38"/>
                </a:solidFill>
                <a:latin typeface="Calibri"/>
              </a:rPr>
              <a:t> như bản gốc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Chỉ đổi: gán </a:t>
            </a:r>
            <a:r>
              <a:rPr sz="1709" b="0">
                <a:solidFill>
                  <a:srgbClr val="3598DB"/>
                </a:solidFill>
                <a:latin typeface="Consolas"/>
              </a:rPr>
              <a:t>a[...] = X[dem]</a:t>
            </a:r>
            <a:r>
              <a:rPr sz="1800" b="0">
                <a:solidFill>
                  <a:srgbClr val="222B38"/>
                </a:solidFill>
                <a:latin typeface="Calibri"/>
              </a:rPr>
              <a:t> (số nguyên tố) thay vì gán </a:t>
            </a:r>
            <a:r>
              <a:rPr sz="1709" b="0">
                <a:solidFill>
                  <a:srgbClr val="3598DB"/>
                </a:solidFill>
                <a:latin typeface="Consolas"/>
              </a:rPr>
              <a:t>dem</a:t>
            </a:r>
            <a:r>
              <a:rPr sz="1800" b="0">
                <a:solidFill>
                  <a:srgbClr val="222B38"/>
                </a:solidFill>
                <a:latin typeface="Calibri"/>
              </a:rPr>
              <a:t> trực tiếp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537889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84193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X[10000], idx = 0, i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while (idx &lt; n * n)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 (nt(i)) X[idx++] = i;   // gom số nguyên tố vào X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i++;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sau đó dùng đúng vòng lặp xoắn ốc, thay dem bằng X[dem]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Biến thể: xoắn ốc Fibonacci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Ma Trận Xoắn Ốc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Chuẩn bị trước </a:t>
            </a:r>
            <a:r>
              <a:rPr sz="2000" b="1">
                <a:solidFill>
                  <a:srgbClr val="222B38"/>
                </a:solidFill>
                <a:latin typeface="Calibri"/>
              </a:rPr>
              <a:t>mảng số Fibonacci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đủ N² phần tử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Gán vào ma trận theo đúng thứ tự xoắn ốc, thay </a:t>
            </a:r>
            <a:r>
              <a:rPr sz="1900" b="0">
                <a:solidFill>
                  <a:srgbClr val="3598DB"/>
                </a:solidFill>
                <a:latin typeface="Consolas"/>
              </a:rPr>
              <a:t>dem</a:t>
            </a:r>
            <a:r>
              <a:rPr sz="2000" b="0">
                <a:solidFill>
                  <a:srgbClr val="222B38"/>
                </a:solidFill>
                <a:latin typeface="Calibri"/>
              </a:rPr>
              <a:t> bằng </a:t>
            </a:r>
            <a:r>
              <a:rPr sz="1900" b="0">
                <a:solidFill>
                  <a:srgbClr val="3598DB"/>
                </a:solidFill>
                <a:latin typeface="Consolas"/>
              </a:rPr>
              <a:t>F[dem]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Số Fibonacci tăng rất nhanh: khai báo </a:t>
            </a:r>
            <a:r>
              <a:rPr sz="1900" b="0">
                <a:solidFill>
                  <a:srgbClr val="3598DB"/>
                </a:solidFill>
                <a:latin typeface="Consolas"/>
              </a:rPr>
              <a:t>long long</a:t>
            </a:r>
            <a:r>
              <a:rPr sz="2000" b="0">
                <a:solidFill>
                  <a:srgbClr val="222B38"/>
                </a:solidFill>
                <a:latin typeface="Calibri"/>
              </a:rPr>
              <a:t>, in bằng </a:t>
            </a:r>
            <a:r>
              <a:rPr sz="1900" b="0">
                <a:solidFill>
                  <a:srgbClr val="3598DB"/>
                </a:solidFill>
                <a:latin typeface="Consolas"/>
              </a:rPr>
              <a:t>%lld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Ma Trận Xoắn Ốc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Cốt lõi là </a:t>
            </a:r>
            <a:r>
              <a:rPr sz="1800" b="1">
                <a:solidFill>
                  <a:srgbClr val="222B38"/>
                </a:solidFill>
                <a:latin typeface="Calibri"/>
              </a:rPr>
              <a:t>4 biến biên</a:t>
            </a:r>
            <a:r>
              <a:rPr sz="1800" b="0">
                <a:solidFill>
                  <a:srgbClr val="222B38"/>
                </a:solidFill>
                <a:latin typeface="Calibri"/>
              </a:rPr>
              <a:t> </a:t>
            </a:r>
            <a:r>
              <a:rPr sz="1709" b="0">
                <a:solidFill>
                  <a:srgbClr val="3598DB"/>
                </a:solidFill>
                <a:latin typeface="Consolas"/>
              </a:rPr>
              <a:t>h1, h2, c1, c2</a:t>
            </a:r>
            <a:r>
              <a:rPr sz="1800" b="0">
                <a:solidFill>
                  <a:srgbClr val="222B38"/>
                </a:solidFill>
                <a:latin typeface="Calibri"/>
              </a:rPr>
              <a:t> và vòng lặp thu hẹp dần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Điều kiện dừng: </a:t>
            </a:r>
            <a:r>
              <a:rPr sz="1709" b="0">
                <a:solidFill>
                  <a:srgbClr val="3598DB"/>
                </a:solidFill>
                <a:latin typeface="Consolas"/>
              </a:rPr>
              <a:t>h1 &lt;= h2 &amp;&amp; c1 &lt;= c2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Xoắn ốc nguyên tố/Fibonacci chỉ đổi </a:t>
            </a:r>
            <a:r>
              <a:rPr sz="1800" b="1">
                <a:solidFill>
                  <a:srgbClr val="222B38"/>
                </a:solidFill>
                <a:latin typeface="Calibri"/>
              </a:rPr>
              <a:t>nguồn giá trị gán</a:t>
            </a:r>
            <a:r>
              <a:rPr sz="1800" b="0">
                <a:solidFill>
                  <a:srgbClr val="222B38"/>
                </a:solidFill>
                <a:latin typeface="Calibri"/>
              </a:rPr>
              <a:t>, giữ nguyên logic duyệt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Dùng </a:t>
            </a:r>
            <a:r>
              <a:rPr sz="1709" b="0">
                <a:solidFill>
                  <a:srgbClr val="3598DB"/>
                </a:solidFill>
                <a:latin typeface="Consolas"/>
              </a:rPr>
              <a:t>long long</a:t>
            </a:r>
            <a:r>
              <a:rPr sz="1800" b="0">
                <a:solidFill>
                  <a:srgbClr val="222B38"/>
                </a:solidFill>
                <a:latin typeface="Calibri"/>
              </a:rPr>
              <a:t> khi giá trị gán (như Fibonacci) có thể vượt quá 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