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Chuyển Đổi Giữa Số Và Chuỗi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hàm xâu → số trong stdlib.h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Giữa Số Và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atoi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int, </a:t>
            </a:r>
            <a:r>
              <a:rPr sz="1709" b="0">
                <a:solidFill>
                  <a:srgbClr val="3598DB"/>
                </a:solidFill>
                <a:latin typeface="Consolas"/>
              </a:rPr>
              <a:t>atol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long, </a:t>
            </a:r>
            <a:r>
              <a:rPr sz="1709" b="0">
                <a:solidFill>
                  <a:srgbClr val="3598DB"/>
                </a:solidFill>
                <a:latin typeface="Consolas"/>
              </a:rPr>
              <a:t>atoll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long long, </a:t>
            </a:r>
            <a:r>
              <a:rPr sz="1709" b="0">
                <a:solidFill>
                  <a:srgbClr val="3598DB"/>
                </a:solidFill>
                <a:latin typeface="Consolas"/>
              </a:rPr>
              <a:t>atof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double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strtoll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strtoul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strtoull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strtod</a:t>
            </a:r>
            <a:r>
              <a:rPr sz="1800" b="0">
                <a:solidFill>
                  <a:srgbClr val="222B38"/>
                </a:solidFill>
                <a:latin typeface="Calibri"/>
              </a:rPr>
              <a:t>: có </a:t>
            </a:r>
            <a:r>
              <a:rPr sz="1800" b="1">
                <a:solidFill>
                  <a:srgbClr val="222B38"/>
                </a:solidFill>
                <a:latin typeface="Calibri"/>
              </a:rPr>
              <a:t>báo lỗi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Thường dùng: </a:t>
            </a:r>
            <a:r>
              <a:rPr sz="1709" b="0">
                <a:solidFill>
                  <a:srgbClr val="3598DB"/>
                </a:solidFill>
                <a:latin typeface="Consolas"/>
              </a:rPr>
              <a:t>atoi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atoll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atof</a:t>
            </a:r>
            <a:r>
              <a:rPr sz="1800" b="0">
                <a:solidFill>
                  <a:srgbClr val="222B38"/>
                </a:solidFill>
                <a:latin typeface="Calibri"/>
              </a:rPr>
              <a:t>; cần kiểm tra lỗi thì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atoi(): xâu → 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Giữa Số Và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Bỏ qua khoảng trắng đầu; gặp ký tự không phải số thì </a:t>
            </a:r>
            <a:r>
              <a:rPr sz="2000" b="1">
                <a:solidFill>
                  <a:srgbClr val="222B38"/>
                </a:solidFill>
                <a:latin typeface="Calibri"/>
              </a:rPr>
              <a:t>dừng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báo lỗi</a:t>
            </a:r>
            <a:r>
              <a:rPr sz="2000" b="0">
                <a:solidFill>
                  <a:srgbClr val="222B38"/>
                </a:solidFill>
                <a:latin typeface="Calibri"/>
              </a:rPr>
              <a:t>: xâu không phải số trả về 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Vượt giới hạn int: </a:t>
            </a:r>
            <a:r>
              <a:rPr sz="2000" b="1">
                <a:solidFill>
                  <a:srgbClr val="222B38"/>
                </a:solidFill>
                <a:latin typeface="Calibri"/>
              </a:rPr>
              <a:t>hành vi không xác định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n1 = atoi("282828");           // 282828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n2 = atoi("-292828");          // -292828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n3 = atoi("2828codelab.dev");  // 2828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atoll() và atof() / strtod()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Giữa Số Và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atoll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số lớn kiểu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2000" b="0">
                <a:solidFill>
                  <a:srgbClr val="222B38"/>
                </a:solidFill>
                <a:latin typeface="Calibri"/>
              </a:rPr>
              <a:t>, in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%lld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atof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double</a:t>
            </a:r>
            <a:r>
              <a:rPr sz="2000" b="0">
                <a:solidFill>
                  <a:srgbClr val="222B38"/>
                </a:solidFill>
                <a:latin typeface="Calibri"/>
              </a:rPr>
              <a:t> dù tên có chữ f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a = atoll("100000000000000000");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b = atoll("28282828282828codelab.dev");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b = 28282828282828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x = atof("100.123");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y = strtod("28282.codelab.dev", NULL);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printf("%.3f\n", y);   // 28282.000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strtol(): chuyển đổi có kiểm tra lỗi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Giữa Số Và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end</a:t>
            </a:r>
            <a:r>
              <a:rPr sz="2000" b="0">
                <a:solidFill>
                  <a:srgbClr val="222B38"/>
                </a:solidFill>
                <a:latin typeface="Calibri"/>
              </a:rPr>
              <a:t> trỏ tới ký tự </a:t>
            </a:r>
            <a:r>
              <a:rPr sz="2000" b="1">
                <a:solidFill>
                  <a:srgbClr val="222B38"/>
                </a:solidFill>
                <a:latin typeface="Calibri"/>
              </a:rPr>
              <a:t>đầu tiên chưa đọc</a:t>
            </a:r>
            <a:r>
              <a:rPr sz="2000" b="0">
                <a:solidFill>
                  <a:srgbClr val="222B38"/>
                </a:solidFill>
                <a:latin typeface="Calibri"/>
              </a:rPr>
              <a:t>; </a:t>
            </a:r>
            <a:r>
              <a:rPr sz="1900" b="0">
                <a:solidFill>
                  <a:srgbClr val="3598DB"/>
                </a:solidFill>
                <a:latin typeface="Consolas"/>
              </a:rPr>
              <a:t>end == s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không phải số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Tràn giới hạn: </a:t>
            </a:r>
            <a:r>
              <a:rPr sz="1900" b="0">
                <a:solidFill>
                  <a:srgbClr val="3598DB"/>
                </a:solidFill>
                <a:latin typeface="Consolas"/>
              </a:rPr>
              <a:t>errno == ERANGE</a:t>
            </a:r>
            <a:r>
              <a:rPr sz="2000" b="0">
                <a:solidFill>
                  <a:srgbClr val="222B38"/>
                </a:solidFill>
                <a:latin typeface="Calibri"/>
              </a:rPr>
              <a:t> (</a:t>
            </a:r>
            <a:r>
              <a:rPr sz="1900" b="0">
                <a:solidFill>
                  <a:srgbClr val="3598DB"/>
                </a:solidFill>
                <a:latin typeface="Consolas"/>
              </a:rPr>
              <a:t>&lt;errno.h&gt;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Tham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base</a:t>
            </a:r>
            <a:r>
              <a:rPr sz="2000" b="0">
                <a:solidFill>
                  <a:srgbClr val="222B38"/>
                </a:solidFill>
                <a:latin typeface="Calibri"/>
              </a:rPr>
              <a:t>: 2–36, hoặc 0 để tự nhận tiền tố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0x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*end;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errno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n = strtol("2828codelab.dev", &amp;end, 10);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(end == s)             printf("Khong phai so\n");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if (errno == ERANGE) printf("So qua lon\n");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printf("%ld, con lai: %s\n", n, end);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2828, con lai: codelab.dev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strtol("FF", NULL, 16);   // 255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sscanf(): đọc số từ một xâu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Giữa Số Và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Giống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scanf</a:t>
            </a:r>
            <a:r>
              <a:rPr sz="2000" b="0">
                <a:solidFill>
                  <a:srgbClr val="222B38"/>
                </a:solidFill>
                <a:latin typeface="Calibri"/>
              </a:rPr>
              <a:t> nhưng đọc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xâu</a:t>
            </a:r>
            <a:r>
              <a:rPr sz="2000" b="0">
                <a:solidFill>
                  <a:srgbClr val="222B38"/>
                </a:solidFill>
                <a:latin typeface="Calibri"/>
              </a:rPr>
              <a:t> thay vì bàn phím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số biến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đọc thành công → dùng để kiểm tra lỗi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 (sscanf("  123", "%d", &amp;n) == 1)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printf("%d\n", n);   // 123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Số → xâu: sprintf() / snprintf()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Giữa Số Và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207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Giống </a:t>
            </a:r>
            <a:r>
              <a:rPr sz="1709" b="0">
                <a:solidFill>
                  <a:srgbClr val="3598DB"/>
                </a:solidFill>
                <a:latin typeface="Consolas"/>
              </a:rPr>
              <a:t>printf</a:t>
            </a:r>
            <a:r>
              <a:rPr sz="1800" b="0">
                <a:solidFill>
                  <a:srgbClr val="222B38"/>
                </a:solidFill>
                <a:latin typeface="Calibri"/>
              </a:rPr>
              <a:t> nhưng </a:t>
            </a:r>
            <a:r>
              <a:rPr sz="1800" b="1">
                <a:solidFill>
                  <a:srgbClr val="222B38"/>
                </a:solidFill>
                <a:latin typeface="Calibri"/>
              </a:rPr>
              <a:t>ghi vào mảng char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mọi đặc tả: </a:t>
            </a:r>
            <a:r>
              <a:rPr sz="1709" b="0">
                <a:solidFill>
                  <a:srgbClr val="3598DB"/>
                </a:solidFill>
                <a:latin typeface="Consolas"/>
              </a:rPr>
              <a:t>%d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%lld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%.2f</a:t>
            </a:r>
            <a:r>
              <a:rPr sz="1800" b="0">
                <a:solidFill>
                  <a:srgbClr val="222B38"/>
                </a:solidFill>
                <a:latin typeface="Calibri"/>
              </a:rPr>
              <a:t>...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Nên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snprintf</a:t>
            </a:r>
            <a:r>
              <a:rPr sz="1800" b="0">
                <a:solidFill>
                  <a:srgbClr val="222B38"/>
                </a:solidFill>
                <a:latin typeface="Calibri"/>
              </a:rPr>
              <a:t>: nhận kích thước,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ghi vượt</a:t>
            </a:r>
            <a:r>
              <a:rPr sz="1800" b="0">
                <a:solidFill>
                  <a:srgbClr val="222B38"/>
                </a:solidFill>
                <a:latin typeface="Calibri"/>
              </a:rPr>
              <a:t>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itoa()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phải</a:t>
            </a:r>
            <a:r>
              <a:rPr sz="1800" b="0">
                <a:solidFill>
                  <a:srgbClr val="222B38"/>
                </a:solidFill>
                <a:latin typeface="Calibri"/>
              </a:rPr>
              <a:t> hàm chuẩn 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5091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9722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s[50];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snprintf(s, sizeof(s), "%d", 28282828);   // "28282828"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t[50];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snprintf(t, sizeof(t), "%.2f", 3.14159);  // "3.14"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Chuyển Đổi Giữa Số Và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Xâu → số: </a:t>
            </a:r>
            <a:r>
              <a:rPr sz="1709" b="0">
                <a:solidFill>
                  <a:srgbClr val="3598DB"/>
                </a:solidFill>
                <a:latin typeface="Consolas"/>
              </a:rPr>
              <a:t>atoi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atoll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atof</a:t>
            </a:r>
            <a:r>
              <a:rPr sz="1800" b="0">
                <a:solidFill>
                  <a:srgbClr val="222B38"/>
                </a:solidFill>
                <a:latin typeface="Calibri"/>
              </a:rPr>
              <a:t> nhanh gọn nhưng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báo lỗi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kiểm tra lỗi: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strtol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strtod</a:t>
            </a:r>
            <a:r>
              <a:rPr sz="1800" b="0">
                <a:solidFill>
                  <a:srgbClr val="222B38"/>
                </a:solidFill>
                <a:latin typeface="Calibri"/>
              </a:rPr>
              <a:t> với con trỏ </a:t>
            </a:r>
            <a:r>
              <a:rPr sz="1709" b="0">
                <a:solidFill>
                  <a:srgbClr val="3598DB"/>
                </a:solidFill>
                <a:latin typeface="Consolas"/>
              </a:rPr>
              <a:t>end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</a:t>
            </a:r>
            <a:r>
              <a:rPr sz="1709" b="0">
                <a:solidFill>
                  <a:srgbClr val="3598DB"/>
                </a:solidFill>
                <a:latin typeface="Consolas"/>
              </a:rPr>
              <a:t>errno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sscanf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đọc số từ xâu, trả về số biến đọc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→ xâu: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snprintf</a:t>
            </a:r>
            <a:r>
              <a:rPr sz="1800" b="0">
                <a:solidFill>
                  <a:srgbClr val="222B38"/>
                </a:solidFill>
                <a:latin typeface="Calibri"/>
              </a:rPr>
              <a:t>, luôn truyền kích thước mảng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