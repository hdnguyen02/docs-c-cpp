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Bài Toán Tần Suất Ký Tự Trong Chuỗi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Đếm tần suất ký tự - 2 cách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Toán Tần Suất Ký Tự Trong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đếm 256 phần tử</a:t>
            </a:r>
            <a:r>
              <a:rPr sz="2000" b="0">
                <a:solidFill>
                  <a:srgbClr val="222B38"/>
                </a:solidFill>
                <a:latin typeface="Calibri"/>
              </a:rPr>
              <a:t>: mã ký tự (0-255) làm chỉ số, </a:t>
            </a:r>
            <a:r>
              <a:rPr sz="2000" b="1">
                <a:solidFill>
                  <a:srgbClr val="222B38"/>
                </a:solidFill>
                <a:latin typeface="Calibri"/>
              </a:rPr>
              <a:t>O(N)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đếm 26 phần tử</a:t>
            </a:r>
            <a:r>
              <a:rPr sz="2000" b="0">
                <a:solidFill>
                  <a:srgbClr val="222B38"/>
                </a:solidFill>
                <a:latin typeface="Calibri"/>
              </a:rPr>
              <a:t>: chỉ đếm chữ cái, chỉ số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c - 'a'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2000" b="1">
                <a:solidFill>
                  <a:srgbClr val="222B38"/>
                </a:solidFill>
                <a:latin typeface="Calibri"/>
              </a:rPr>
              <a:t>O(N)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Cả hai đều dựa trên kỹ thuật </a:t>
            </a:r>
            <a:r>
              <a:rPr sz="2000" b="1">
                <a:solidFill>
                  <a:srgbClr val="222B38"/>
                </a:solidFill>
                <a:latin typeface="Calibri"/>
              </a:rPr>
              <a:t>mảng đánh dấu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Đếm bằng mảng 256 phần tử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Toán Tần Suất Ký Tự Trong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'a' có mã ASCII 97 nên </a:t>
            </a:r>
            <a:r>
              <a:rPr sz="1900" b="0">
                <a:solidFill>
                  <a:srgbClr val="3598DB"/>
                </a:solidFill>
                <a:latin typeface="Consolas"/>
              </a:rPr>
              <a:t>cnt[97]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tần suất của 'a'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Ép </a:t>
            </a:r>
            <a:r>
              <a:rPr sz="1900" b="0">
                <a:solidFill>
                  <a:srgbClr val="3598DB"/>
                </a:solidFill>
                <a:latin typeface="Consolas"/>
              </a:rPr>
              <a:t>(unsigned char)</a:t>
            </a:r>
            <a:r>
              <a:rPr sz="2000" b="0">
                <a:solidFill>
                  <a:srgbClr val="222B38"/>
                </a:solidFill>
                <a:latin typeface="Calibri"/>
              </a:rPr>
              <a:t>: </a:t>
            </a:r>
            <a:r>
              <a:rPr sz="1900" b="0">
                <a:solidFill>
                  <a:srgbClr val="3598DB"/>
                </a:solidFill>
                <a:latin typeface="Consolas"/>
              </a:rPr>
              <a:t>char</a:t>
            </a:r>
            <a:r>
              <a:rPr sz="2000" b="0">
                <a:solidFill>
                  <a:srgbClr val="222B38"/>
                </a:solidFill>
                <a:latin typeface="Calibri"/>
              </a:rPr>
              <a:t> có thể âm, làm chỉ số ra ngoài mảng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cnt[256] = {0};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s[i] != '\0';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cnt[(unsigned char)s[i]]++;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256;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if(cnt[i] != 0)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printf("%c xuat hien %d lan\n", i, cnt[i]);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in theo thu tu ma ASCII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Đếm chữ cái bằng mảng 26 phần tử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Toán Tần Suất Ký Tự Trong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Ánh xạ </a:t>
            </a:r>
            <a:r>
              <a:rPr sz="1900" b="0">
                <a:solidFill>
                  <a:srgbClr val="3598DB"/>
                </a:solidFill>
                <a:latin typeface="Consolas"/>
              </a:rPr>
              <a:t>'a'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0, ..., </a:t>
            </a:r>
            <a:r>
              <a:rPr sz="1900" b="0">
                <a:solidFill>
                  <a:srgbClr val="3598DB"/>
                </a:solidFill>
                <a:latin typeface="Consolas"/>
              </a:rPr>
              <a:t>'z'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25; in ra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'a' + 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Bắt buộc</a:t>
            </a:r>
            <a:r>
              <a:rPr sz="2000" b="0">
                <a:solidFill>
                  <a:srgbClr val="222B38"/>
                </a:solidFill>
                <a:latin typeface="Calibri"/>
              </a:rPr>
              <a:t> kiểm tra ký tự nằm trong </a:t>
            </a:r>
            <a:r>
              <a:rPr sz="1900" b="0">
                <a:solidFill>
                  <a:srgbClr val="3598DB"/>
                </a:solidFill>
                <a:latin typeface="Consolas"/>
              </a:rPr>
              <a:t>'a'..'z'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cnt[26] = {0};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s[i] != '\0';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if(s[i] &gt;= 'a' &amp;&amp; s[i] &lt;= 'z')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cnt[s[i] - 'a']++;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26;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if(cnt[i] != 0)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printf("%c xuat hien %d lan\n", 'a' + i, cnt[i]);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tập: đếm ký tự khác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Toán Tần Suất Ký Tự Trong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93594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Đánh dấu ký tự xuất hiện = 1, rồi cộng tất cả các ô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935274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81578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cnt[256] = {0};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s[i] != '\0';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cnt[(unsigned char)s[i]]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dem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i &lt; 256; i++) dem += cnt[i];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s = "codelab codelab aaa" -&gt; dem =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tập: liệt kê theo thứ tự xuất hiện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Toán Tần Suất Ký Tự Trong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Duyệt chuỗi gốc thay vì duyệt mảng đếm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Sau khi in, gán tần suất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0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tránh in lại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s[i] != '\0';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unsigned char c = (unsigned char)s[i];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if(cnt[c] !=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printf("%c xuat hien %d lan\n", s[i], cnt[c]);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cnt[c]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tập: kiểm tra chuỗi pangram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Toán Tần Suất Ký Tự Trong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Pangram: chứa đủ </a:t>
            </a:r>
            <a:r>
              <a:rPr sz="2000" b="1">
                <a:solidFill>
                  <a:srgbClr val="222B38"/>
                </a:solidFill>
                <a:latin typeface="Calibri"/>
              </a:rPr>
              <a:t>a-z</a:t>
            </a:r>
            <a:r>
              <a:rPr sz="2000" b="0">
                <a:solidFill>
                  <a:srgbClr val="222B38"/>
                </a:solidFill>
                <a:latin typeface="Calibri"/>
              </a:rPr>
              <a:t> không phân biệt hoa thường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Đưa về chữ thường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tolower()</a:t>
            </a:r>
            <a:r>
              <a:rPr sz="2000" b="0">
                <a:solidFill>
                  <a:srgbClr val="222B38"/>
                </a:solidFill>
                <a:latin typeface="Calibri"/>
              </a:rPr>
              <a:t> rồi đếm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cnt[256] = {0};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0; s[i] != '\0';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cnt[tolower((unsigned char)s[i])]++;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ok = true;                 // can &lt;stdbool.h&gt;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'a'; i &lt;= 'z';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if(cnt[i] == 0){ ok = false; break;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printf(ok ? "YES\n" : "NO\n");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Bài Toán Tần Suất Ký Tự Trong Chuỗi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đếm 256 phần tử 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mã ký tự</a:t>
            </a:r>
            <a:r>
              <a:rPr sz="1800" b="0">
                <a:solidFill>
                  <a:srgbClr val="222B38"/>
                </a:solidFill>
                <a:latin typeface="Calibri"/>
              </a:rPr>
              <a:t> làm chỉ số, độ phức tạp </a:t>
            </a:r>
            <a:r>
              <a:rPr sz="1800" b="1">
                <a:solidFill>
                  <a:srgbClr val="222B38"/>
                </a:solidFill>
                <a:latin typeface="Calibri"/>
              </a:rPr>
              <a:t>O(N)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ép </a:t>
            </a:r>
            <a:r>
              <a:rPr sz="1709" b="0">
                <a:solidFill>
                  <a:srgbClr val="3598DB"/>
                </a:solidFill>
                <a:latin typeface="Consolas"/>
              </a:rPr>
              <a:t>(unsigned char)</a:t>
            </a:r>
            <a:r>
              <a:rPr sz="1800" b="0">
                <a:solidFill>
                  <a:srgbClr val="222B38"/>
                </a:solidFill>
                <a:latin typeface="Calibri"/>
              </a:rPr>
              <a:t> trước khi dùng ký tự làm chỉ số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Mảng 26 phần tử: chỉ số </a:t>
            </a:r>
            <a:r>
              <a:rPr sz="1709" b="0">
                <a:solidFill>
                  <a:srgbClr val="3598DB"/>
                </a:solidFill>
                <a:latin typeface="Consolas"/>
              </a:rPr>
              <a:t>c - 'a'</a:t>
            </a:r>
            <a:r>
              <a:rPr sz="1800" b="0">
                <a:solidFill>
                  <a:srgbClr val="222B38"/>
                </a:solidFill>
                <a:latin typeface="Calibri"/>
              </a:rPr>
              <a:t>, phải kiểm tra là chữ cái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Reset tần suất về 0 sau khi in để tránh in lặp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