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Chèn Và Xóa Phần Tử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Vấn đề: mảng 1 chiều có kích thước cố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Chèn Và Xóa Phần Tử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thể thật sự thêm/bớt ô nhớ của mảng tĩnh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Xóa</a:t>
            </a:r>
            <a:r>
              <a:rPr sz="2000" b="0">
                <a:solidFill>
                  <a:srgbClr val="222B38"/>
                </a:solidFill>
                <a:latin typeface="Calibri"/>
              </a:rPr>
              <a:t>: coi như chỉ còn quản lý N - 1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Chèn</a:t>
            </a:r>
            <a:r>
              <a:rPr sz="2000" b="0">
                <a:solidFill>
                  <a:srgbClr val="222B38"/>
                </a:solidFill>
                <a:latin typeface="Calibri"/>
              </a:rPr>
              <a:t>: cần khai báo dư chỗ trống từ đầu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Xóa phần tử tại chỉ số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Chèn Và Xóa Phần Tử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34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Dịch các phần tử từ </a:t>
            </a:r>
            <a:r>
              <a:rPr sz="2000" b="1">
                <a:solidFill>
                  <a:srgbClr val="222B38"/>
                </a:solidFill>
                <a:latin typeface="Calibri"/>
              </a:rPr>
              <a:t>K+1 → N-1</a:t>
            </a:r>
            <a:r>
              <a:rPr sz="2000" b="0">
                <a:solidFill>
                  <a:srgbClr val="222B38"/>
                </a:solidFill>
                <a:latin typeface="Calibri"/>
              </a:rPr>
              <a:t> sang trái 1 ô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Duyệt dịch theo chiều </a:t>
            </a:r>
            <a:r>
              <a:rPr sz="2000" b="1">
                <a:solidFill>
                  <a:srgbClr val="222B38"/>
                </a:solidFill>
                <a:latin typeface="Calibri"/>
              </a:rPr>
              <a:t>trái sang phải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Sau đó giảm </a:t>
            </a:r>
            <a:r>
              <a:rPr sz="1900" b="0">
                <a:solidFill>
                  <a:srgbClr val="3598DB"/>
                </a:solidFill>
                <a:latin typeface="Consolas"/>
              </a:rPr>
              <a:t>n</a:t>
            </a:r>
            <a:r>
              <a:rPr sz="2000" b="0">
                <a:solidFill>
                  <a:srgbClr val="222B38"/>
                </a:solidFill>
                <a:latin typeface="Calibri"/>
              </a:rPr>
              <a:t> đi 1 đơn vị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0128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4759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7, k = 3;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a[7] = {2, 3, 1, 5, 8, 9, 4};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k; i &lt; n - 1;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a[i] = a[i + 1];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--n;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Mang sau khi xoa: 2 3 1 8 9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Vì sao phải dịch từ trái sang phải khi xóa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Chèn Và Xóa Phần Tử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Đi từ K lên N-1: mỗi bước lấy giá trị ô liền sau đè lên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Ô cuối N-1 không cần xử lý riêng, tự bị bỏ khi giảm </a:t>
            </a:r>
            <a:r>
              <a:rPr sz="1900" b="0">
                <a:solidFill>
                  <a:srgbClr val="3598DB"/>
                </a:solidFill>
                <a:latin typeface="Consolas"/>
              </a:rPr>
              <a:t>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Đảm bảo không mất giá trị nào chưa kịp dịch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Chèn giá trị X vào chỉ số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Chèn Và Xóa Phần Tử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9910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Cần khai báo mảng </a:t>
            </a:r>
            <a:r>
              <a:rPr sz="1800" b="1">
                <a:solidFill>
                  <a:srgbClr val="222B38"/>
                </a:solidFill>
                <a:latin typeface="Calibri"/>
              </a:rPr>
              <a:t>dư ít nhất 1 ô</a:t>
            </a:r>
            <a:r>
              <a:rPr sz="1800" b="0">
                <a:solidFill>
                  <a:srgbClr val="222B38"/>
                </a:solidFill>
                <a:latin typeface="Calibri"/>
              </a:rPr>
              <a:t> so với 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Dịch phần tử từ </a:t>
            </a:r>
            <a:r>
              <a:rPr sz="1800" b="1">
                <a:solidFill>
                  <a:srgbClr val="222B38"/>
                </a:solidFill>
                <a:latin typeface="Calibri"/>
              </a:rPr>
              <a:t>K → N-1</a:t>
            </a:r>
            <a:r>
              <a:rPr sz="1800" b="0">
                <a:solidFill>
                  <a:srgbClr val="222B38"/>
                </a:solidFill>
                <a:latin typeface="Calibri"/>
              </a:rPr>
              <a:t> sang phải 1 ô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dịch theo chiều </a:t>
            </a:r>
            <a:r>
              <a:rPr sz="1800" b="1">
                <a:solidFill>
                  <a:srgbClr val="222B38"/>
                </a:solidFill>
                <a:latin typeface="Calibri"/>
              </a:rPr>
              <a:t>phải sang trái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Gán </a:t>
            </a:r>
            <a:r>
              <a:rPr sz="1709" b="0">
                <a:solidFill>
                  <a:srgbClr val="3598DB"/>
                </a:solidFill>
                <a:latin typeface="Consolas"/>
              </a:rPr>
              <a:t>a[K] = X</a:t>
            </a:r>
            <a:r>
              <a:rPr sz="1800" b="0">
                <a:solidFill>
                  <a:srgbClr val="222B38"/>
                </a:solidFill>
                <a:latin typeface="Calibri"/>
              </a:rPr>
              <a:t> rồi tăng </a:t>
            </a:r>
            <a:r>
              <a:rPr sz="1709" b="0">
                <a:solidFill>
                  <a:srgbClr val="3598DB"/>
                </a:solidFill>
                <a:latin typeface="Consolas"/>
              </a:rPr>
              <a:t>n</a:t>
            </a:r>
            <a:r>
              <a:rPr sz="1800" b="0">
                <a:solidFill>
                  <a:srgbClr val="222B38"/>
                </a:solidFill>
                <a:latin typeface="Calibri"/>
              </a:rPr>
              <a:t> lên 1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4794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25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7, k = 3, x = 100;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a[10] = {2, 3, 1, 5, 8, 9, 4};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n - 1; i &gt;= k; i--)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a[i + 1] = a[i];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a[k] = x;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++n;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Mang sau khi chen: 2 3 1 100 5 8 9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Vì sao phải dịch từ phải sang trái khi chèn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Chèn Và Xóa Phần Tử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Đi từ N-1 xuống K: dịch phần tử cuối ra ô trống trước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Nếu dịch theo chiều ngược lại sẽ </a:t>
            </a:r>
            <a:r>
              <a:rPr sz="2000" b="1">
                <a:solidFill>
                  <a:srgbClr val="222B38"/>
                </a:solidFill>
                <a:latin typeface="Calibri"/>
              </a:rPr>
              <a:t>ghi đè mất dữ liệu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Sau khi dịch xong, ô tại K mới trống để gán 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Chèn Và Xóa Phần Tử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Xóa</a:t>
            </a:r>
            <a:r>
              <a:rPr sz="1800" b="0">
                <a:solidFill>
                  <a:srgbClr val="222B38"/>
                </a:solidFill>
                <a:latin typeface="Calibri"/>
              </a:rPr>
              <a:t>: dịch trái, đi từ K+1 đến N-1, giảm </a:t>
            </a:r>
            <a:r>
              <a:rPr sz="1709" b="0">
                <a:solidFill>
                  <a:srgbClr val="3598DB"/>
                </a:solidFill>
                <a:latin typeface="Consolas"/>
              </a:rPr>
              <a:t>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Chèn</a:t>
            </a:r>
            <a:r>
              <a:rPr sz="1800" b="0">
                <a:solidFill>
                  <a:srgbClr val="222B38"/>
                </a:solidFill>
                <a:latin typeface="Calibri"/>
              </a:rPr>
              <a:t>: dịch phải, đi từ N-1 về K, tăng </a:t>
            </a:r>
            <a:r>
              <a:rPr sz="1709" b="0">
                <a:solidFill>
                  <a:srgbClr val="3598DB"/>
                </a:solidFill>
                <a:latin typeface="Consolas"/>
              </a:rPr>
              <a:t>n</a:t>
            </a:r>
            <a:r>
              <a:rPr sz="1800" b="0">
                <a:solidFill>
                  <a:srgbClr val="222B38"/>
                </a:solidFill>
                <a:latin typeface="Calibri"/>
              </a:rPr>
              <a:t>, cần dư chỗ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Sai chiều dịch chuyển sẽ </a:t>
            </a:r>
            <a:r>
              <a:rPr sz="1800" b="1">
                <a:solidFill>
                  <a:srgbClr val="222B38"/>
                </a:solidFill>
                <a:latin typeface="Calibri"/>
              </a:rPr>
              <a:t>ghi đè và mất dữ liệu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Đây là bản chất khi các cấu trúc dữ liệu bên trong dùng mảng tĩnh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