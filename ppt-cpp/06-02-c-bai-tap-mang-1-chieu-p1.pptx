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Bài Tập Mảng 1 Chiều P1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Tổng quan 4 dạng bài trên mảng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Mảng 1 Chiều P1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Liệt kê / đếm</a:t>
            </a:r>
            <a:r>
              <a:rPr sz="1800" b="0">
                <a:solidFill>
                  <a:srgbClr val="222B38"/>
                </a:solidFill>
                <a:latin typeface="Calibri"/>
              </a:rPr>
              <a:t> phần tử thỏa tính chất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Tìm max, min</a:t>
            </a:r>
            <a:r>
              <a:rPr sz="1800" b="0">
                <a:solidFill>
                  <a:srgbClr val="222B38"/>
                </a:solidFill>
                <a:latin typeface="Calibri"/>
              </a:rPr>
              <a:t> trong mảng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Mảng đối xứng</a:t>
            </a:r>
            <a:r>
              <a:rPr sz="1800" b="0">
                <a:solidFill>
                  <a:srgbClr val="222B38"/>
                </a:solidFill>
                <a:latin typeface="Calibri"/>
              </a:rPr>
              <a:t> và lật ngược mảng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Đếm cặp phần tử</a:t>
            </a:r>
            <a:r>
              <a:rPr sz="1800" b="0">
                <a:solidFill>
                  <a:srgbClr val="222B38"/>
                </a:solidFill>
                <a:latin typeface="Calibri"/>
              </a:rPr>
              <a:t> thỏa điều kiện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Liệt kê &amp; đếm phần tử thỏa tính chất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Mảng 1 Chiều P1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>
                <a:solidFill>
                  <a:srgbClr val="767F8C"/>
                </a:solidFill>
                <a:latin typeface="Calibri"/>
              </a:rPr>
              <a:t>Bài: liệt kê các số nguyên tố trong mảng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65376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Bước 1: chuẩn bị hàm kiểm tra tính chất (vd </a:t>
            </a:r>
            <a:r>
              <a:rPr sz="1709" b="0">
                <a:solidFill>
                  <a:srgbClr val="3598DB"/>
                </a:solidFill>
                <a:latin typeface="Consolas"/>
              </a:rPr>
              <a:t>nt()</a:t>
            </a:r>
            <a:r>
              <a:rPr sz="1800" b="0">
                <a:solidFill>
                  <a:srgbClr val="222B38"/>
                </a:solidFill>
                <a:latin typeface="Calibri"/>
              </a:rPr>
              <a:t> kiểm tra nguyên tố)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Bước 2: duyệt từng phần tử, thỏa thì đếm hoặc in ra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Áp dụng tương tự cho các tính chất khác: chẵn, lẻ, thuận nghịch...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Cần </a:t>
            </a:r>
            <a:r>
              <a:rPr sz="1709" b="0">
                <a:solidFill>
                  <a:srgbClr val="3598DB"/>
                </a:solidFill>
                <a:latin typeface="Consolas"/>
              </a:rPr>
              <a:t>&lt;stdbool.h&gt;</a:t>
            </a:r>
            <a:r>
              <a:rPr sz="1800" b="0">
                <a:solidFill>
                  <a:srgbClr val="222B38"/>
                </a:solidFill>
                <a:latin typeface="Calibri"/>
              </a:rPr>
              <a:t> cho </a:t>
            </a:r>
            <a:r>
              <a:rPr sz="1709" b="0">
                <a:solidFill>
                  <a:srgbClr val="3598DB"/>
                </a:solidFill>
                <a:latin typeface="Consolas"/>
              </a:rPr>
              <a:t>bool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&lt;math.h&gt;</a:t>
            </a:r>
            <a:r>
              <a:rPr sz="1800" b="0">
                <a:solidFill>
                  <a:srgbClr val="222B38"/>
                </a:solidFill>
                <a:latin typeface="Calibri"/>
              </a:rPr>
              <a:t> cho </a:t>
            </a:r>
            <a:r>
              <a:rPr sz="1709" b="0">
                <a:solidFill>
                  <a:srgbClr val="3598DB"/>
                </a:solidFill>
                <a:latin typeface="Consolas"/>
              </a:rPr>
              <a:t>sqrt</a:t>
            </a:r>
            <a:r>
              <a:rPr sz="1800" b="0">
                <a:solidFill>
                  <a:srgbClr val="222B38"/>
                </a:solidFill>
                <a:latin typeface="Calibri"/>
              </a:rPr>
              <a:t> (gcc thêm </a:t>
            </a:r>
            <a:r>
              <a:rPr sz="1709" b="0">
                <a:solidFill>
                  <a:srgbClr val="3598DB"/>
                </a:solidFill>
                <a:latin typeface="Consolas"/>
              </a:rPr>
              <a:t>-lm</a:t>
            </a:r>
            <a:r>
              <a:rPr sz="1800" b="0">
                <a:solidFill>
                  <a:srgbClr val="222B38"/>
                </a:solidFill>
                <a:latin typeface="Calibri"/>
              </a:rPr>
              <a:t>)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4014216"/>
            <a:ext cx="10765231" cy="2340863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10362895" cy="20482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FF7"/>
                </a:solidFill>
                <a:latin typeface="Consolas"/>
              </a:rPr>
              <a:t>bool nt(int 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FF7"/>
                </a:solidFill>
                <a:latin typeface="Consolas"/>
              </a:rPr>
              <a:t>    if(n &lt; 2) return false;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FF7"/>
                </a:solidFill>
                <a:latin typeface="Consolas"/>
              </a:rPr>
              <a:t>    for(int i = 2; i &lt;= sqrt(n);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FF7"/>
                </a:solidFill>
                <a:latin typeface="Consolas"/>
              </a:rPr>
              <a:t>        if(n % i == 0) return false;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FF7"/>
                </a:solidFill>
                <a:latin typeface="Consolas"/>
              </a:rPr>
              <a:t>    return true;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FF7"/>
                </a:solidFill>
                <a:latin typeface="Consolas"/>
              </a:rPr>
              <a:t>for(int i = 0; i &lt; n;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FF7"/>
                </a:solidFill>
                <a:latin typeface="Consolas"/>
              </a:rPr>
              <a:t>    if(nt(a[i])) printf("%d ", a[i]);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Tìm Max, Min trong mảng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Mảng 1 Chiều P1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70100"/>
            <a:ext cx="10765231" cy="16230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Cách 1: giả sử </a:t>
            </a:r>
            <a:r>
              <a:rPr sz="1709" b="0">
                <a:solidFill>
                  <a:srgbClr val="3598DB"/>
                </a:solidFill>
                <a:latin typeface="Consolas"/>
              </a:rPr>
              <a:t>a[0]</a:t>
            </a:r>
            <a:r>
              <a:rPr sz="1800" b="0">
                <a:solidFill>
                  <a:srgbClr val="222B38"/>
                </a:solidFill>
                <a:latin typeface="Calibri"/>
              </a:rPr>
              <a:t> là max/min, duyệt từ </a:t>
            </a:r>
            <a:r>
              <a:rPr sz="1709" b="0">
                <a:solidFill>
                  <a:srgbClr val="3598DB"/>
                </a:solidFill>
                <a:latin typeface="Consolas"/>
              </a:rPr>
              <a:t>i=1</a:t>
            </a:r>
            <a:r>
              <a:rPr sz="1800" b="0">
                <a:solidFill>
                  <a:srgbClr val="222B38"/>
                </a:solidFill>
                <a:latin typeface="Calibri"/>
              </a:rPr>
              <a:t> để so sánh và cập nhật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Cách 2: khởi tạo </a:t>
            </a:r>
            <a:r>
              <a:rPr sz="1709" b="0">
                <a:solidFill>
                  <a:srgbClr val="3598DB"/>
                </a:solidFill>
                <a:latin typeface="Consolas"/>
              </a:rPr>
              <a:t>max_val</a:t>
            </a:r>
            <a:r>
              <a:rPr sz="1800" b="0">
                <a:solidFill>
                  <a:srgbClr val="222B38"/>
                </a:solidFill>
                <a:latin typeface="Calibri"/>
              </a:rPr>
              <a:t> = </a:t>
            </a:r>
            <a:r>
              <a:rPr sz="1800" b="1">
                <a:solidFill>
                  <a:srgbClr val="222B38"/>
                </a:solidFill>
                <a:latin typeface="Calibri"/>
              </a:rPr>
              <a:t>rất nhỏ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min_val</a:t>
            </a:r>
            <a:r>
              <a:rPr sz="1800" b="0">
                <a:solidFill>
                  <a:srgbClr val="222B38"/>
                </a:solidFill>
                <a:latin typeface="Calibri"/>
              </a:rPr>
              <a:t> = </a:t>
            </a:r>
            <a:r>
              <a:rPr sz="1800" b="1">
                <a:solidFill>
                  <a:srgbClr val="222B38"/>
                </a:solidFill>
                <a:latin typeface="Calibri"/>
              </a:rPr>
              <a:t>rất lớn</a:t>
            </a:r>
            <a:r>
              <a:rPr sz="1800" b="0">
                <a:solidFill>
                  <a:srgbClr val="222B38"/>
                </a:solidFill>
                <a:latin typeface="Calibri"/>
              </a:rPr>
              <a:t>, duyệt từ </a:t>
            </a:r>
            <a:r>
              <a:rPr sz="1709" b="0">
                <a:solidFill>
                  <a:srgbClr val="3598DB"/>
                </a:solidFill>
                <a:latin typeface="Consolas"/>
              </a:rPr>
              <a:t>i=0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Giá trị khởi tạo phải nằm </a:t>
            </a:r>
            <a:r>
              <a:rPr sz="1800" b="1">
                <a:solidFill>
                  <a:srgbClr val="222B38"/>
                </a:solidFill>
                <a:latin typeface="Calibri"/>
              </a:rPr>
              <a:t>ngoài phạm vi</a:t>
            </a:r>
            <a:r>
              <a:rPr sz="1800" b="0">
                <a:solidFill>
                  <a:srgbClr val="222B38"/>
                </a:solidFill>
                <a:latin typeface="Calibri"/>
              </a:rPr>
              <a:t> giá trị mà đề bài cho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638880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85184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max_val = a[0], min_val = a[0];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1; i &lt; n; i++){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if(a[i] &lt; min_val) min_val = a[i];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if(a[i] &gt; max_val) max_val = a[i];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Mảng đối xứng &amp; lật ngược mảng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Mảng 1 Chiều P1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16230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Phần tử chỉ số </a:t>
            </a:r>
            <a:r>
              <a:rPr sz="1709" b="0">
                <a:solidFill>
                  <a:srgbClr val="3598DB"/>
                </a:solidFill>
                <a:latin typeface="Consolas"/>
              </a:rPr>
              <a:t>i</a:t>
            </a:r>
            <a:r>
              <a:rPr sz="1800" b="0">
                <a:solidFill>
                  <a:srgbClr val="222B38"/>
                </a:solidFill>
                <a:latin typeface="Calibri"/>
              </a:rPr>
              <a:t> đối xứng với phần tử chỉ số </a:t>
            </a:r>
            <a:r>
              <a:rPr sz="1709" b="0">
                <a:solidFill>
                  <a:srgbClr val="3598DB"/>
                </a:solidFill>
                <a:latin typeface="Consolas"/>
              </a:rPr>
              <a:t>n-i-1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Chỉ cần xét </a:t>
            </a:r>
            <a:r>
              <a:rPr sz="1800" b="1">
                <a:solidFill>
                  <a:srgbClr val="222B38"/>
                </a:solidFill>
                <a:latin typeface="Calibri"/>
              </a:rPr>
              <a:t>N/2 cặp</a:t>
            </a:r>
            <a:r>
              <a:rPr sz="1800" b="0">
                <a:solidFill>
                  <a:srgbClr val="222B38"/>
                </a:solidFill>
                <a:latin typeface="Calibri"/>
              </a:rPr>
              <a:t> đầu-cuối là đủ kết luận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Lật ngược mảng: dùng đúng các cặp đó nhưng </a:t>
            </a:r>
            <a:r>
              <a:rPr sz="1800" b="1">
                <a:solidFill>
                  <a:srgbClr val="222B38"/>
                </a:solidFill>
                <a:latin typeface="Calibri"/>
              </a:rPr>
              <a:t>hoán đổi giá trị</a:t>
            </a:r>
            <a:r>
              <a:rPr sz="1800" b="0">
                <a:solidFill>
                  <a:srgbClr val="222B38"/>
                </a:solidFill>
                <a:latin typeface="Calibri"/>
              </a:rPr>
              <a:t> thay vì so sánh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150108"/>
            <a:ext cx="10765231" cy="320497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96412"/>
            <a:ext cx="10362895" cy="29123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bool doixung(int a[], int 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    for(int i = 0; i &lt; n/2;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        if(a[i] != a[n-i-1]) return false;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    return true;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void reverse(int a[], int 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    for(int i = 0; i &lt; n/2; i++){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        int tmp = a[i]; a[i] = a[n-i-1]; a[n-i-1] = tmp;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Đếm cặp phần tử thỏa điều kiện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Mảng 1 Chiều P1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36419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i</a:t>
            </a:r>
            <a:r>
              <a:rPr sz="2000" b="0">
                <a:solidFill>
                  <a:srgbClr val="222B38"/>
                </a:solidFill>
                <a:latin typeface="Calibri"/>
              </a:rPr>
              <a:t> chạy 0 → N-2, </a:t>
            </a:r>
            <a:r>
              <a:rPr sz="1900" b="0">
                <a:solidFill>
                  <a:srgbClr val="3598DB"/>
                </a:solidFill>
                <a:latin typeface="Consolas"/>
              </a:rPr>
              <a:t>j</a:t>
            </a:r>
            <a:r>
              <a:rPr sz="2000" b="0">
                <a:solidFill>
                  <a:srgbClr val="222B38"/>
                </a:solidFill>
                <a:latin typeface="Calibri"/>
              </a:rPr>
              <a:t> chạy </a:t>
            </a:r>
            <a:r>
              <a:rPr sz="1900" b="0">
                <a:solidFill>
                  <a:srgbClr val="3598DB"/>
                </a:solidFill>
                <a:latin typeface="Consolas"/>
              </a:rPr>
              <a:t>i+1</a:t>
            </a:r>
            <a:r>
              <a:rPr sz="2000" b="0">
                <a:solidFill>
                  <a:srgbClr val="222B38"/>
                </a:solidFill>
                <a:latin typeface="Calibri"/>
              </a:rPr>
              <a:t> → N-1 ⇒ mỗi cặp xét 1 lần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Ví dụ 1: đếm/liệt kê cặp có tổng bằng K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Ví dụ 2: đếm cặp nguyên tố cùng nhau (UCLN(a[i], a[j]) == 1)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804259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50563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0; i &lt; n-1;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for(int j = i+1; j &lt; n; j++)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if(a[i] + a[j] == k)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    printf("(%d, %d)\n", a[i], a[j]);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Mảng 1 Chiều P1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Liệt kê/đếm: cần hàm kiểm tra tính chất + 1 vòng lặp duyệt mảng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Tìm max/min: khởi tạo hợp lý rồi so sánh, cập nhật dần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Đối xứng/lật mảng: chỉ cần xét N/2 cặp đầu-cuối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Đếm cặp: 2 vòng lặp lồng, </a:t>
            </a:r>
            <a:r>
              <a:rPr sz="1709" b="0">
                <a:solidFill>
                  <a:srgbClr val="3598DB"/>
                </a:solidFill>
                <a:latin typeface="Consolas"/>
              </a:rPr>
              <a:t>j</a:t>
            </a:r>
            <a:r>
              <a:rPr sz="1800" b="0">
                <a:solidFill>
                  <a:srgbClr val="222B38"/>
                </a:solidFill>
                <a:latin typeface="Calibri"/>
              </a:rPr>
              <a:t> luôn bắt đầu từ </a:t>
            </a:r>
            <a:r>
              <a:rPr sz="1709" b="0">
                <a:solidFill>
                  <a:srgbClr val="3598DB"/>
                </a:solidFill>
                <a:latin typeface="Consolas"/>
              </a:rPr>
              <a:t>i+1</a:t>
            </a:r>
            <a:r>
              <a:rPr sz="1800" b="0">
                <a:solidFill>
                  <a:srgbClr val="222B38"/>
                </a:solidFill>
                <a:latin typeface="Calibri"/>
              </a:rPr>
              <a:t> để không đếm trùng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