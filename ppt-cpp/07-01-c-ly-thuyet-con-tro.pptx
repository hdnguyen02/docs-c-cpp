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Lý Thuyết Con Trỏ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 trỏ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72081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Con trỏ (</a:t>
            </a:r>
            <a:r>
              <a:rPr sz="1800" b="1">
                <a:solidFill>
                  <a:srgbClr val="222B38"/>
                </a:solidFill>
                <a:latin typeface="Calibri"/>
              </a:rPr>
              <a:t>pointer</a:t>
            </a:r>
            <a:r>
              <a:rPr sz="1800" b="0">
                <a:solidFill>
                  <a:srgbClr val="222B38"/>
                </a:solidFill>
                <a:latin typeface="Calibri"/>
              </a:rPr>
              <a:t>) là biến, nhưng giá trị nó lưu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 của biến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biến trong chương trình có một địa chỉ vùng nhớ cố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Con trỏ kiểu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lưu được địa chỉ của biến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0861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87165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*ptr;        // con tro kieu int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*ptr2; // con tro kieu long long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*ptr3;      // con tro kieu char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địa chỉ bằng </a:t>
            </a:r>
            <a:r>
              <a:rPr sz="2565" b="1">
                <a:solidFill>
                  <a:srgbClr val="3598DB"/>
                </a:solidFill>
                <a:latin typeface="Consolas"/>
              </a:rPr>
              <a:t>%p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&amp;N</a:t>
            </a:r>
            <a:r>
              <a:rPr sz="2000" b="0">
                <a:solidFill>
                  <a:srgbClr val="222B38"/>
                </a:solidFill>
                <a:latin typeface="Calibri"/>
              </a:rPr>
              <a:t> =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biến N (toán tử </a:t>
            </a:r>
            <a:r>
              <a:rPr sz="2000" b="1">
                <a:solidFill>
                  <a:srgbClr val="222B38"/>
                </a:solidFill>
                <a:latin typeface="Calibri"/>
              </a:rPr>
              <a:t>lấy địa chỉ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địa chỉ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printf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đặc tả </a:t>
            </a:r>
            <a:r>
              <a:rPr sz="1900" b="0">
                <a:solidFill>
                  <a:srgbClr val="3598DB"/>
                </a:solidFill>
                <a:latin typeface="Consolas"/>
              </a:rPr>
              <a:t>%p</a:t>
            </a:r>
            <a:r>
              <a:rPr sz="2000" b="0">
                <a:solidFill>
                  <a:srgbClr val="222B38"/>
                </a:solidFill>
                <a:latin typeface="Calibri"/>
              </a:rPr>
              <a:t>, ép đối số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 *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Địa chỉ khác nhau giữa các máy và giữa các lần chạy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M = 10000012828LL;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printf("%p\n", (void *)&amp;N); // vd 0x6ffe14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printf("%p\n", (void *)&amp;M); // vd 0x6ffe18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Phân biệt: địa chỉ, giá trị, </a:t>
            </a:r>
            <a:r>
              <a:rPr sz="2565" b="1">
                <a:solidFill>
                  <a:srgbClr val="3598DB"/>
                </a:solidFill>
                <a:latin typeface="Consolas"/>
              </a:rPr>
              <a:t>&amp;</a:t>
            </a:r>
            <a:r>
              <a:rPr sz="2700" b="1">
                <a:solidFill>
                  <a:srgbClr val="142B45"/>
                </a:solidFill>
                <a:latin typeface="Calibri"/>
              </a:rPr>
              <a:t> và </a:t>
            </a:r>
            <a:r>
              <a:rPr sz="2565" b="1">
                <a:solidFill>
                  <a:srgbClr val="3598DB"/>
                </a:solidFill>
                <a:latin typeface="Consolas"/>
              </a:rPr>
              <a:t>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</a:t>
            </a:r>
            <a:r>
              <a:rPr sz="2000" b="0">
                <a:solidFill>
                  <a:srgbClr val="222B38"/>
                </a:solidFill>
                <a:latin typeface="Calibri"/>
              </a:rPr>
              <a:t> (đã trỏ tới N) = giá trị con trỏ = địa chỉ của 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</a:t>
            </a:r>
            <a:r>
              <a:rPr sz="2000" b="0">
                <a:solidFill>
                  <a:srgbClr val="222B38"/>
                </a:solidFill>
                <a:latin typeface="Calibri"/>
              </a:rPr>
              <a:t> =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tại địa chỉ mà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</a:t>
            </a:r>
            <a:r>
              <a:rPr sz="2000" b="0">
                <a:solidFill>
                  <a:srgbClr val="222B38"/>
                </a:solidFill>
                <a:latin typeface="Calibri"/>
              </a:rPr>
              <a:t> trỏ tới (</a:t>
            </a:r>
            <a:r>
              <a:rPr sz="2000" b="1">
                <a:solidFill>
                  <a:srgbClr val="222B38"/>
                </a:solidFill>
                <a:latin typeface="Calibri"/>
              </a:rPr>
              <a:t>giải tham chiếu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Dấu </a:t>
            </a:r>
            <a:r>
              <a:rPr sz="1900" b="0">
                <a:solidFill>
                  <a:srgbClr val="3598DB"/>
                </a:solidFill>
                <a:latin typeface="Consolas"/>
              </a:rPr>
              <a:t>*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khai báo</a:t>
            </a:r>
            <a:r>
              <a:rPr sz="2000" b="0">
                <a:solidFill>
                  <a:srgbClr val="222B38"/>
                </a:solidFill>
                <a:latin typeface="Calibri"/>
              </a:rPr>
              <a:t> khác dấu </a:t>
            </a:r>
            <a:r>
              <a:rPr sz="1900" b="0">
                <a:solidFill>
                  <a:srgbClr val="3598DB"/>
                </a:solidFill>
                <a:latin typeface="Consolas"/>
              </a:rPr>
              <a:t>*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giải tham chiếu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&amp;N;   // ptr luu dia chi cua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&amp;N   -&gt; dia chi cua N,        vd 0x6ffe1c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  -&gt; gia tri cua ptr = dia chi cua N = 0x6ffe1c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*ptr -&gt; gia tri tai dia chi do = 1000 (chinh la 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tham chiếu để đọc và ghi qua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Sau khi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 = &amp;N</a:t>
            </a:r>
            <a:r>
              <a:rPr sz="2000" b="0">
                <a:solidFill>
                  <a:srgbClr val="222B38"/>
                </a:solidFill>
                <a:latin typeface="Calibri"/>
              </a:rPr>
              <a:t>, thì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</a:t>
            </a:r>
            <a:r>
              <a:rPr sz="2000" b="0">
                <a:solidFill>
                  <a:srgbClr val="222B38"/>
                </a:solidFill>
                <a:latin typeface="Calibri"/>
              </a:rPr>
              <a:t>, cùng một ô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</a:t>
            </a:r>
            <a:r>
              <a:rPr sz="2000" b="0">
                <a:solidFill>
                  <a:srgbClr val="222B38"/>
                </a:solidFill>
                <a:latin typeface="Calibri"/>
              </a:rPr>
              <a:t> cũng chính là đổi </a:t>
            </a:r>
            <a:r>
              <a:rPr sz="1900" b="0">
                <a:solidFill>
                  <a:srgbClr val="3598DB"/>
                </a:solidFill>
                <a:latin typeface="Consolas"/>
              </a:rPr>
              <a:t>N</a:t>
            </a:r>
            <a:r>
              <a:rPr sz="2000" b="0">
                <a:solidFill>
                  <a:srgbClr val="222B38"/>
                </a:solidFill>
                <a:latin typeface="Calibri"/>
              </a:rPr>
              <a:t>, và ngược lại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*ptr); // 1000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 = 280;            // doi qua con tro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N);    // 280 (N da doi theo)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Nhiều con trỏ cùng trỏ tới 1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Một biến có thể được </a:t>
            </a:r>
            <a:r>
              <a:rPr sz="2000" b="1">
                <a:solidFill>
                  <a:srgbClr val="222B38"/>
                </a:solidFill>
                <a:latin typeface="Calibri"/>
              </a:rPr>
              <a:t>nhiều 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 cùng trỏ tới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Đổi giá trị qua bất kỳ con trỏ nào cũng ảnh hưởng biến gốc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1000;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*ptr1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*ptr2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*ptr3 = ptr1;  // gan gia tri cua ptr1 (chinh la &amp;N)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*ptr1 = 100; // N =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*ptr2 = 200; // N = 200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*ptr3 = 300; // N = 300, ca 3 con tro deu tro ve N = 300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 trỏ làm tham số hàm để đổi giá trị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614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 luôn truyền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trị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int x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là </a:t>
            </a:r>
            <a:r>
              <a:rPr sz="1800" b="1">
                <a:solidFill>
                  <a:srgbClr val="222B38"/>
                </a:solidFill>
                <a:latin typeface="Calibri"/>
              </a:rPr>
              <a:t>bản sao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đổi biến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800" b="0">
                <a:solidFill>
                  <a:srgbClr val="222B38"/>
                </a:solidFill>
                <a:latin typeface="Calibri"/>
              </a:rPr>
              <a:t> (con trỏ) thì hàm sửa trực tiếp biến gốc qua </a:t>
            </a:r>
            <a:r>
              <a:rPr sz="1709" b="0">
                <a:solidFill>
                  <a:srgbClr val="3598DB"/>
                </a:solidFill>
                <a:latin typeface="Consolas"/>
              </a:rPr>
              <a:t>*x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24860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71164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*x)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*x = 1000; // doi truc tiep bien ma x tro toi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change(&amp;N);           // truyen dia chi cua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N);  // 1000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Hoán đổi 2 biến và hàm trả về con trỏ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con trỏ để hàm sửa được cả 2 biến của người gọi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Đây là cách chuẩn viết 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swap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cũng có thể </a:t>
            </a:r>
            <a:r>
              <a:rPr sz="2000" b="1">
                <a:solidFill>
                  <a:srgbClr val="222B38"/>
                </a:solidFill>
                <a:latin typeface="Calibri"/>
              </a:rPr>
              <a:t>trả về con trỏ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*convert(...)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49168"/>
            <a:ext cx="10765231" cy="310591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95472"/>
            <a:ext cx="10362895" cy="2813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void my_swap(int *x, int *y)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int tmp = *x;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*x = *y;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   *y = tmp;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int a = 100, b = 200;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my_swap(&amp;a, &amp;b);   // a = 200, b =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int *convert(int *x, int *y) { x = y; return x;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E8EFF7"/>
                </a:solidFill>
                <a:latin typeface="Consolas"/>
              </a:rPr>
              <a:t>ptr1 = convert(ptr1, ptr2);   // ptr1 gio tro toi 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Lý Thuyết Con Trỏ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&amp;bien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địa chỉ; </a:t>
            </a:r>
            <a:r>
              <a:rPr sz="1614" b="0">
                <a:solidFill>
                  <a:srgbClr val="3598DB"/>
                </a:solidFill>
                <a:latin typeface="Consolas"/>
              </a:rPr>
              <a:t>*con_tro</a:t>
            </a:r>
            <a:r>
              <a:rPr sz="1700" b="0">
                <a:solidFill>
                  <a:srgbClr val="222B38"/>
                </a:solidFill>
                <a:latin typeface="Calibri"/>
              </a:rPr>
              <a:t> → giá trị tại địa chỉ đó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In địa chỉ bằng </a:t>
            </a:r>
            <a:r>
              <a:rPr sz="1614" b="0">
                <a:solidFill>
                  <a:srgbClr val="3598DB"/>
                </a:solidFill>
                <a:latin typeface="Consolas"/>
              </a:rPr>
              <a:t>%p</a:t>
            </a:r>
            <a:r>
              <a:rPr sz="1700" b="0">
                <a:solidFill>
                  <a:srgbClr val="222B38"/>
                </a:solidFill>
                <a:latin typeface="Calibri"/>
              </a:rPr>
              <a:t> với </a:t>
            </a:r>
            <a:r>
              <a:rPr sz="1614" b="0">
                <a:solidFill>
                  <a:srgbClr val="3598DB"/>
                </a:solidFill>
                <a:latin typeface="Consolas"/>
              </a:rPr>
              <a:t>(void *)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*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khai báo (</a:t>
            </a:r>
            <a:r>
              <a:rPr sz="1614" b="0">
                <a:solidFill>
                  <a:srgbClr val="3598DB"/>
                </a:solidFill>
                <a:latin typeface="Consolas"/>
              </a:rPr>
              <a:t>int *ptr</a:t>
            </a:r>
            <a:r>
              <a:rPr sz="1700" b="0">
                <a:solidFill>
                  <a:srgbClr val="222B38"/>
                </a:solidFill>
                <a:latin typeface="Calibri"/>
              </a:rPr>
              <a:t>) khác </a:t>
            </a:r>
            <a:r>
              <a:rPr sz="1614" b="0">
                <a:solidFill>
                  <a:srgbClr val="3598DB"/>
                </a:solidFill>
                <a:latin typeface="Consolas"/>
              </a:rPr>
              <a:t>*</a:t>
            </a:r>
            <a:r>
              <a:rPr sz="1700" b="0">
                <a:solidFill>
                  <a:srgbClr val="222B38"/>
                </a:solidFill>
                <a:latin typeface="Calibri"/>
              </a:rPr>
              <a:t> khi giải tham chiếu (</a:t>
            </a:r>
            <a:r>
              <a:rPr sz="1614" b="0">
                <a:solidFill>
                  <a:srgbClr val="3598DB"/>
                </a:solidFill>
                <a:latin typeface="Consolas"/>
              </a:rPr>
              <a:t>*ptr = ...</a:t>
            </a:r>
            <a:r>
              <a:rPr sz="17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Muốn hàm sửa được biến gốc, phải truyền </a:t>
            </a:r>
            <a:r>
              <a:rPr sz="1700" b="1">
                <a:solidFill>
                  <a:srgbClr val="222B38"/>
                </a:solidFill>
                <a:latin typeface="Calibri"/>
              </a:rPr>
              <a:t>địa chỉ</a:t>
            </a:r>
            <a:r>
              <a:rPr sz="1700" b="0">
                <a:solidFill>
                  <a:srgbClr val="222B38"/>
                </a:solidFill>
                <a:latin typeface="Calibri"/>
              </a:rPr>
              <a:t> (con trỏ)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Nhiều con trỏ cùng trỏ tới một biến, sửa qua con trỏ nào cũng như nhau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