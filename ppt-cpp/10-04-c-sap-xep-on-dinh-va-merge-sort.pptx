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Sắp Xếp Ổn Định Và Merge Sort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Tính ổn định (stable)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cùng giá trị sắp xếp</a:t>
            </a:r>
            <a:r>
              <a:rPr sz="1800" b="0">
                <a:solidFill>
                  <a:srgbClr val="222B38"/>
                </a:solidFill>
                <a:latin typeface="Calibri"/>
              </a:rPr>
              <a:t> giữ nguyên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xuất hiện ban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215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78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(111, 9, 3000, 18, 81, 1002, 2002) sap theo tong chu so, on dinh: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(111, 3000, 1002, 2002, 9, 18, 81)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111, 3000, 1002 cung tong=3, giu dung thu tu ban dau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Thuật toán ổn định vs không ổn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ổn định</a:t>
            </a:r>
            <a:r>
              <a:rPr sz="2000" b="0">
                <a:solidFill>
                  <a:srgbClr val="222B38"/>
                </a:solidFill>
                <a:latin typeface="Calibri"/>
              </a:rPr>
              <a:t>: quick sort, heap sort, selection sort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Ổn định</a:t>
            </a:r>
            <a:r>
              <a:rPr sz="2000" b="0">
                <a:solidFill>
                  <a:srgbClr val="222B38"/>
                </a:solidFill>
                <a:latin typeface="Calibri"/>
              </a:rPr>
              <a:t>: merge sort, insertion sort, tim sort, counting sort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Java, Python, JS: hàm sort có sẵn đã ổn định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qsort() không đảm bảo ổn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Chuẩn C: phần tử bằng nhau có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không xác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thư viện C cài </a:t>
            </a:r>
            <a:r>
              <a:rPr sz="1709" b="0">
                <a:solidFill>
                  <a:srgbClr val="3598DB"/>
                </a:solidFill>
                <a:latin typeface="Consolas"/>
              </a:rPr>
              <a:t>qsort</a:t>
            </a:r>
            <a:r>
              <a:rPr sz="1800" b="0">
                <a:solidFill>
                  <a:srgbClr val="222B38"/>
                </a:solidFill>
                <a:latin typeface="Calibri"/>
              </a:rPr>
              <a:t> bằng thuật toán khác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glibc thường ổn định; musl, MSVC thì không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được dựa vào</a:t>
            </a:r>
            <a:r>
              <a:rPr sz="1800" b="0">
                <a:solidFill>
                  <a:srgbClr val="222B38"/>
                </a:solidFill>
                <a:latin typeface="Calibri"/>
              </a:rPr>
              <a:t> kết quả "tình cờ" trên máy mình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qsort() theo tổng chữ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Sắp đúng theo tổng chữ số, nhưng nhóm bằng nhau không được hứa hẹn thứ tự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00833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47137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n){ int s=0; while(n){ s+=n%10; n/=10; } return s;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tong(*(const int*)a) - tong(*(const int*)b);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a[] = {10002,19,3000,111,81,45,1002,21,10071,203,401};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qsort(a, 11, sizeof(int), cmp);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10002 3000 111 1002 21 203 401 81 45 10071 19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thu tu giua cac so cung tong: tuy thu vien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1: thêm chỉ số gốc làm tiêu chí phụ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Lưu kèm </a:t>
            </a:r>
            <a:r>
              <a:rPr sz="1900" b="0">
                <a:solidFill>
                  <a:srgbClr val="3598DB"/>
                </a:solidFill>
                <a:latin typeface="Consolas"/>
              </a:rPr>
              <a:t>viTriGoc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mỗi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Cùng giá trị sắp xếp → so tiếp </a:t>
            </a:r>
            <a:r>
              <a:rPr sz="1900" b="0">
                <a:solidFill>
                  <a:srgbClr val="3598DB"/>
                </a:solidFill>
                <a:latin typeface="Consolas"/>
              </a:rPr>
              <a:t>viTriGoc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struct { int giaTri; int viTriGoc; } PhanTu;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const PhanTu *x = a, *y =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tx = tong(x-&gt;giaTri), ty = tong(y-&gt;giaTri);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if(tx != ty) return tx - ty;       // tieu chi chinh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x-&gt;viTriGoc - y-&gt;viTriGoc;  // tieu chi phu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2: merge sort — ý tưởng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Chia mảng làm 2 nửa, sắp xếp đệ quy từng nửa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Trộn</a:t>
            </a:r>
            <a:r>
              <a:rPr sz="1800" b="0">
                <a:solidFill>
                  <a:srgbClr val="222B38"/>
                </a:solidFill>
                <a:latin typeface="Calibri"/>
              </a:rPr>
              <a:t> 2 nửa đã sắp thành một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Bằng nhau → lấy </a:t>
            </a:r>
            <a:r>
              <a:rPr sz="1800" b="1">
                <a:solidFill>
                  <a:srgbClr val="222B38"/>
                </a:solidFill>
                <a:latin typeface="Calibri"/>
              </a:rPr>
              <a:t>nửa trái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→ ổn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O(NlogN)</a:t>
            </a:r>
            <a:r>
              <a:rPr sz="1800" b="0">
                <a:solidFill>
                  <a:srgbClr val="222B38"/>
                </a:solidFill>
                <a:latin typeface="Calibri"/>
              </a:rPr>
              <a:t> mọi trường hợp, cần mảng phụ </a:t>
            </a:r>
            <a:r>
              <a:rPr sz="1709" b="0">
                <a:solidFill>
                  <a:srgbClr val="3598DB"/>
                </a:solidFill>
                <a:latin typeface="Consolas"/>
              </a:rPr>
              <a:t>malloc</a:t>
            </a:r>
            <a:r>
              <a:rPr sz="1800" b="0">
                <a:solidFill>
                  <a:srgbClr val="222B38"/>
                </a:solidFill>
                <a:latin typeface="Calibri"/>
              </a:rPr>
              <a:t> O(N)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Code merge sort theo tổng chữ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45259"/>
            <a:ext cx="10765231" cy="440537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1563"/>
            <a:ext cx="10362895" cy="41127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tron(int a[], int tam[], int l, int m, int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i = l, j = m + 1, k = 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while(i &lt;= m &amp;&amp; j &lt;= r)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if(tong(a[i]) &lt;= tong(a[j])) tam[k++] = a[i++]; // &lt;= la mau chot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tam[k++] = a[j++];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while(i &lt;= m) tam[k++] = a[i++];  while(j &lt;= r) tam[k++] = a[j++];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for(k = l; k &lt;= r; k++) a[k] = tam[k];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mergeSort(int a[], int tam[], int l, int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if(l &gt;= r) return;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m = l + (r - l)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mergeSort(a, tam, l, m); mergeSort(a, tam, m+1, 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tron(a, tam, l, m, 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 sánh 2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qsort</a:t>
            </a:r>
            <a:r>
              <a:rPr sz="2000" b="0">
                <a:solidFill>
                  <a:srgbClr val="222B38"/>
                </a:solidFill>
                <a:latin typeface="Calibri"/>
              </a:rPr>
              <a:t> + chỉ số: code ngắn, thêm 1 trường mỗi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Merge sort tự viết: code dài hơn, tốn mảng phụ O(N)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Cả hai đều </a:t>
            </a:r>
            <a:r>
              <a:rPr sz="2000" b="1">
                <a:solidFill>
                  <a:srgbClr val="222B38"/>
                </a:solidFill>
                <a:latin typeface="Calibri"/>
              </a:rPr>
              <a:t>đảm bảo</a:t>
            </a:r>
            <a:r>
              <a:rPr sz="2000" b="0">
                <a:solidFill>
                  <a:srgbClr val="222B38"/>
                </a:solidFill>
                <a:latin typeface="Calibri"/>
              </a:rPr>
              <a:t> kết quả ổn định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Sắp Xếp Ổn Định Và Merge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Ổn định = giữ </a:t>
            </a:r>
            <a:r>
              <a:rPr sz="1700" b="1">
                <a:solidFill>
                  <a:srgbClr val="222B38"/>
                </a:solidFill>
                <a:latin typeface="Calibri"/>
              </a:rPr>
              <a:t>thứ tự tương đối</a:t>
            </a:r>
            <a:r>
              <a:rPr sz="1700" b="0">
                <a:solidFill>
                  <a:srgbClr val="222B38"/>
                </a:solidFill>
                <a:latin typeface="Calibri"/>
              </a:rPr>
              <a:t> giữa các phần tử bằng nhau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qsort</a:t>
            </a:r>
            <a:r>
              <a:rPr sz="1700" b="0">
                <a:solidFill>
                  <a:srgbClr val="222B38"/>
                </a:solidFill>
                <a:latin typeface="Calibri"/>
              </a:rPr>
              <a:t> </a:t>
            </a:r>
            <a:r>
              <a:rPr sz="1700" b="1">
                <a:solidFill>
                  <a:srgbClr val="222B38"/>
                </a:solidFill>
                <a:latin typeface="Calibri"/>
              </a:rPr>
              <a:t>không đảm bảo</a:t>
            </a:r>
            <a:r>
              <a:rPr sz="1700" b="0">
                <a:solidFill>
                  <a:srgbClr val="222B38"/>
                </a:solidFill>
                <a:latin typeface="Calibri"/>
              </a:rPr>
              <a:t> ổn định theo chuẩn 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Cần ổn định: thêm chỉ số gốc, hoặc tự viết merge sort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Merge sort: đổi </a:t>
            </a:r>
            <a:r>
              <a:rPr sz="1614" b="0">
                <a:solidFill>
                  <a:srgbClr val="3598DB"/>
                </a:solidFill>
                <a:latin typeface="Consolas"/>
              </a:rPr>
              <a:t>&lt;=</a:t>
            </a:r>
            <a:r>
              <a:rPr sz="1700" b="0">
                <a:solidFill>
                  <a:srgbClr val="222B38"/>
                </a:solidFill>
                <a:latin typeface="Calibri"/>
              </a:rPr>
              <a:t> thành </a:t>
            </a:r>
            <a:r>
              <a:rPr sz="1614" b="0">
                <a:solidFill>
                  <a:srgbClr val="3598DB"/>
                </a:solidFill>
                <a:latin typeface="Consolas"/>
              </a:rPr>
              <a:t>&lt;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trộn sẽ </a:t>
            </a:r>
            <a:r>
              <a:rPr sz="1700" b="1">
                <a:solidFill>
                  <a:srgbClr val="222B38"/>
                </a:solidFill>
                <a:latin typeface="Calibri"/>
              </a:rPr>
              <a:t>mất ổn định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Nhớ </a:t>
            </a:r>
            <a:r>
              <a:rPr sz="1614" b="0">
                <a:solidFill>
                  <a:srgbClr val="3598DB"/>
                </a:solidFill>
                <a:latin typeface="Consolas"/>
              </a:rPr>
              <a:t>free()</a:t>
            </a:r>
            <a:r>
              <a:rPr sz="1700" b="0">
                <a:solidFill>
                  <a:srgbClr val="222B38"/>
                </a:solidFill>
                <a:latin typeface="Calibri"/>
              </a:rPr>
              <a:t> mảng phụ đã </a:t>
            </a:r>
            <a:r>
              <a:rPr sz="1614" b="0">
                <a:solidFill>
                  <a:srgbClr val="3598DB"/>
                </a:solidFill>
                <a:latin typeface="Consolas"/>
              </a:rPr>
              <a:t>malloc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