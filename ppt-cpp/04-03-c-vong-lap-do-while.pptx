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Vòng Lặp Do-While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Do-while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Giống </a:t>
            </a:r>
            <a:r>
              <a:rPr sz="1709" b="0">
                <a:solidFill>
                  <a:srgbClr val="3598DB"/>
                </a:solidFill>
                <a:latin typeface="Consolas"/>
              </a:rPr>
              <a:t>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 nhưng chạy thân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, kiểm tra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sau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Đảm bảo khối lệnh luôn chạy </a:t>
            </a:r>
            <a:r>
              <a:rPr sz="1800" b="1">
                <a:solidFill>
                  <a:srgbClr val="222B38"/>
                </a:solidFill>
                <a:latin typeface="Calibri"/>
              </a:rPr>
              <a:t>ít nhất 1 lần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Hợp khi cần làm trước rồi mới kiểm tra (VD: nhập lại nếu sai)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}while(condition);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 — khác biệt với while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: kiểm tra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, có thể không chạy lần nào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Do-while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: chạy thân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, rồi mới kiểm tra điều kiện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kiện đúng thì lặp lại, sai thì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Do-while luôn chạy </a:t>
            </a:r>
            <a:r>
              <a:rPr sz="1800" b="1">
                <a:solidFill>
                  <a:srgbClr val="222B38"/>
                </a:solidFill>
                <a:latin typeface="Calibri"/>
              </a:rPr>
              <a:t>tối thiểu 1 lần</a:t>
            </a:r>
            <a:r>
              <a:rPr sz="1800" b="0">
                <a:solidFill>
                  <a:srgbClr val="222B38"/>
                </a:solidFill>
                <a:latin typeface="Calibri"/>
              </a:rPr>
              <a:t> dù điều kiện sai ngay từ đầu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in số từ 1 đến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i = 1, n = 4;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 ", 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++i;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}while(i &lt;=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 2 3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nhập lại khi số âm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Dạng bài toán kinh điển của do-while: cần chạy 1 lần để có dữ liệu trước khi kiểm 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printf("Nhap n : 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}while(n &lt; 0);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Do-while chạy thân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, kiểm tra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sau</a:t>
            </a:r>
            <a:r>
              <a:rPr sz="1800" b="0">
                <a:solidFill>
                  <a:srgbClr val="222B38"/>
                </a:solidFill>
                <a:latin typeface="Calibri"/>
              </a:rPr>
              <a:t> — ngược với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while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thực hiện ít nhất 1 lần dù điều kiện sai ngay từ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Thường dùng cho việc </a:t>
            </a:r>
            <a:r>
              <a:rPr sz="1800" b="1">
                <a:solidFill>
                  <a:srgbClr val="222B38"/>
                </a:solidFill>
                <a:latin typeface="Calibri"/>
              </a:rPr>
              <a:t>nhập liệu cần kiểm tra hợp lệ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Đừng quên dấu </a:t>
            </a:r>
            <a:r>
              <a:rPr sz="1709" b="0">
                <a:solidFill>
                  <a:srgbClr val="3598DB"/>
                </a:solidFill>
                <a:latin typeface="Consolas"/>
              </a:rPr>
              <a:t>;</a:t>
            </a:r>
            <a:r>
              <a:rPr sz="1800" b="0">
                <a:solidFill>
                  <a:srgbClr val="222B38"/>
                </a:solidFill>
                <a:latin typeface="Calibri"/>
              </a:rPr>
              <a:t> sau </a:t>
            </a:r>
            <a:r>
              <a:rPr sz="1709" b="0">
                <a:solidFill>
                  <a:srgbClr val="3598DB"/>
                </a:solidFill>
                <a:latin typeface="Consolas"/>
              </a:rPr>
              <a:t>while(condition)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