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Hằng Số const Và Kiểu bool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Hằng số literal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Hằng Số const Và Kiểu bool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0207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Literal</a:t>
            </a:r>
            <a:r>
              <a:rPr sz="1800" b="0">
                <a:solidFill>
                  <a:srgbClr val="222B38"/>
                </a:solidFill>
                <a:latin typeface="Calibri"/>
              </a:rPr>
              <a:t>: giá trị viết trực tiếp trong code, mỗi literal có kiểu xác định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Số nguyên: thập phân </a:t>
            </a:r>
            <a:r>
              <a:rPr sz="1709" b="0">
                <a:solidFill>
                  <a:srgbClr val="3598DB"/>
                </a:solidFill>
                <a:latin typeface="Consolas"/>
              </a:rPr>
              <a:t>28</a:t>
            </a:r>
            <a:r>
              <a:rPr sz="1800" b="0">
                <a:solidFill>
                  <a:srgbClr val="222B38"/>
                </a:solidFill>
                <a:latin typeface="Calibri"/>
              </a:rPr>
              <a:t>, bát phân </a:t>
            </a:r>
            <a:r>
              <a:rPr sz="1709" b="0">
                <a:solidFill>
                  <a:srgbClr val="3598DB"/>
                </a:solidFill>
                <a:latin typeface="Consolas"/>
              </a:rPr>
              <a:t>034</a:t>
            </a:r>
            <a:r>
              <a:rPr sz="1800" b="0">
                <a:solidFill>
                  <a:srgbClr val="222B38"/>
                </a:solidFill>
                <a:latin typeface="Calibri"/>
              </a:rPr>
              <a:t>, thập lục phân </a:t>
            </a:r>
            <a:r>
              <a:rPr sz="1709" b="0">
                <a:solidFill>
                  <a:srgbClr val="3598DB"/>
                </a:solidFill>
                <a:latin typeface="Consolas"/>
              </a:rPr>
              <a:t>0x1C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Số thực mặc định </a:t>
            </a:r>
            <a:r>
              <a:rPr sz="1800" b="1">
                <a:solidFill>
                  <a:srgbClr val="222B38"/>
                </a:solidFill>
                <a:latin typeface="Calibri"/>
              </a:rPr>
              <a:t>double</a:t>
            </a:r>
            <a:r>
              <a:rPr sz="1800" b="0">
                <a:solidFill>
                  <a:srgbClr val="222B38"/>
                </a:solidFill>
                <a:latin typeface="Calibri"/>
              </a:rPr>
              <a:t>, hậu tố </a:t>
            </a:r>
            <a:r>
              <a:rPr sz="1709" b="0">
                <a:solidFill>
                  <a:srgbClr val="3598DB"/>
                </a:solidFill>
                <a:latin typeface="Consolas"/>
              </a:rPr>
              <a:t>f</a:t>
            </a:r>
            <a:r>
              <a:rPr sz="1800" b="0">
                <a:solidFill>
                  <a:srgbClr val="222B38"/>
                </a:solidFill>
                <a:latin typeface="Calibri"/>
              </a:rPr>
              <a:t> cho </a:t>
            </a:r>
            <a:r>
              <a:rPr sz="1800" b="1">
                <a:solidFill>
                  <a:srgbClr val="222B38"/>
                </a:solidFill>
                <a:latin typeface="Calibri"/>
              </a:rPr>
              <a:t>float</a:t>
            </a:r>
            <a:r>
              <a:rPr sz="1800" b="0">
                <a:solidFill>
                  <a:srgbClr val="222B38"/>
                </a:solidFill>
                <a:latin typeface="Calibri"/>
              </a:rPr>
              <a:t>, viết khoa học </a:t>
            </a:r>
            <a:r>
              <a:rPr sz="1709" b="0">
                <a:solidFill>
                  <a:srgbClr val="3598DB"/>
                </a:solidFill>
                <a:latin typeface="Consolas"/>
              </a:rPr>
              <a:t>1e9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Ký tự </a:t>
            </a:r>
            <a:r>
              <a:rPr sz="1709" b="0">
                <a:solidFill>
                  <a:srgbClr val="3598DB"/>
                </a:solidFill>
                <a:latin typeface="Consolas"/>
              </a:rPr>
              <a:t>'A'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C có kiểu </a:t>
            </a:r>
            <a:r>
              <a:rPr sz="1800" b="1">
                <a:solidFill>
                  <a:srgbClr val="222B38"/>
                </a:solidFill>
                <a:latin typeface="Calibri"/>
              </a:rPr>
              <a:t>int</a:t>
            </a:r>
            <a:r>
              <a:rPr sz="1800" b="0">
                <a:solidFill>
                  <a:srgbClr val="222B38"/>
                </a:solidFill>
                <a:latin typeface="Calibri"/>
              </a:rPr>
              <a:t>; chuỗi </a:t>
            </a:r>
            <a:r>
              <a:rPr sz="1709" b="0">
                <a:solidFill>
                  <a:srgbClr val="3598DB"/>
                </a:solidFill>
                <a:latin typeface="Consolas"/>
              </a:rPr>
              <a:t>"abc"</a:t>
            </a:r>
            <a:r>
              <a:rPr sz="1800" b="0">
                <a:solidFill>
                  <a:srgbClr val="222B38"/>
                </a:solidFill>
                <a:latin typeface="Calibri"/>
              </a:rPr>
              <a:t> kết thúc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'\0'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5091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9722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%d %d\n", 28, 034, 0x1C);  // 28 28 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printf("%u\n", 4000000000U);           // unsigned 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printf("%lld\n", 1000000000000000LL);  // long long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printf("%f %f\n", 3.14, 2.5f);         // double, float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printf("%c %d\n", 'A', 'A');           // A 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Hậu tố và kích thước literal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Hằng Số const Và Kiểu bool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Hậu tố: </a:t>
            </a:r>
            <a:r>
              <a:rPr sz="1900" b="0">
                <a:solidFill>
                  <a:srgbClr val="3598DB"/>
                </a:solidFill>
                <a:latin typeface="Consolas"/>
              </a:rPr>
              <a:t>U</a:t>
            </a:r>
            <a:r>
              <a:rPr sz="2000" b="0">
                <a:solidFill>
                  <a:srgbClr val="222B38"/>
                </a:solidFill>
                <a:latin typeface="Calibri"/>
              </a:rPr>
              <a:t> unsigned, </a:t>
            </a:r>
            <a:r>
              <a:rPr sz="1900" b="0">
                <a:solidFill>
                  <a:srgbClr val="3598DB"/>
                </a:solidFill>
                <a:latin typeface="Consolas"/>
              </a:rPr>
              <a:t>L</a:t>
            </a:r>
            <a:r>
              <a:rPr sz="2000" b="0">
                <a:solidFill>
                  <a:srgbClr val="222B38"/>
                </a:solidFill>
                <a:latin typeface="Calibri"/>
              </a:rPr>
              <a:t> long, </a:t>
            </a:r>
            <a:r>
              <a:rPr sz="1900" b="0">
                <a:solidFill>
                  <a:srgbClr val="3598DB"/>
                </a:solidFill>
                <a:latin typeface="Consolas"/>
              </a:rPr>
              <a:t>LL</a:t>
            </a:r>
            <a:r>
              <a:rPr sz="2000" b="0">
                <a:solidFill>
                  <a:srgbClr val="222B38"/>
                </a:solidFill>
                <a:latin typeface="Calibri"/>
              </a:rPr>
              <a:t> long long, </a:t>
            </a:r>
            <a:r>
              <a:rPr sz="1900" b="0">
                <a:solidFill>
                  <a:srgbClr val="3598DB"/>
                </a:solidFill>
                <a:latin typeface="Consolas"/>
              </a:rPr>
              <a:t>ULL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sizeof</a:t>
            </a:r>
            <a:r>
              <a:rPr sz="2000" b="0">
                <a:solidFill>
                  <a:srgbClr val="222B38"/>
                </a:solidFill>
                <a:latin typeface="Calibri"/>
              </a:rPr>
              <a:t> trả kiểu </a:t>
            </a:r>
            <a:r>
              <a:rPr sz="2000" b="1">
                <a:solidFill>
                  <a:srgbClr val="222B38"/>
                </a:solidFill>
                <a:latin typeface="Calibri"/>
              </a:rPr>
              <a:t>size_t</a:t>
            </a:r>
            <a:r>
              <a:rPr sz="2000" b="0">
                <a:solidFill>
                  <a:srgbClr val="222B38"/>
                </a:solidFill>
                <a:latin typeface="Calibri"/>
              </a:rPr>
              <a:t>, in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%zu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sizeof('A')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4</a:t>
            </a:r>
            <a:r>
              <a:rPr sz="2000" b="0">
                <a:solidFill>
                  <a:srgbClr val="222B38"/>
                </a:solidFill>
                <a:latin typeface="Calibri"/>
              </a:rPr>
              <a:t> vì hằng ký tự trong C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printf("%zu\n", sizeof(28));     // 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printf("%zu\n", sizeof(28LL));   // 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printf("%zu\n", sizeof(3.14));   // 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printf("%zu\n", sizeof(3.14f));  // 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printf("%zu\n", sizeof('A'));    //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Từ khóa const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Hằng Số const Và Kiểu bool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009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const</a:t>
            </a:r>
            <a:r>
              <a:rPr sz="1800" b="0">
                <a:solidFill>
                  <a:srgbClr val="222B38"/>
                </a:solidFill>
                <a:latin typeface="Calibri"/>
              </a:rPr>
              <a:t> biến biến thành </a:t>
            </a:r>
            <a:r>
              <a:rPr sz="1800" b="1">
                <a:solidFill>
                  <a:srgbClr val="222B38"/>
                </a:solidFill>
                <a:latin typeface="Calibri"/>
              </a:rPr>
              <a:t>chỉ đọc</a:t>
            </a:r>
            <a:r>
              <a:rPr sz="1800" b="0">
                <a:solidFill>
                  <a:srgbClr val="222B38"/>
                </a:solidFill>
                <a:latin typeface="Calibri"/>
              </a:rPr>
              <a:t>, chỉ gán một lần lúc khai báo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Cú pháp: </a:t>
            </a:r>
            <a:r>
              <a:rPr sz="1709" b="0">
                <a:solidFill>
                  <a:srgbClr val="3598DB"/>
                </a:solidFill>
                <a:latin typeface="Consolas"/>
              </a:rPr>
              <a:t>const kiểu tên_hằng = giá_trị;</a:t>
            </a:r>
            <a:r>
              <a:rPr sz="1800" b="0">
                <a:solidFill>
                  <a:srgbClr val="222B38"/>
                </a:solidFill>
                <a:latin typeface="Calibri"/>
              </a:rPr>
              <a:t>, quy ước tên </a:t>
            </a:r>
            <a:r>
              <a:rPr sz="1800" b="1">
                <a:solidFill>
                  <a:srgbClr val="222B38"/>
                </a:solidFill>
                <a:latin typeface="Calibri"/>
              </a:rPr>
              <a:t>in hoa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Gán lại hằng: lỗi </a:t>
            </a:r>
            <a:r>
              <a:rPr sz="1709" b="0">
                <a:solidFill>
                  <a:srgbClr val="3598DB"/>
                </a:solidFill>
                <a:latin typeface="Consolas"/>
              </a:rPr>
              <a:t>assignment of read-only variable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const int x;</a:t>
            </a:r>
            <a:r>
              <a:rPr sz="1800" b="0">
                <a:solidFill>
                  <a:srgbClr val="222B38"/>
                </a:solidFill>
                <a:latin typeface="Calibri"/>
              </a:rPr>
              <a:t> không khởi tạo: C chấp nhận nhưng mang </a:t>
            </a:r>
            <a:r>
              <a:rPr sz="1800" b="1">
                <a:solidFill>
                  <a:srgbClr val="222B38"/>
                </a:solidFill>
                <a:latin typeface="Calibri"/>
              </a:rPr>
              <a:t>giá trị rác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4893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24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const double PI = 3.14159;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const int SO_NGAY_TRONG_TUAN = 7;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r = 2.0;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printf("%.2f\n", PI * r * r);   // 12.57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const int MAX 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MAX = 200;   // Loi bien dich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So sánh #define và const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Hằng Số const Và Kiểu bool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0207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#define</a:t>
            </a:r>
            <a:r>
              <a:rPr sz="1800" b="0">
                <a:solidFill>
                  <a:srgbClr val="222B38"/>
                </a:solidFill>
                <a:latin typeface="Calibri"/>
              </a:rPr>
              <a:t>: preprocessor thay văn bản, không kiểu, hiệu lực tới cuối file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const</a:t>
            </a:r>
            <a:r>
              <a:rPr sz="1800" b="0">
                <a:solidFill>
                  <a:srgbClr val="222B38"/>
                </a:solidFill>
                <a:latin typeface="Calibri"/>
              </a:rPr>
              <a:t>: compiler xử lý, có kiểu, tuân theo scope, debug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#define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hằng số biên dịch</a:t>
            </a:r>
            <a:r>
              <a:rPr sz="1800" b="0">
                <a:solidFill>
                  <a:srgbClr val="222B38"/>
                </a:solidFill>
                <a:latin typeface="Calibri"/>
              </a:rPr>
              <a:t>: làm kích thước mảng toàn cục, nhãn case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const int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C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</a:t>
            </a:r>
            <a:r>
              <a:rPr sz="1800" b="0">
                <a:solidFill>
                  <a:srgbClr val="222B38"/>
                </a:solidFill>
                <a:latin typeface="Calibri"/>
              </a:rPr>
              <a:t> làm kích thước mảng toàn cục được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5091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9722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#define N 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a[N];            // Dung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const int M = 5;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b[M];            // Loi: variably modified 'b' at file scope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Khi nào dùng gì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Hằng Số const Và Kiểu bool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const</a:t>
            </a:r>
            <a:r>
              <a:rPr sz="1800" b="0">
                <a:solidFill>
                  <a:srgbClr val="222B38"/>
                </a:solidFill>
                <a:latin typeface="Calibri"/>
              </a:rPr>
              <a:t> cho giá trị có kiểu dùng trong tính toán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#define</a:t>
            </a:r>
            <a:r>
              <a:rPr sz="18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1800" b="1">
                <a:solidFill>
                  <a:srgbClr val="222B38"/>
                </a:solidFill>
                <a:latin typeface="Calibri"/>
              </a:rPr>
              <a:t>enum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cần hằng số biên dịch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Đặt tên hằng thay cho con số "trơ trọi" (magic number)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Đổi giá trị chỉ cần sửa </a:t>
            </a:r>
            <a:r>
              <a:rPr sz="1800" b="1">
                <a:solidFill>
                  <a:srgbClr val="222B38"/>
                </a:solidFill>
                <a:latin typeface="Calibri"/>
              </a:rPr>
              <a:t>một chỗ</a:t>
            </a:r>
            <a:r>
              <a:rPr sz="1800" b="0">
                <a:solidFill>
                  <a:srgbClr val="222B38"/>
                </a:solidFill>
                <a:latin typeface="Calibri"/>
              </a:rPr>
              <a:t> duy nhất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Kiểu bool và stdbool.h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Hằng Số const Và Kiểu bool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009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 gốc không có bool: quy ước </a:t>
            </a:r>
            <a:r>
              <a:rPr sz="1800" b="1">
                <a:solidFill>
                  <a:srgbClr val="222B38"/>
                </a:solidFill>
                <a:latin typeface="Calibri"/>
              </a:rPr>
              <a:t>0 là sai, khác 0 là đúng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Từ C99 có </a:t>
            </a:r>
            <a:r>
              <a:rPr sz="1709" b="0">
                <a:solidFill>
                  <a:srgbClr val="3598DB"/>
                </a:solidFill>
                <a:latin typeface="Consolas"/>
              </a:rPr>
              <a:t>_Bool</a:t>
            </a:r>
            <a:r>
              <a:rPr sz="1800" b="0">
                <a:solidFill>
                  <a:srgbClr val="222B38"/>
                </a:solidFill>
                <a:latin typeface="Calibri"/>
              </a:rPr>
              <a:t>; </a:t>
            </a:r>
            <a:r>
              <a:rPr sz="1709" b="0">
                <a:solidFill>
                  <a:srgbClr val="3598DB"/>
                </a:solidFill>
                <a:latin typeface="Consolas"/>
              </a:rPr>
              <a:t>stdbool.h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định nghĩa </a:t>
            </a:r>
            <a:r>
              <a:rPr sz="1709" b="0">
                <a:solidFill>
                  <a:srgbClr val="3598DB"/>
                </a:solidFill>
                <a:latin typeface="Consolas"/>
              </a:rPr>
              <a:t>bool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true</a:t>
            </a:r>
            <a:r>
              <a:rPr sz="1800" b="0">
                <a:solidFill>
                  <a:srgbClr val="222B38"/>
                </a:solidFill>
                <a:latin typeface="Calibri"/>
              </a:rPr>
              <a:t> (1), </a:t>
            </a:r>
            <a:r>
              <a:rPr sz="1709" b="0">
                <a:solidFill>
                  <a:srgbClr val="3598DB"/>
                </a:solidFill>
                <a:latin typeface="Consolas"/>
              </a:rPr>
              <a:t>false</a:t>
            </a:r>
            <a:r>
              <a:rPr sz="1800" b="0">
                <a:solidFill>
                  <a:srgbClr val="222B38"/>
                </a:solidFill>
                <a:latin typeface="Calibri"/>
              </a:rPr>
              <a:t> (0)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có đặc tả riêng: in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%d</a:t>
            </a:r>
            <a:r>
              <a:rPr sz="1800" b="0">
                <a:solidFill>
                  <a:srgbClr val="222B38"/>
                </a:solidFill>
                <a:latin typeface="Calibri"/>
              </a:rPr>
              <a:t>, hoặc dùng toán tử 3 ngôi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Toán tử so sánh, logic trả về </a:t>
            </a:r>
            <a:r>
              <a:rPr sz="1800" b="1">
                <a:solidFill>
                  <a:srgbClr val="222B38"/>
                </a:solidFill>
                <a:latin typeface="Calibri"/>
              </a:rPr>
              <a:t>int</a:t>
            </a:r>
            <a:r>
              <a:rPr sz="1800" b="0">
                <a:solidFill>
                  <a:srgbClr val="222B38"/>
                </a:solidFill>
                <a:latin typeface="Calibri"/>
              </a:rPr>
              <a:t> 1 hoặc 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4893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24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&lt;stdbool.h&gt;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a = true, b =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%d\n", a, b);                // 1 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printf("%zu\n", sizeof(bool));          //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 = 10 &gt; 5;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printf("%s\n", c ? "true" : "false");  // 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Chuyển giá trị sang bool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Hằng Số const Và Kiểu bool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Mọi giá trị </a:t>
            </a:r>
            <a:r>
              <a:rPr sz="2000" b="1">
                <a:solidFill>
                  <a:srgbClr val="222B38"/>
                </a:solidFill>
                <a:latin typeface="Calibri"/>
              </a:rPr>
              <a:t>khác 0</a:t>
            </a:r>
            <a:r>
              <a:rPr sz="2000" b="0">
                <a:solidFill>
                  <a:srgbClr val="222B38"/>
                </a:solidFill>
                <a:latin typeface="Calibri"/>
              </a:rPr>
              <a:t> (số âm, 0.5...) thành </a:t>
            </a:r>
            <a:r>
              <a:rPr sz="2000" b="1">
                <a:solidFill>
                  <a:srgbClr val="222B38"/>
                </a:solidFill>
                <a:latin typeface="Calibri"/>
              </a:rPr>
              <a:t>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giá trị </a:t>
            </a:r>
            <a:r>
              <a:rPr sz="2000" b="1">
                <a:solidFill>
                  <a:srgbClr val="222B38"/>
                </a:solidFill>
                <a:latin typeface="Calibri"/>
              </a:rPr>
              <a:t>0</a:t>
            </a:r>
            <a:r>
              <a:rPr sz="2000" b="0">
                <a:solidFill>
                  <a:srgbClr val="222B38"/>
                </a:solidFill>
                <a:latin typeface="Calibri"/>
              </a:rPr>
              <a:t> thành </a:t>
            </a:r>
            <a:r>
              <a:rPr sz="2000" b="1">
                <a:solidFill>
                  <a:srgbClr val="222B38"/>
                </a:solidFill>
                <a:latin typeface="Calibri"/>
              </a:rPr>
              <a:t>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Khác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: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t = 0.5;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t bằng 0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x 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y = -5;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z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t = 0.5;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%d %d %d\n", x, y, z, t);   // 1 1 0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Hằng Số const Và Kiểu bool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Literal có kiểu theo cách viết: tiền tố </a:t>
            </a:r>
            <a:r>
              <a:rPr sz="1614" b="0">
                <a:solidFill>
                  <a:srgbClr val="3598DB"/>
                </a:solidFill>
                <a:latin typeface="Consolas"/>
              </a:rPr>
              <a:t>0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0x</a:t>
            </a:r>
            <a:r>
              <a:rPr sz="1700" b="0">
                <a:solidFill>
                  <a:srgbClr val="222B38"/>
                </a:solidFill>
                <a:latin typeface="Calibri"/>
              </a:rPr>
              <a:t>, hậu tố </a:t>
            </a:r>
            <a:r>
              <a:rPr sz="1614" b="0">
                <a:solidFill>
                  <a:srgbClr val="3598DB"/>
                </a:solidFill>
                <a:latin typeface="Consolas"/>
              </a:rPr>
              <a:t>U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L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LL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f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const</a:t>
            </a:r>
            <a:r>
              <a:rPr sz="1700" b="0">
                <a:solidFill>
                  <a:srgbClr val="222B38"/>
                </a:solidFill>
                <a:latin typeface="Calibri"/>
              </a:rPr>
              <a:t> tạo biến chỉ đọc, luôn </a:t>
            </a:r>
            <a:r>
              <a:rPr sz="1700" b="1">
                <a:solidFill>
                  <a:srgbClr val="222B38"/>
                </a:solidFill>
                <a:latin typeface="Calibri"/>
              </a:rPr>
              <a:t>khởi tạo ngay</a:t>
            </a:r>
            <a:r>
              <a:rPr sz="1700" b="0">
                <a:solidFill>
                  <a:srgbClr val="222B38"/>
                </a:solidFill>
                <a:latin typeface="Calibri"/>
              </a:rPr>
              <a:t> khi khai báo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Kích thước mảng toàn cục, nhãn case: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#define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enum</a:t>
            </a:r>
            <a:r>
              <a:rPr sz="1700" b="0">
                <a:solidFill>
                  <a:srgbClr val="222B38"/>
                </a:solidFill>
                <a:latin typeface="Calibri"/>
              </a:rPr>
              <a:t>, không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const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bool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true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false</a:t>
            </a:r>
            <a:r>
              <a:rPr sz="1700" b="0">
                <a:solidFill>
                  <a:srgbClr val="222B38"/>
                </a:solidFill>
                <a:latin typeface="Calibri"/>
              </a:rPr>
              <a:t> phải </a:t>
            </a:r>
            <a:r>
              <a:rPr sz="1614" b="0">
                <a:solidFill>
                  <a:srgbClr val="3598DB"/>
                </a:solidFill>
                <a:latin typeface="Consolas"/>
              </a:rPr>
              <a:t>#include &lt;stdbool.h&gt;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Gán vào bool: khác 0 thành 1, bằng 0 thành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