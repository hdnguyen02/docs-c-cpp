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Cấp Phát Mảng Động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Cấp phát động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Cấp Phát Mảng Động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805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Lập trình viên </a:t>
            </a:r>
            <a:r>
              <a:rPr sz="1700" b="1">
                <a:solidFill>
                  <a:srgbClr val="222B38"/>
                </a:solidFill>
                <a:latin typeface="Calibri"/>
              </a:rPr>
              <a:t>chủ động xin</a:t>
            </a:r>
            <a:r>
              <a:rPr sz="1700" b="0">
                <a:solidFill>
                  <a:srgbClr val="222B38"/>
                </a:solidFill>
                <a:latin typeface="Calibri"/>
              </a:rPr>
              <a:t> vùng nhớ khi cần và </a:t>
            </a:r>
            <a:r>
              <a:rPr sz="1700" b="1">
                <a:solidFill>
                  <a:srgbClr val="222B38"/>
                </a:solidFill>
                <a:latin typeface="Calibri"/>
              </a:rPr>
              <a:t>giải phóng</a:t>
            </a:r>
            <a:r>
              <a:rPr sz="1700" b="0">
                <a:solidFill>
                  <a:srgbClr val="222B38"/>
                </a:solidFill>
                <a:latin typeface="Calibri"/>
              </a:rPr>
              <a:t> khi xong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Vùng nhớ cấp phát động nằm ở </a:t>
            </a:r>
            <a:r>
              <a:rPr sz="1700" b="1">
                <a:solidFill>
                  <a:srgbClr val="222B38"/>
                </a:solidFill>
                <a:latin typeface="Calibri"/>
              </a:rPr>
              <a:t>heap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Quên giải phóng → </a:t>
            </a:r>
            <a:r>
              <a:rPr sz="1700" b="1">
                <a:solidFill>
                  <a:srgbClr val="222B38"/>
                </a:solidFill>
                <a:latin typeface="Calibri"/>
              </a:rPr>
              <a:t>rò rỉ bộ nhớ</a:t>
            </a:r>
            <a:r>
              <a:rPr sz="1700" b="0">
                <a:solidFill>
                  <a:srgbClr val="222B38"/>
                </a:solidFill>
                <a:latin typeface="Calibri"/>
              </a:rPr>
              <a:t> (memory leak)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Nền tảng để xây dựng danh sách liên kết, cây nhị phân...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Các hàm nằm trong thư viện </a:t>
            </a:r>
            <a:r>
              <a:rPr sz="1614" b="0">
                <a:solidFill>
                  <a:srgbClr val="3598DB"/>
                </a:solidFill>
                <a:latin typeface="Consolas"/>
              </a:rPr>
              <a:t>&lt;stdlib.h&gt;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Hàm </a:t>
            </a:r>
            <a:r>
              <a:rPr sz="2565" b="1">
                <a:solidFill>
                  <a:srgbClr val="3598DB"/>
                </a:solidFill>
                <a:latin typeface="Consolas"/>
              </a:rPr>
              <a:t>malloc</a:t>
            </a:r>
            <a:r>
              <a:rPr sz="2700" b="1">
                <a:solidFill>
                  <a:srgbClr val="142B45"/>
                </a:solidFill>
                <a:latin typeface="Calibri"/>
              </a:rPr>
              <a:t>: xin cấp phát theo byte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Cấp Phát Mảng Động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542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Tham số là </a:t>
            </a:r>
            <a:r>
              <a:rPr sz="2000" b="1">
                <a:solidFill>
                  <a:srgbClr val="222B38"/>
                </a:solidFill>
                <a:latin typeface="Calibri"/>
              </a:rPr>
              <a:t>số byte</a:t>
            </a:r>
            <a:r>
              <a:rPr sz="2000" b="0">
                <a:solidFill>
                  <a:srgbClr val="222B38"/>
                </a:solidFill>
                <a:latin typeface="Calibri"/>
              </a:rPr>
              <a:t>: nhân số phần tử với </a:t>
            </a:r>
            <a:r>
              <a:rPr sz="1900" b="0">
                <a:solidFill>
                  <a:srgbClr val="3598DB"/>
                </a:solidFill>
                <a:latin typeface="Consolas"/>
              </a:rPr>
              <a:t>sizeof(kiểu)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Trả về </a:t>
            </a:r>
            <a:r>
              <a:rPr sz="1900" b="0">
                <a:solidFill>
                  <a:srgbClr val="3598DB"/>
                </a:solidFill>
                <a:latin typeface="Consolas"/>
              </a:rPr>
              <a:t>void *</a:t>
            </a:r>
            <a:r>
              <a:rPr sz="2000" b="0">
                <a:solidFill>
                  <a:srgbClr val="222B38"/>
                </a:solidFill>
                <a:latin typeface="Calibri"/>
              </a:rPr>
              <a:t> tới ô đầu tiên, hoặc </a:t>
            </a:r>
            <a:r>
              <a:rPr sz="2000" b="1">
                <a:solidFill>
                  <a:srgbClr val="222B38"/>
                </a:solidFill>
                <a:latin typeface="Calibri"/>
              </a:rPr>
              <a:t>NULL</a:t>
            </a:r>
            <a:r>
              <a:rPr sz="2000" b="0">
                <a:solidFill>
                  <a:srgbClr val="222B38"/>
                </a:solidFill>
                <a:latin typeface="Calibri"/>
              </a:rPr>
              <a:t> nếu thiếu bộ nhớ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Vùng nhớ </a:t>
            </a:r>
            <a:r>
              <a:rPr sz="2000" b="1">
                <a:solidFill>
                  <a:srgbClr val="222B38"/>
                </a:solidFill>
                <a:latin typeface="Calibri"/>
              </a:rPr>
              <a:t>chưa khởi tạo</a:t>
            </a:r>
            <a:r>
              <a:rPr sz="2000" b="0">
                <a:solidFill>
                  <a:srgbClr val="222B38"/>
                </a:solidFill>
                <a:latin typeface="Calibri"/>
              </a:rPr>
              <a:t> (giá trị rác); dùng như mảng 1 chiều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03269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9573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*ptr = malloc(5 * sizeof(int));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 (ptr == NULL) return 1;   // LUON kiem tra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 5; i++) ptr[i] = i + 1;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 5; i++) printf("%d ", ptr[i]); // 1 2 3 4 5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free(ptr);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Khi cấp phát thất bại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Cấp Phát Mảng Động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542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 không có ngoại lệ: </a:t>
            </a:r>
            <a:r>
              <a:rPr sz="1900" b="0">
                <a:solidFill>
                  <a:srgbClr val="3598DB"/>
                </a:solidFill>
                <a:latin typeface="Consolas"/>
              </a:rPr>
              <a:t>malloc</a:t>
            </a:r>
            <a:r>
              <a:rPr sz="2000" b="0">
                <a:solidFill>
                  <a:srgbClr val="222B38"/>
                </a:solidFill>
                <a:latin typeface="Calibri"/>
              </a:rPr>
              <a:t> chỉ trả về </a:t>
            </a:r>
            <a:r>
              <a:rPr sz="2000" b="1">
                <a:solidFill>
                  <a:srgbClr val="222B38"/>
                </a:solidFill>
                <a:latin typeface="Calibri"/>
              </a:rPr>
              <a:t>NULL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Dùng con trỏ NULL mà không kiểm tra → </a:t>
            </a:r>
            <a:r>
              <a:rPr sz="2000" b="1">
                <a:solidFill>
                  <a:srgbClr val="222B38"/>
                </a:solidFill>
                <a:latin typeface="Calibri"/>
              </a:rPr>
              <a:t>Segmentation fault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free(NULL)</a:t>
            </a:r>
            <a:r>
              <a:rPr sz="2000" b="0">
                <a:solidFill>
                  <a:srgbClr val="222B38"/>
                </a:solidFill>
                <a:latin typeface="Calibri"/>
              </a:rPr>
              <a:t> hợp lệ, không làm gì cả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03269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9573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*ptr = malloc(10000000000000LL * sizeof(int));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 (ptr == NULL)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printf("Khong du bo nho cap phat !\n");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free(ptr);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565" b="1">
                <a:solidFill>
                  <a:srgbClr val="3598DB"/>
                </a:solidFill>
                <a:latin typeface="Consolas"/>
              </a:rPr>
              <a:t>calloc</a:t>
            </a:r>
            <a:r>
              <a:rPr sz="2700" b="1">
                <a:solidFill>
                  <a:srgbClr val="142B45"/>
                </a:solidFill>
                <a:latin typeface="Calibri"/>
              </a:rPr>
              <a:t> và </a:t>
            </a:r>
            <a:r>
              <a:rPr sz="2565" b="1">
                <a:solidFill>
                  <a:srgbClr val="3598DB"/>
                </a:solidFill>
                <a:latin typeface="Consolas"/>
              </a:rPr>
              <a:t>realloc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Cấp Phát Mảng Động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542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calloc(n, size)</a:t>
            </a:r>
            <a:r>
              <a:rPr sz="2000" b="0">
                <a:solidFill>
                  <a:srgbClr val="222B38"/>
                </a:solidFill>
                <a:latin typeface="Calibri"/>
              </a:rPr>
              <a:t>: cấp phát n phần tử, </a:t>
            </a:r>
            <a:r>
              <a:rPr sz="2000" b="1">
                <a:solidFill>
                  <a:srgbClr val="222B38"/>
                </a:solidFill>
                <a:latin typeface="Calibri"/>
              </a:rPr>
              <a:t>tất cả byte = 0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realloc(p, size_moi)</a:t>
            </a:r>
            <a:r>
              <a:rPr sz="2000" b="0">
                <a:solidFill>
                  <a:srgbClr val="222B38"/>
                </a:solidFill>
                <a:latin typeface="Calibri"/>
              </a:rPr>
              <a:t>: </a:t>
            </a:r>
            <a:r>
              <a:rPr sz="2000" b="1">
                <a:solidFill>
                  <a:srgbClr val="222B38"/>
                </a:solidFill>
                <a:latin typeface="Calibri"/>
              </a:rPr>
              <a:t>đổi kích thước</a:t>
            </a:r>
            <a:r>
              <a:rPr sz="2000" b="0">
                <a:solidFill>
                  <a:srgbClr val="222B38"/>
                </a:solidFill>
                <a:latin typeface="Calibri"/>
              </a:rPr>
              <a:t>, giữ dữ liệu cũ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realloc</a:t>
            </a:r>
            <a:r>
              <a:rPr sz="2000" b="0">
                <a:solidFill>
                  <a:srgbClr val="222B38"/>
                </a:solidFill>
                <a:latin typeface="Calibri"/>
              </a:rPr>
              <a:t> thất bại trả NULL nhưng </a:t>
            </a:r>
            <a:r>
              <a:rPr sz="2000" b="1">
                <a:solidFill>
                  <a:srgbClr val="222B38"/>
                </a:solidFill>
                <a:latin typeface="Calibri"/>
              </a:rPr>
              <a:t>vùng cũ vẫn còn</a:t>
            </a:r>
            <a:r>
              <a:rPr sz="2000" b="0">
                <a:solidFill>
                  <a:srgbClr val="222B38"/>
                </a:solidFill>
                <a:latin typeface="Calibri"/>
              </a:rPr>
              <a:t> → dùng con trỏ tạm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03269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9573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*p = calloc(3, sizeof(int));        // 0 0 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*tmp = realloc(p, 6 * sizeof(int)); // mo rong len 6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 (tmp == NULL) { free(p); return 1;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 = tmp;                                // chi gan khi thanh cong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free(p);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Hàm </a:t>
            </a:r>
            <a:r>
              <a:rPr sz="2565" b="1">
                <a:solidFill>
                  <a:srgbClr val="3598DB"/>
                </a:solidFill>
                <a:latin typeface="Consolas"/>
              </a:rPr>
              <a:t>free</a:t>
            </a:r>
            <a:r>
              <a:rPr sz="2700" b="1">
                <a:solidFill>
                  <a:srgbClr val="142B45"/>
                </a:solidFill>
                <a:latin typeface="Calibri"/>
              </a:rPr>
              <a:t>: giải phóng vùng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Cấp Phát Mảng Động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31467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Chỉ một hàm </a:t>
            </a:r>
            <a:r>
              <a:rPr sz="1900" b="0">
                <a:solidFill>
                  <a:srgbClr val="3598DB"/>
                </a:solidFill>
                <a:latin typeface="Consolas"/>
              </a:rPr>
              <a:t>free</a:t>
            </a:r>
            <a:r>
              <a:rPr sz="2000" b="0">
                <a:solidFill>
                  <a:srgbClr val="222B38"/>
                </a:solidFill>
                <a:latin typeface="Calibri"/>
              </a:rPr>
              <a:t> cho cả 1 phần tử lẫn cả mảng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Chỉ </a:t>
            </a:r>
            <a:r>
              <a:rPr sz="1900" b="0">
                <a:solidFill>
                  <a:srgbClr val="3598DB"/>
                </a:solidFill>
                <a:latin typeface="Consolas"/>
              </a:rPr>
              <a:t>free</a:t>
            </a:r>
            <a:r>
              <a:rPr sz="2000" b="0">
                <a:solidFill>
                  <a:srgbClr val="222B38"/>
                </a:solidFill>
                <a:latin typeface="Calibri"/>
              </a:rPr>
              <a:t> con trỏ lấy từ </a:t>
            </a:r>
            <a:r>
              <a:rPr sz="1900" b="0">
                <a:solidFill>
                  <a:srgbClr val="3598DB"/>
                </a:solidFill>
                <a:latin typeface="Consolas"/>
              </a:rPr>
              <a:t>malloc</a:t>
            </a:r>
            <a:r>
              <a:rPr sz="2000" b="0">
                <a:solidFill>
                  <a:srgbClr val="222B38"/>
                </a:solidFill>
                <a:latin typeface="Calibri"/>
              </a:rPr>
              <a:t>/</a:t>
            </a:r>
            <a:r>
              <a:rPr sz="1900" b="0">
                <a:solidFill>
                  <a:srgbClr val="3598DB"/>
                </a:solidFill>
                <a:latin typeface="Consolas"/>
              </a:rPr>
              <a:t>calloc</a:t>
            </a:r>
            <a:r>
              <a:rPr sz="2000" b="0">
                <a:solidFill>
                  <a:srgbClr val="222B38"/>
                </a:solidFill>
                <a:latin typeface="Calibri"/>
              </a:rPr>
              <a:t>/</a:t>
            </a:r>
            <a:r>
              <a:rPr sz="1900" b="0">
                <a:solidFill>
                  <a:srgbClr val="3598DB"/>
                </a:solidFill>
                <a:latin typeface="Consolas"/>
              </a:rPr>
              <a:t>realloc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Không </a:t>
            </a:r>
            <a:r>
              <a:rPr sz="1900" b="0">
                <a:solidFill>
                  <a:srgbClr val="3598DB"/>
                </a:solidFill>
                <a:latin typeface="Consolas"/>
              </a:rPr>
              <a:t>free</a:t>
            </a:r>
            <a:r>
              <a:rPr sz="2000" b="0">
                <a:solidFill>
                  <a:srgbClr val="222B38"/>
                </a:solidFill>
                <a:latin typeface="Calibri"/>
              </a:rPr>
              <a:t> 2 lần; sau </a:t>
            </a:r>
            <a:r>
              <a:rPr sz="1900" b="0">
                <a:solidFill>
                  <a:srgbClr val="3598DB"/>
                </a:solidFill>
                <a:latin typeface="Consolas"/>
              </a:rPr>
              <a:t>free</a:t>
            </a:r>
            <a:r>
              <a:rPr sz="2000" b="0">
                <a:solidFill>
                  <a:srgbClr val="222B38"/>
                </a:solidFill>
                <a:latin typeface="Calibri"/>
              </a:rPr>
              <a:t> nên gán </a:t>
            </a:r>
            <a:r>
              <a:rPr sz="1900" b="0">
                <a:solidFill>
                  <a:srgbClr val="3598DB"/>
                </a:solidFill>
                <a:latin typeface="Consolas"/>
              </a:rPr>
              <a:t>ptr = NULL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99307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45611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scanf("%d", &amp;n);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*ptr = malloc(n * sizeof(int));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 (ptr != NULL)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 (int i = 0; i &lt; n; i++) scanf("%d", &amp;ptr[i]);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 (int i = 0; i &lt; n; i++) printf("%d ", ptr[i]);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free(ptr);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ptr = NULL;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Cấp Phát Mảng Động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malloc(n * sizeof(T))</a:t>
            </a:r>
            <a:r>
              <a:rPr sz="1800" b="0">
                <a:solidFill>
                  <a:srgbClr val="222B38"/>
                </a:solidFill>
                <a:latin typeface="Calibri"/>
              </a:rPr>
              <a:t> — tham số là </a:t>
            </a:r>
            <a:r>
              <a:rPr sz="1800" b="1">
                <a:solidFill>
                  <a:srgbClr val="222B38"/>
                </a:solidFill>
                <a:latin typeface="Calibri"/>
              </a:rPr>
              <a:t>byte</a:t>
            </a:r>
            <a:r>
              <a:rPr sz="1800" b="0">
                <a:solidFill>
                  <a:srgbClr val="222B38"/>
                </a:solidFill>
                <a:latin typeface="Calibri"/>
              </a:rPr>
              <a:t>, không phải số phần tử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Luôn kiểm tra NULL</a:t>
            </a:r>
            <a:r>
              <a:rPr sz="1800" b="0">
                <a:solidFill>
                  <a:srgbClr val="222B38"/>
                </a:solidFill>
                <a:latin typeface="Calibri"/>
              </a:rPr>
              <a:t> sau mỗi lần cấp phát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calloc</a:t>
            </a:r>
            <a:r>
              <a:rPr sz="1800" b="0">
                <a:solidFill>
                  <a:srgbClr val="222B38"/>
                </a:solidFill>
                <a:latin typeface="Calibri"/>
              </a:rPr>
              <a:t> khởi tạo 0; </a:t>
            </a:r>
            <a:r>
              <a:rPr sz="1709" b="0">
                <a:solidFill>
                  <a:srgbClr val="3598DB"/>
                </a:solidFill>
                <a:latin typeface="Consolas"/>
              </a:rPr>
              <a:t>realloc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đổi kích thước qua con trỏ tạm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Mỗi vùng cấp phát phải </a:t>
            </a:r>
            <a:r>
              <a:rPr sz="1709" b="0">
                <a:solidFill>
                  <a:srgbClr val="3598DB"/>
                </a:solidFill>
                <a:latin typeface="Consolas"/>
              </a:rPr>
              <a:t>free</a:t>
            </a:r>
            <a:r>
              <a:rPr sz="1800" b="0">
                <a:solidFill>
                  <a:srgbClr val="222B38"/>
                </a:solidFill>
                <a:latin typeface="Calibri"/>
              </a:rPr>
              <a:t> đúng </a:t>
            </a:r>
            <a:r>
              <a:rPr sz="1800" b="1">
                <a:solidFill>
                  <a:srgbClr val="222B38"/>
                </a:solidFill>
                <a:latin typeface="Calibri"/>
              </a:rPr>
              <a:t>một lần</a:t>
            </a:r>
            <a:r>
              <a:rPr sz="1800" b="0">
                <a:solidFill>
                  <a:srgbClr val="222B38"/>
                </a:solidFill>
                <a:latin typeface="Calibri"/>
              </a:rPr>
              <a:t>, rồi gán NULL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