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05840" y="2331720"/>
            <a:ext cx="91440" cy="566928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80160" y="2194560"/>
            <a:ext cx="9692640" cy="23774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4000" b="1">
                <a:solidFill>
                  <a:srgbClr val="FFFFFF"/>
                </a:solidFill>
                <a:latin typeface="Calibri"/>
              </a:rPr>
              <a:t>Thuật Toán Tìm Kiếm Nhị Phân</a:t>
            </a:r>
          </a:p>
          <a:p>
            <a:pPr>
              <a:spcBef>
                <a:spcPts val="1400"/>
              </a:spcBef>
            </a:pPr>
            <a:r>
              <a:rPr sz="1800" b="0">
                <a:solidFill>
                  <a:srgbClr val="3598DB"/>
                </a:solidFill>
                <a:latin typeface="Calibri"/>
              </a:rPr>
              <a:t>C Cơ Bản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Binary search giải quyết vấn đề gì?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Thuật Toán Tìm Kiếm Nhị Phân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212848"/>
            <a:ext cx="10765231" cy="2103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1">
                <a:solidFill>
                  <a:srgbClr val="222B38"/>
                </a:solidFill>
                <a:latin typeface="Calibri"/>
              </a:rPr>
              <a:t>Điều kiện bắt buộc</a:t>
            </a:r>
            <a:r>
              <a:rPr sz="1800" b="0">
                <a:solidFill>
                  <a:srgbClr val="222B38"/>
                </a:solidFill>
                <a:latin typeface="Calibri"/>
              </a:rPr>
              <a:t>: mảng phải đã </a:t>
            </a:r>
            <a:r>
              <a:rPr sz="1800" b="1">
                <a:solidFill>
                  <a:srgbClr val="222B38"/>
                </a:solidFill>
                <a:latin typeface="Calibri"/>
              </a:rPr>
              <a:t>sắp xếp</a:t>
            </a:r>
            <a:r>
              <a:rPr sz="1800" b="0">
                <a:solidFill>
                  <a:srgbClr val="222B38"/>
                </a:solidFill>
                <a:latin typeface="Calibri"/>
              </a:rPr>
              <a:t> tăng/giảm dần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Ý tưởng: so với phần tử giữa, loại bỏ </a:t>
            </a:r>
            <a:r>
              <a:rPr sz="1800" b="1">
                <a:solidFill>
                  <a:srgbClr val="222B38"/>
                </a:solidFill>
                <a:latin typeface="Calibri"/>
              </a:rPr>
              <a:t>1 nửa</a:t>
            </a:r>
            <a:r>
              <a:rPr sz="1800" b="0">
                <a:solidFill>
                  <a:srgbClr val="222B38"/>
                </a:solidFill>
                <a:latin typeface="Calibri"/>
              </a:rPr>
              <a:t> đoạn tìm kiếm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Mảng 1 tỷ phần tử chỉ cần tìm tối đa </a:t>
            </a:r>
            <a:r>
              <a:rPr sz="1800" b="1">
                <a:solidFill>
                  <a:srgbClr val="222B38"/>
                </a:solidFill>
                <a:latin typeface="Calibri"/>
              </a:rPr>
              <a:t>31 lần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Độ phức tạp: </a:t>
            </a:r>
            <a:r>
              <a:rPr sz="1800" b="1">
                <a:solidFill>
                  <a:srgbClr val="222B38"/>
                </a:solidFill>
                <a:latin typeface="Calibri"/>
              </a:rPr>
              <a:t>O(logN)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5 bước của thuật toán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Thuật Toán Tìm Kiếm Nhị Phân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212848"/>
            <a:ext cx="10765231" cy="218059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800"/>
              </a:spcAft>
            </a:pPr>
            <a:r>
              <a:rPr sz="17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700" b="0">
                <a:solidFill>
                  <a:srgbClr val="222B38"/>
                </a:solidFill>
                <a:latin typeface="Calibri"/>
              </a:rPr>
              <a:t>Tính chỉ số giữa </a:t>
            </a:r>
            <a:r>
              <a:rPr sz="1614" b="0">
                <a:solidFill>
                  <a:srgbClr val="3598DB"/>
                </a:solidFill>
                <a:latin typeface="Consolas"/>
              </a:rPr>
              <a:t>M = (L + R) / 2</a:t>
            </a:r>
          </a:p>
          <a:p>
            <a:pPr algn="l" marL="310896" indent="-310896">
              <a:spcAft>
                <a:spcPts val="800"/>
              </a:spcAft>
            </a:pPr>
            <a:r>
              <a:rPr sz="17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614" b="0">
                <a:solidFill>
                  <a:srgbClr val="3598DB"/>
                </a:solidFill>
                <a:latin typeface="Consolas"/>
              </a:rPr>
              <a:t>A[M] == X</a:t>
            </a:r>
            <a:r>
              <a:rPr sz="1700" b="0">
                <a:solidFill>
                  <a:srgbClr val="222B38"/>
                </a:solidFill>
                <a:latin typeface="Calibri"/>
              </a:rPr>
              <a:t> → tìm thấy, dừng</a:t>
            </a:r>
          </a:p>
          <a:p>
            <a:pPr algn="l" marL="310896" indent="-310896">
              <a:spcAft>
                <a:spcPts val="800"/>
              </a:spcAft>
            </a:pPr>
            <a:r>
              <a:rPr sz="17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614" b="0">
                <a:solidFill>
                  <a:srgbClr val="3598DB"/>
                </a:solidFill>
                <a:latin typeface="Consolas"/>
              </a:rPr>
              <a:t>A[M] &lt; X</a:t>
            </a:r>
            <a:r>
              <a:rPr sz="1700" b="0">
                <a:solidFill>
                  <a:srgbClr val="222B38"/>
                </a:solidFill>
                <a:latin typeface="Calibri"/>
              </a:rPr>
              <a:t> → phần tử nằm bên </a:t>
            </a:r>
            <a:r>
              <a:rPr sz="1700" b="1">
                <a:solidFill>
                  <a:srgbClr val="222B38"/>
                </a:solidFill>
                <a:latin typeface="Calibri"/>
              </a:rPr>
              <a:t>phải</a:t>
            </a:r>
          </a:p>
          <a:p>
            <a:pPr algn="l" marL="310896" indent="-310896">
              <a:spcAft>
                <a:spcPts val="800"/>
              </a:spcAft>
            </a:pPr>
            <a:r>
              <a:rPr sz="17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614" b="0">
                <a:solidFill>
                  <a:srgbClr val="3598DB"/>
                </a:solidFill>
                <a:latin typeface="Consolas"/>
              </a:rPr>
              <a:t>A[M] &gt; X</a:t>
            </a:r>
            <a:r>
              <a:rPr sz="1700" b="0">
                <a:solidFill>
                  <a:srgbClr val="222B38"/>
                </a:solidFill>
                <a:latin typeface="Calibri"/>
              </a:rPr>
              <a:t> → phần tử nằm bên </a:t>
            </a:r>
            <a:r>
              <a:rPr sz="1700" b="1">
                <a:solidFill>
                  <a:srgbClr val="222B38"/>
                </a:solidFill>
                <a:latin typeface="Calibri"/>
              </a:rPr>
              <a:t>trái</a:t>
            </a:r>
          </a:p>
          <a:p>
            <a:pPr algn="l" marL="310896" indent="-310896">
              <a:spcAft>
                <a:spcPts val="800"/>
              </a:spcAft>
            </a:pPr>
            <a:r>
              <a:rPr sz="17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700" b="0">
                <a:solidFill>
                  <a:srgbClr val="222B38"/>
                </a:solidFill>
                <a:latin typeface="Calibri"/>
              </a:rPr>
              <a:t>Lặp lại tới khi tìm thấy hoặc hết đoạn (</a:t>
            </a:r>
            <a:r>
              <a:rPr sz="1614" b="0">
                <a:solidFill>
                  <a:srgbClr val="3598DB"/>
                </a:solidFill>
                <a:latin typeface="Consolas"/>
              </a:rPr>
              <a:t>L &gt; R</a:t>
            </a:r>
            <a:r>
              <a:rPr sz="1700" b="0">
                <a:solidFill>
                  <a:srgbClr val="222B38"/>
                </a:solidFill>
                <a:latin typeface="Calibri"/>
              </a:rPr>
              <a:t>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Cập nhật biên trái/phải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Thuật Toán Tìm Kiếm Nhị Phân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212848"/>
            <a:ext cx="10765231" cy="2103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709" b="0">
                <a:solidFill>
                  <a:srgbClr val="3598DB"/>
                </a:solidFill>
                <a:latin typeface="Consolas"/>
              </a:rPr>
              <a:t>A[M] == X</a:t>
            </a:r>
            <a:r>
              <a:rPr sz="1800" b="0">
                <a:solidFill>
                  <a:srgbClr val="222B38"/>
                </a:solidFill>
                <a:latin typeface="Calibri"/>
              </a:rPr>
              <a:t>: tìm thấy, dừng vòng lặp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709" b="0">
                <a:solidFill>
                  <a:srgbClr val="3598DB"/>
                </a:solidFill>
                <a:latin typeface="Consolas"/>
              </a:rPr>
              <a:t>A[M] &lt; X</a:t>
            </a:r>
            <a:r>
              <a:rPr sz="1800" b="0">
                <a:solidFill>
                  <a:srgbClr val="222B38"/>
                </a:solidFill>
                <a:latin typeface="Calibri"/>
              </a:rPr>
              <a:t>: loại nửa trái, cập nhật </a:t>
            </a:r>
            <a:r>
              <a:rPr sz="1800" b="1">
                <a:solidFill>
                  <a:srgbClr val="222B38"/>
                </a:solidFill>
                <a:latin typeface="Calibri"/>
              </a:rPr>
              <a:t>L = M + 1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709" b="0">
                <a:solidFill>
                  <a:srgbClr val="3598DB"/>
                </a:solidFill>
                <a:latin typeface="Consolas"/>
              </a:rPr>
              <a:t>A[M] &gt; X</a:t>
            </a:r>
            <a:r>
              <a:rPr sz="1800" b="0">
                <a:solidFill>
                  <a:srgbClr val="222B38"/>
                </a:solidFill>
                <a:latin typeface="Calibri"/>
              </a:rPr>
              <a:t>: loại nửa phải, cập nhật </a:t>
            </a:r>
            <a:r>
              <a:rPr sz="1800" b="1">
                <a:solidFill>
                  <a:srgbClr val="222B38"/>
                </a:solidFill>
                <a:latin typeface="Calibri"/>
              </a:rPr>
              <a:t>R = M - 1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Ban đầu </a:t>
            </a:r>
            <a:r>
              <a:rPr sz="1709" b="0">
                <a:solidFill>
                  <a:srgbClr val="3598DB"/>
                </a:solidFill>
                <a:latin typeface="Consolas"/>
              </a:rPr>
              <a:t>L=0</a:t>
            </a:r>
            <a:r>
              <a:rPr sz="1800" b="0">
                <a:solidFill>
                  <a:srgbClr val="222B38"/>
                </a:solidFill>
                <a:latin typeface="Calibri"/>
              </a:rPr>
              <a:t>, </a:t>
            </a:r>
            <a:r>
              <a:rPr sz="1709" b="0">
                <a:solidFill>
                  <a:srgbClr val="3598DB"/>
                </a:solidFill>
                <a:latin typeface="Consolas"/>
              </a:rPr>
              <a:t>R=N-1</a:t>
            </a:r>
            <a:r>
              <a:rPr sz="1800" b="0">
                <a:solidFill>
                  <a:srgbClr val="222B38"/>
                </a:solidFill>
                <a:latin typeface="Calibri"/>
              </a:rPr>
              <a:t>; dừng khi </a:t>
            </a:r>
            <a:r>
              <a:rPr sz="1709" b="0">
                <a:solidFill>
                  <a:srgbClr val="3598DB"/>
                </a:solidFill>
                <a:latin typeface="Consolas"/>
              </a:rPr>
              <a:t>L &gt; 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Code tìm kiếm nhị phân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Thuật Toán Tìm Kiếm Nhị Phân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847240"/>
            <a:ext cx="10765231" cy="3828288"/>
          </a:xfrm>
          <a:prstGeom prst="rect">
            <a:avLst/>
          </a:prstGeom>
          <a:solidFill>
            <a:srgbClr val="18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93544"/>
            <a:ext cx="10362895" cy="35356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#include &lt;stdbool.h&gt;  // bool, true, false trong C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bool binary_search(int a[], int n, int x){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int l = 0, r = n - 1;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while(l &lt;= r){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    int m = (l + r) / 2;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    if(a[m] == x) return true;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    else if(a[m] &lt; x) l = m + 1;  // tim ben phai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    else r = m - 1;                // tim ben trai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}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return false;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Ví dụ: tìm X = 3 trong mảng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Thuật Toán Tìm Kiếm Nhị Phân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212848"/>
            <a:ext cx="10765231" cy="695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A = {1,1,3,4,5,8,9,12,21,32}, tìm X = 3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" y="2954527"/>
            <a:ext cx="10765231" cy="1231392"/>
          </a:xfrm>
          <a:prstGeom prst="rect">
            <a:avLst/>
          </a:prstGeom>
          <a:solidFill>
            <a:srgbClr val="18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100831"/>
            <a:ext cx="10362895" cy="9387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// l=0,r=9,m=4,A[4]=5&gt;3 -&gt; r=3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// l=0,r=3,m=1,A[1]=1&lt;3 -&gt; l=2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// l=2,r=3,m=2,A[2]=3==3 -&gt; tim thay tai vi tri 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Biến thể: vị trí đầu tiên của 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Thuật Toán Tìm Kiếm Nhị Phân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801190"/>
            <a:ext cx="10765231" cy="6629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Tìm thấy X vẫn lưu kết quả, </a:t>
            </a:r>
            <a:r>
              <a:rPr sz="1800" b="1">
                <a:solidFill>
                  <a:srgbClr val="222B38"/>
                </a:solidFill>
                <a:latin typeface="Calibri"/>
              </a:rPr>
              <a:t>tiếp tục tìm bên trái</a:t>
            </a:r>
            <a:r>
              <a:rPr sz="1800" b="0">
                <a:solidFill>
                  <a:srgbClr val="222B38"/>
                </a:solidFill>
                <a:latin typeface="Calibri"/>
              </a:rPr>
              <a:t> để lấy vị trí nhỏ nhất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" y="2509850"/>
            <a:ext cx="10765231" cy="3251200"/>
          </a:xfrm>
          <a:prstGeom prst="rect">
            <a:avLst/>
          </a:prstGeom>
          <a:solidFill>
            <a:srgbClr val="18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656154"/>
            <a:ext cx="10362895" cy="29585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int firstPos(int a[], int n, int x){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int l = 0, r = n - 1, pos = -1;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while(l &lt;= r){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    int m = (l + r) / 2;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    if(a[m] == x){ pos = m; r = m - 1; }  // luu, tim tiep ben trai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    else if(a[m] &lt; x) l = m + 1;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    else r = m - 1;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}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return pos;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Biến thể: vị trí cuối cùng của 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Thuật Toán Tìm Kiếm Nhị Phân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801190"/>
            <a:ext cx="10765231" cy="6629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Tìm thấy X vẫn lưu kết quả, </a:t>
            </a:r>
            <a:r>
              <a:rPr sz="1800" b="1">
                <a:solidFill>
                  <a:srgbClr val="222B38"/>
                </a:solidFill>
                <a:latin typeface="Calibri"/>
              </a:rPr>
              <a:t>tiếp tục tìm bên phải</a:t>
            </a:r>
            <a:r>
              <a:rPr sz="1800" b="0">
                <a:solidFill>
                  <a:srgbClr val="222B38"/>
                </a:solidFill>
                <a:latin typeface="Calibri"/>
              </a:rPr>
              <a:t> để lấy vị trí lớn nhất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" y="2509850"/>
            <a:ext cx="10765231" cy="3251200"/>
          </a:xfrm>
          <a:prstGeom prst="rect">
            <a:avLst/>
          </a:prstGeom>
          <a:solidFill>
            <a:srgbClr val="18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656154"/>
            <a:ext cx="10362895" cy="29585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int lastPos(int a[], int n, int x){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int l = 0, r = n - 1, pos = -1;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while(l &lt;= r){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    int m = (l + r) / 2;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    if(a[m] == x){ pos = m; l = m + 1; }  // luu, tim tiep ben phai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    else if(a[m] &lt; x) l = m + 1;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    else r = m - 1;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}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return pos;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Biến thể: vị trí đầu tiên ≥ 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Thuật Toán Tìm Kiếm Nhị Phân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711045"/>
            <a:ext cx="10765231" cy="1209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900" b="0">
                <a:solidFill>
                  <a:srgbClr val="3598DB"/>
                </a:solidFill>
                <a:latin typeface="Consolas"/>
              </a:rPr>
              <a:t>A[M] &gt;= X</a:t>
            </a:r>
            <a:r>
              <a:rPr sz="2000" b="0">
                <a:solidFill>
                  <a:srgbClr val="222B38"/>
                </a:solidFill>
                <a:latin typeface="Calibri"/>
              </a:rPr>
              <a:t>: lưu kết quả, tìm tiếp bên trái để lấy vị trí nhỏ nhất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Ngược lại tìm bên phải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" y="2965805"/>
            <a:ext cx="10765231" cy="2962656"/>
          </a:xfrm>
          <a:prstGeom prst="rect">
            <a:avLst/>
          </a:prstGeom>
          <a:solidFill>
            <a:srgbClr val="18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112109"/>
            <a:ext cx="10362895" cy="267004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int firstPos(int a[], int n, int x){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int l = 0, r = n - 1, pos = -1;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while(l &lt;= r){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    int m = (l + r) / 2;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    if(a[m] &gt;= x){ pos = m; r = m - 1; }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    else l = m + 1;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}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return pos;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Ghi nhớ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Thuật Toán Tìm Kiếm Nhị Phân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212848"/>
            <a:ext cx="10765231" cy="2103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Mảng </a:t>
            </a:r>
            <a:r>
              <a:rPr sz="1800" b="1">
                <a:solidFill>
                  <a:srgbClr val="222B38"/>
                </a:solidFill>
                <a:latin typeface="Calibri"/>
              </a:rPr>
              <a:t>phải sắp xếp</a:t>
            </a:r>
            <a:r>
              <a:rPr sz="1800" b="0">
                <a:solidFill>
                  <a:srgbClr val="222B38"/>
                </a:solidFill>
                <a:latin typeface="Calibri"/>
              </a:rPr>
              <a:t> trước khi dùng binary search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709" b="0">
                <a:solidFill>
                  <a:srgbClr val="3598DB"/>
                </a:solidFill>
                <a:latin typeface="Consolas"/>
              </a:rPr>
              <a:t>A[m]&lt;x</a:t>
            </a:r>
            <a:r>
              <a:rPr sz="1800" b="0">
                <a:solidFill>
                  <a:srgbClr val="222B38"/>
                </a:solidFill>
                <a:latin typeface="Calibri"/>
              </a:rPr>
              <a:t> → </a:t>
            </a:r>
            <a:r>
              <a:rPr sz="1709" b="0">
                <a:solidFill>
                  <a:srgbClr val="3598DB"/>
                </a:solidFill>
                <a:latin typeface="Consolas"/>
              </a:rPr>
              <a:t>l=m+1</a:t>
            </a:r>
            <a:r>
              <a:rPr sz="1800" b="0">
                <a:solidFill>
                  <a:srgbClr val="222B38"/>
                </a:solidFill>
                <a:latin typeface="Calibri"/>
              </a:rPr>
              <a:t>; </a:t>
            </a:r>
            <a:r>
              <a:rPr sz="1709" b="0">
                <a:solidFill>
                  <a:srgbClr val="3598DB"/>
                </a:solidFill>
                <a:latin typeface="Consolas"/>
              </a:rPr>
              <a:t>A[m]&gt;x</a:t>
            </a:r>
            <a:r>
              <a:rPr sz="1800" b="0">
                <a:solidFill>
                  <a:srgbClr val="222B38"/>
                </a:solidFill>
                <a:latin typeface="Calibri"/>
              </a:rPr>
              <a:t> → </a:t>
            </a:r>
            <a:r>
              <a:rPr sz="1709" b="0">
                <a:solidFill>
                  <a:srgbClr val="3598DB"/>
                </a:solidFill>
                <a:latin typeface="Consolas"/>
              </a:rPr>
              <a:t>r=m-1</a:t>
            </a:r>
            <a:r>
              <a:rPr sz="1800" b="0">
                <a:solidFill>
                  <a:srgbClr val="222B38"/>
                </a:solidFill>
                <a:latin typeface="Calibri"/>
              </a:rPr>
              <a:t>; dừng khi </a:t>
            </a:r>
            <a:r>
              <a:rPr sz="1709" b="0">
                <a:solidFill>
                  <a:srgbClr val="3598DB"/>
                </a:solidFill>
                <a:latin typeface="Consolas"/>
              </a:rPr>
              <a:t>l&gt;r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Độ phức tạp </a:t>
            </a:r>
            <a:r>
              <a:rPr sz="1800" b="1">
                <a:solidFill>
                  <a:srgbClr val="222B38"/>
                </a:solidFill>
                <a:latin typeface="Calibri"/>
              </a:rPr>
              <a:t>O(logN)</a:t>
            </a:r>
            <a:r>
              <a:rPr sz="1800" b="0">
                <a:solidFill>
                  <a:srgbClr val="222B38"/>
                </a:solidFill>
                <a:latin typeface="Calibri"/>
              </a:rPr>
              <a:t>, rất nhanh với mảng lớn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Tìm vị trí đầu/cuối: lưu kết quả rồi </a:t>
            </a:r>
            <a:r>
              <a:rPr sz="1800" b="1">
                <a:solidFill>
                  <a:srgbClr val="222B38"/>
                </a:solidFill>
                <a:latin typeface="Calibri"/>
              </a:rPr>
              <a:t>thu hẹp thêm</a:t>
            </a:r>
            <a:r>
              <a:rPr sz="1800" b="0">
                <a:solidFill>
                  <a:srgbClr val="222B38"/>
                </a:solidFill>
                <a:latin typeface="Calibri"/>
              </a:rPr>
              <a:t> về một phía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