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Khai Báo Nguyên Mẫu Hàm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Nguyên mẫu hàm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Khai Báo Nguyên Mẫu 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Hàm gọi hàm khác thì hàm kia phải được </a:t>
            </a:r>
            <a:r>
              <a:rPr sz="2000" b="1">
                <a:solidFill>
                  <a:srgbClr val="222B38"/>
                </a:solidFill>
                <a:latin typeface="Calibri"/>
              </a:rPr>
              <a:t>khai báo trước đó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theo đúng thứ tự → </a:t>
            </a:r>
            <a:r>
              <a:rPr sz="2000" b="1">
                <a:solidFill>
                  <a:srgbClr val="222B38"/>
                </a:solidFill>
                <a:latin typeface="Calibri"/>
              </a:rPr>
              <a:t>lỗi biên dịch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Nguyên mẫu hàm</a:t>
            </a:r>
            <a:r>
              <a:rPr sz="2000" b="0">
                <a:solidFill>
                  <a:srgbClr val="222B38"/>
                </a:solidFill>
                <a:latin typeface="Calibri"/>
              </a:rPr>
              <a:t> (function prototype) khai báo trước để gọi tự 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Nguyên mẫu hàm chứa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Khai Báo Nguyên Mẫu 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Kiểu trả về của hàm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Tên hàm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Số lượng và kiểu dữ liệu của tham số (không cần tên tham số)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Hàm không tham số: viết </a:t>
            </a:r>
            <a:r>
              <a:rPr sz="1709" b="0">
                <a:solidFill>
                  <a:srgbClr val="3598DB"/>
                </a:solidFill>
                <a:latin typeface="Consolas"/>
              </a:rPr>
              <a:t>(void)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không để ngoặc rỗng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Cú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Khai Báo Nguyên Mẫu Hàm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049221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5525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//function prototype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greet(void);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tong(int, int, int);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long solve(int, long long);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main(void){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greet();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printf("%d\n", tong(10, 20, 30));   // 60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printf("%lld\n", solve(10, 20));    // 80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Lỗi khi gọi hàm chưa khai báo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Khai Báo Nguyên Mẫu 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3245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Hàm </a:t>
            </a:r>
            <a:r>
              <a:rPr sz="1900" b="0">
                <a:solidFill>
                  <a:srgbClr val="3598DB"/>
                </a:solidFill>
                <a:latin typeface="Consolas"/>
              </a:rPr>
              <a:t>B()</a:t>
            </a:r>
            <a:r>
              <a:rPr sz="2000" b="0">
                <a:solidFill>
                  <a:srgbClr val="222B38"/>
                </a:solidFill>
                <a:latin typeface="Calibri"/>
              </a:rPr>
              <a:t> gọi </a:t>
            </a:r>
            <a:r>
              <a:rPr sz="1900" b="0">
                <a:solidFill>
                  <a:srgbClr val="3598DB"/>
                </a:solidFill>
                <a:latin typeface="Consolas"/>
              </a:rPr>
              <a:t>A()</a:t>
            </a:r>
            <a:r>
              <a:rPr sz="2000" b="0">
                <a:solidFill>
                  <a:srgbClr val="222B38"/>
                </a:solidFill>
                <a:latin typeface="Calibri"/>
              </a:rPr>
              <a:t> nhưng </a:t>
            </a:r>
            <a:r>
              <a:rPr sz="1900" b="0">
                <a:solidFill>
                  <a:srgbClr val="3598DB"/>
                </a:solidFill>
                <a:latin typeface="Consolas"/>
              </a:rPr>
              <a:t>A()</a:t>
            </a:r>
            <a:r>
              <a:rPr sz="2000" b="0">
                <a:solidFill>
                  <a:srgbClr val="222B38"/>
                </a:solidFill>
                <a:latin typeface="Calibri"/>
              </a:rPr>
              <a:t> được định nghĩa </a:t>
            </a:r>
            <a:r>
              <a:rPr sz="2000" b="1">
                <a:solidFill>
                  <a:srgbClr val="222B38"/>
                </a:solidFill>
                <a:latin typeface="Calibri"/>
              </a:rPr>
              <a:t>bên dưới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1900" b="0">
                <a:solidFill>
                  <a:srgbClr val="3598DB"/>
                </a:solidFill>
                <a:latin typeface="Consolas"/>
              </a:rPr>
              <a:t>B()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Từ C99, gọi hàm chưa khai báo là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hợp lệ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gcc 11 chỉ cảnh báo, gcc 14+ báo lỗi: hãy coi cảnh báo là lỗi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00298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46602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B(void){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printf("codelab blog\n");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A();     // implicit declaration of function 'A'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A(void){  // conflicting types for 'A'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printf("codelab\n");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Khắc phục bằng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Khai Báo Nguyên Mẫu Hàm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746250"/>
            <a:ext cx="10765231" cy="411683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92554"/>
            <a:ext cx="10362895" cy="38242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//function prototype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A(void);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B(void);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B(void){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printf("codelab blog\n");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A();     // hợp lệ nhờ đã khai báo trước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A(void){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printf("codelab\n");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codelab blog / codelab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Khai Báo Nguyên Mẫu 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Prototype cho phép gọi hàm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 cần đúng thứ tự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định nghĩa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Thường đặt các dòng khai báo ở đầu file, phía trên </a:t>
            </a:r>
            <a:r>
              <a:rPr sz="1709" b="0">
                <a:solidFill>
                  <a:srgbClr val="3598DB"/>
                </a:solidFill>
                <a:latin typeface="Consolas"/>
              </a:rPr>
              <a:t>main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cần tên tham số trong prototype, chỉ cần </a:t>
            </a:r>
            <a:r>
              <a:rPr sz="1800" b="1">
                <a:solidFill>
                  <a:srgbClr val="222B38"/>
                </a:solidFill>
                <a:latin typeface="Calibri"/>
              </a:rPr>
              <a:t>kiểu dữ liệu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Thấy cảnh báo </a:t>
            </a:r>
            <a:r>
              <a:rPr sz="1709" b="0">
                <a:solidFill>
                  <a:srgbClr val="3598DB"/>
                </a:solidFill>
                <a:latin typeface="Consolas"/>
              </a:rPr>
              <a:t>implicit declaration of function</a:t>
            </a:r>
            <a:r>
              <a:rPr sz="1800" b="0">
                <a:solidFill>
                  <a:srgbClr val="222B38"/>
                </a:solidFill>
                <a:latin typeface="Calibri"/>
              </a:rPr>
              <a:t> là phải sửa ngay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