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Chuỗi Ký Tự Trong C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Chuỗi trong C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Chuỗi Ký Tự Trong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05050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 không có kiểu chuỗi riêng: chuỗi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mảng char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Luôn kết thúc bằng ký tự null </a:t>
            </a:r>
            <a:r>
              <a:rPr sz="1800" b="1">
                <a:solidFill>
                  <a:srgbClr val="222B38"/>
                </a:solidFill>
                <a:latin typeface="Calibri"/>
              </a:rPr>
              <a:t>'\0'</a:t>
            </a:r>
            <a:r>
              <a:rPr sz="1800" b="0">
                <a:solidFill>
                  <a:srgbClr val="222B38"/>
                </a:solidFill>
                <a:latin typeface="Calibri"/>
              </a:rPr>
              <a:t> (mã ASCII 0)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"codelab"</a:t>
            </a:r>
            <a:r>
              <a:rPr sz="1800" b="0">
                <a:solidFill>
                  <a:srgbClr val="222B38"/>
                </a:solidFill>
                <a:latin typeface="Calibri"/>
              </a:rPr>
              <a:t> có 7 ký tự nhưng chiếm </a:t>
            </a:r>
            <a:r>
              <a:rPr sz="1800" b="1">
                <a:solidFill>
                  <a:srgbClr val="222B38"/>
                </a:solidFill>
                <a:latin typeface="Calibri"/>
              </a:rPr>
              <a:t>8 byte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Mảng </a:t>
            </a:r>
            <a:r>
              <a:rPr sz="1709" b="0">
                <a:solidFill>
                  <a:srgbClr val="3598DB"/>
                </a:solidFill>
                <a:latin typeface="Consolas"/>
              </a:rPr>
              <a:t>char</a:t>
            </a:r>
            <a:r>
              <a:rPr sz="1800" b="0">
                <a:solidFill>
                  <a:srgbClr val="222B38"/>
                </a:solidFill>
                <a:latin typeface="Calibri"/>
              </a:rPr>
              <a:t> cỡ N chứa chuỗi dài tối đa </a:t>
            </a:r>
            <a:r>
              <a:rPr sz="1800" b="1">
                <a:solidFill>
                  <a:srgbClr val="222B38"/>
                </a:solidFill>
                <a:latin typeface="Calibri"/>
              </a:rPr>
              <a:t>N - 1</a:t>
            </a:r>
            <a:r>
              <a:rPr sz="1800" b="0">
                <a:solidFill>
                  <a:srgbClr val="222B38"/>
                </a:solidFill>
                <a:latin typeface="Calibri"/>
              </a:rPr>
              <a:t> ký tự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253890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00194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index:  0   1   2   3   4   5   6   7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s:     'c' 'o' 'd' 'e' 'l' 'a' 'b' '\0'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Khai báo và khởi tạo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Chuỗi Ký Tự Trong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38121"/>
            <a:ext cx="10765231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Hằng chuỗi </a:t>
            </a:r>
            <a:r>
              <a:rPr sz="1709" b="0">
                <a:solidFill>
                  <a:srgbClr val="3598DB"/>
                </a:solidFill>
                <a:latin typeface="Consolas"/>
              </a:rPr>
              <a:t>"..."</a:t>
            </a:r>
            <a:r>
              <a:rPr sz="1800" b="0">
                <a:solidFill>
                  <a:srgbClr val="222B38"/>
                </a:solidFill>
                <a:latin typeface="Calibri"/>
              </a:rPr>
              <a:t> được </a:t>
            </a:r>
            <a:r>
              <a:rPr sz="1800" b="1">
                <a:solidFill>
                  <a:srgbClr val="222B38"/>
                </a:solidFill>
                <a:latin typeface="Calibri"/>
              </a:rPr>
              <a:t>tự thêm '\0'</a:t>
            </a:r>
            <a:r>
              <a:rPr sz="1800" b="0">
                <a:solidFill>
                  <a:srgbClr val="222B38"/>
                </a:solidFill>
                <a:latin typeface="Calibri"/>
              </a:rPr>
              <a:t>; khởi tạo từng ký tự phải tự thêm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ghi kích thước: trình biên dịch cấp đúng số ký tự + 1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326841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73145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s1[100] = "";                  // rỗng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s2[] = "codelab";              // 8 byte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s3[20] = "codelab";            // 20 byte, dư điền '\0'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s4[] = {'c','o','d','e','\0'};  // tự thêm '\0'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printf("%zu %zu\n", strlen(s2), sizeof(s2));   // 7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In chuỗi với %s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Chuỗi Ký Tự Trong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printf("%s", s)</a:t>
            </a:r>
            <a:r>
              <a:rPr sz="2000" b="0">
                <a:solidFill>
                  <a:srgbClr val="222B38"/>
                </a:solidFill>
                <a:latin typeface="Calibri"/>
              </a:rPr>
              <a:t>: truyền </a:t>
            </a:r>
            <a:r>
              <a:rPr sz="2000" b="1">
                <a:solidFill>
                  <a:srgbClr val="222B38"/>
                </a:solidFill>
                <a:latin typeface="Calibri"/>
              </a:rPr>
              <a:t>tên mảng</a:t>
            </a:r>
            <a:r>
              <a:rPr sz="2000" b="0">
                <a:solidFill>
                  <a:srgbClr val="222B38"/>
                </a:solidFill>
                <a:latin typeface="Calibri"/>
              </a:rPr>
              <a:t>, in tới khi gặp </a:t>
            </a:r>
            <a:r>
              <a:rPr sz="1900" b="0">
                <a:solidFill>
                  <a:srgbClr val="3598DB"/>
                </a:solidFill>
                <a:latin typeface="Consolas"/>
              </a:rPr>
              <a:t>'\0'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puts(s)</a:t>
            </a:r>
            <a:r>
              <a:rPr sz="2000" b="0">
                <a:solidFill>
                  <a:srgbClr val="222B38"/>
                </a:solidFill>
                <a:latin typeface="Calibri"/>
              </a:rPr>
              <a:t> in chuỗi và tự xuống dòng; </a:t>
            </a:r>
            <a:r>
              <a:rPr sz="1900" b="0">
                <a:solidFill>
                  <a:srgbClr val="3598DB"/>
                </a:solidFill>
                <a:latin typeface="Consolas"/>
              </a:rPr>
              <a:t>%c</a:t>
            </a:r>
            <a:r>
              <a:rPr sz="2000" b="0">
                <a:solidFill>
                  <a:srgbClr val="222B38"/>
                </a:solidFill>
                <a:latin typeface="Calibri"/>
              </a:rPr>
              <a:t> in một ký tự </a:t>
            </a:r>
            <a:r>
              <a:rPr sz="1900" b="0">
                <a:solidFill>
                  <a:srgbClr val="3598DB"/>
                </a:solidFill>
                <a:latin typeface="Consolas"/>
              </a:rPr>
              <a:t>s[i]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printf("%s\n", s);       // codelab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puts(s);                 // codelab + xuống dòng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printf("[%10s]\n", s);   // [   codelab]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printf("[%.4s]\n", s);   // [code]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3 cách duyệt chuỗi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Chuỗi Ký Tự Trong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3443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Chỉ số từ 0 tới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strlen(s) - 1</a:t>
            </a:r>
            <a:r>
              <a:rPr sz="2000" b="0">
                <a:solidFill>
                  <a:srgbClr val="222B38"/>
                </a:solidFill>
                <a:latin typeface="Calibri"/>
              </a:rPr>
              <a:t> (tính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strlen</a:t>
            </a:r>
            <a:r>
              <a:rPr sz="2000" b="0">
                <a:solidFill>
                  <a:srgbClr val="222B38"/>
                </a:solidFill>
                <a:latin typeface="Calibri"/>
              </a:rPr>
              <a:t> một lần)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Chỉ số tới khi gặp </a:t>
            </a:r>
            <a:r>
              <a:rPr sz="1900" b="0">
                <a:solidFill>
                  <a:srgbClr val="3598DB"/>
                </a:solidFill>
                <a:latin typeface="Consolas"/>
              </a:rPr>
              <a:t>'\0'</a:t>
            </a:r>
            <a:r>
              <a:rPr sz="2000" b="0">
                <a:solidFill>
                  <a:srgbClr val="222B38"/>
                </a:solidFill>
                <a:latin typeface="Calibri"/>
              </a:rPr>
              <a:t> — cách tự nhiên nhất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Con trỏ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1900" b="0">
                <a:solidFill>
                  <a:srgbClr val="3598DB"/>
                </a:solidFill>
                <a:latin typeface="Consolas"/>
              </a:rPr>
              <a:t>char *p</a:t>
            </a:r>
            <a:r>
              <a:rPr sz="2000" b="0">
                <a:solidFill>
                  <a:srgbClr val="222B38"/>
                </a:solidFill>
                <a:latin typeface="Calibri"/>
              </a:rPr>
              <a:t> chạy tới khi </a:t>
            </a:r>
            <a:r>
              <a:rPr sz="1900" b="0">
                <a:solidFill>
                  <a:srgbClr val="3598DB"/>
                </a:solidFill>
                <a:latin typeface="Consolas"/>
              </a:rPr>
              <a:t>*p == '\0'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0227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858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strlen(s);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n; i++) printf("%c", s[i]);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s[i] != '\0'; i++) printf("%c", s[i]);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(char *p = s; *p != '\0'; p++) printf("%c", *p);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Độ dài chuỗi: strlen()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Chuỗi Ký Tự Trong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70100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strlen</a:t>
            </a:r>
            <a:r>
              <a:rPr sz="1800" b="0">
                <a:solidFill>
                  <a:srgbClr val="222B38"/>
                </a:solidFill>
                <a:latin typeface="Calibri"/>
              </a:rPr>
              <a:t> (string.h) đếm ký tự </a:t>
            </a:r>
            <a:r>
              <a:rPr sz="1800" b="1">
                <a:solidFill>
                  <a:srgbClr val="222B38"/>
                </a:solidFill>
                <a:latin typeface="Calibri"/>
              </a:rPr>
              <a:t>trước '\0'</a:t>
            </a:r>
            <a:r>
              <a:rPr sz="1800" b="0">
                <a:solidFill>
                  <a:srgbClr val="222B38"/>
                </a:solidFill>
                <a:latin typeface="Calibri"/>
              </a:rPr>
              <a:t>, trả về </a:t>
            </a:r>
            <a:r>
              <a:rPr sz="1709" b="0">
                <a:solidFill>
                  <a:srgbClr val="3598DB"/>
                </a:solidFill>
                <a:latin typeface="Consolas"/>
              </a:rPr>
              <a:t>size_t</a:t>
            </a:r>
            <a:r>
              <a:rPr sz="1800" b="0">
                <a:solidFill>
                  <a:srgbClr val="222B38"/>
                </a:solidFill>
                <a:latin typeface="Calibri"/>
              </a:rPr>
              <a:t> → in </a:t>
            </a:r>
            <a:r>
              <a:rPr sz="1709" b="0">
                <a:solidFill>
                  <a:srgbClr val="3598DB"/>
                </a:solidFill>
                <a:latin typeface="Consolas"/>
              </a:rPr>
              <a:t>%zu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sizeof</a:t>
            </a:r>
            <a:r>
              <a:rPr sz="1800" b="0">
                <a:solidFill>
                  <a:srgbClr val="222B38"/>
                </a:solidFill>
                <a:latin typeface="Calibri"/>
              </a:rPr>
              <a:t> là kích thước </a:t>
            </a:r>
            <a:r>
              <a:rPr sz="1800" b="1">
                <a:solidFill>
                  <a:srgbClr val="222B38"/>
                </a:solidFill>
                <a:latin typeface="Calibri"/>
              </a:rPr>
              <a:t>cả mảng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khác </a:t>
            </a:r>
            <a:r>
              <a:rPr sz="1709" b="0">
                <a:solidFill>
                  <a:srgbClr val="3598DB"/>
                </a:solidFill>
                <a:latin typeface="Consolas"/>
              </a:rPr>
              <a:t>strlen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Tránh </a:t>
            </a:r>
            <a:r>
              <a:rPr sz="1709" b="0">
                <a:solidFill>
                  <a:srgbClr val="3598DB"/>
                </a:solidFill>
                <a:latin typeface="Consolas"/>
              </a:rPr>
              <a:t>i &lt; strlen(s)</a:t>
            </a:r>
            <a:r>
              <a:rPr sz="1800" b="0">
                <a:solidFill>
                  <a:srgbClr val="222B38"/>
                </a:solidFill>
                <a:latin typeface="Calibri"/>
              </a:rPr>
              <a:t> trong điều kiện for: thành </a:t>
            </a:r>
            <a:r>
              <a:rPr sz="1800" b="1">
                <a:solidFill>
                  <a:srgbClr val="222B38"/>
                </a:solidFill>
                <a:latin typeface="Calibri"/>
              </a:rPr>
              <a:t>O(n²)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38880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85184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doDai(const char s[])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dem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while (s[dem] != '\0') ++dem;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dem;             // giống strlen(s)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Nhập chuỗi từ bàn phím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Chuỗi Ký Tự Trong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542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scanf("%99s", s)</a:t>
            </a:r>
            <a:r>
              <a:rPr sz="2000" b="0">
                <a:solidFill>
                  <a:srgbClr val="222B38"/>
                </a:solidFill>
                <a:latin typeface="Calibri"/>
              </a:rPr>
              <a:t>: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có &amp;</a:t>
            </a:r>
            <a:r>
              <a:rPr sz="2000" b="0">
                <a:solidFill>
                  <a:srgbClr val="222B38"/>
                </a:solidFill>
                <a:latin typeface="Calibri"/>
              </a:rPr>
              <a:t>, dừng ở khoảng trắng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fgets(s, sizeof(s), stdin)</a:t>
            </a:r>
            <a:r>
              <a:rPr sz="2000" b="0">
                <a:solidFill>
                  <a:srgbClr val="222B38"/>
                </a:solidFill>
                <a:latin typeface="Calibri"/>
              </a:rPr>
              <a:t>: đọc cả dòng, </a:t>
            </a:r>
            <a:r>
              <a:rPr sz="2000" b="1">
                <a:solidFill>
                  <a:srgbClr val="222B38"/>
                </a:solidFill>
                <a:latin typeface="Calibri"/>
              </a:rPr>
              <a:t>giữ lại '\n'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bao giờ dùng gets()</a:t>
            </a:r>
            <a:r>
              <a:rPr sz="2000" b="0">
                <a:solidFill>
                  <a:srgbClr val="222B38"/>
                </a:solidFill>
                <a:latin typeface="Calibri"/>
              </a:rPr>
              <a:t> — đã bị loại khỏi C11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326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957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s[100];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scanf("%99s", s);                 // "codelab C" -&gt; "codelab"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fgets(s, sizeof(s), stdin);        // đọc cả dòng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s[strcspn(s, "\n")] = '\0';        // xoá '\n' cuối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Lỗi thường gặp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Chuỗi Ký Tự Trong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char s[7] = "codelab";</a:t>
            </a:r>
            <a:r>
              <a:rPr sz="1800" b="0">
                <a:solidFill>
                  <a:srgbClr val="222B38"/>
                </a:solidFill>
                <a:latin typeface="Calibri"/>
              </a:rPr>
              <a:t> — mất chỗ cho </a:t>
            </a:r>
            <a:r>
              <a:rPr sz="1709" b="0">
                <a:solidFill>
                  <a:srgbClr val="3598DB"/>
                </a:solidFill>
                <a:latin typeface="Consolas"/>
              </a:rPr>
              <a:t>'\0'</a:t>
            </a:r>
            <a:r>
              <a:rPr sz="1800" b="0">
                <a:solidFill>
                  <a:srgbClr val="222B38"/>
                </a:solidFill>
                <a:latin typeface="Calibri"/>
              </a:rPr>
              <a:t>, C vẫn biên dịch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 = "abc";</a:t>
            </a:r>
            <a:r>
              <a:rPr sz="1800" b="0">
                <a:solidFill>
                  <a:srgbClr val="222B38"/>
                </a:solidFill>
                <a:latin typeface="Calibri"/>
              </a:rPr>
              <a:t> lỗi: mảng không gán được → 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strcpy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a == b</a:t>
            </a:r>
            <a:r>
              <a:rPr sz="1800" b="0">
                <a:solidFill>
                  <a:srgbClr val="222B38"/>
                </a:solidFill>
                <a:latin typeface="Calibri"/>
              </a:rPr>
              <a:t> so sánh </a:t>
            </a:r>
            <a:r>
              <a:rPr sz="1800" b="1">
                <a:solidFill>
                  <a:srgbClr val="222B38"/>
                </a:solidFill>
                <a:latin typeface="Calibri"/>
              </a:rPr>
              <a:t>địa chỉ</a:t>
            </a:r>
            <a:r>
              <a:rPr sz="1800" b="0">
                <a:solidFill>
                  <a:srgbClr val="222B38"/>
                </a:solidFill>
                <a:latin typeface="Calibri"/>
              </a:rPr>
              <a:t> → 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strcmp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char *p = "abc"; p[0] = 'X';</a:t>
            </a:r>
            <a:r>
              <a:rPr sz="1800" b="0">
                <a:solidFill>
                  <a:srgbClr val="222B38"/>
                </a:solidFill>
                <a:latin typeface="Calibri"/>
              </a:rPr>
              <a:t> sửa hằng chuỗi → crash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Chuỗi Ký Tự Trong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Chuỗi C = </a:t>
            </a:r>
            <a:r>
              <a:rPr sz="1700" b="1">
                <a:solidFill>
                  <a:srgbClr val="222B38"/>
                </a:solidFill>
                <a:latin typeface="Calibri"/>
              </a:rPr>
              <a:t>mảng char + '\0'</a:t>
            </a:r>
            <a:r>
              <a:rPr sz="1700" b="0">
                <a:solidFill>
                  <a:srgbClr val="222B38"/>
                </a:solidFill>
                <a:latin typeface="Calibri"/>
              </a:rPr>
              <a:t>, luôn chừa 1 ô cho </a:t>
            </a:r>
            <a:r>
              <a:rPr sz="1614" b="0">
                <a:solidFill>
                  <a:srgbClr val="3598DB"/>
                </a:solidFill>
                <a:latin typeface="Consolas"/>
              </a:rPr>
              <a:t>'\0'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In bằng </a:t>
            </a:r>
            <a:r>
              <a:rPr sz="1614" b="0">
                <a:solidFill>
                  <a:srgbClr val="3598DB"/>
                </a:solidFill>
                <a:latin typeface="Consolas"/>
              </a:rPr>
              <a:t>%s</a:t>
            </a:r>
            <a:r>
              <a:rPr sz="1700" b="0">
                <a:solidFill>
                  <a:srgbClr val="222B38"/>
                </a:solidFill>
                <a:latin typeface="Calibri"/>
              </a:rPr>
              <a:t>, độ dài bằng </a:t>
            </a:r>
            <a:r>
              <a:rPr sz="1614" b="0">
                <a:solidFill>
                  <a:srgbClr val="3598DB"/>
                </a:solidFill>
                <a:latin typeface="Consolas"/>
              </a:rPr>
              <a:t>strlen</a:t>
            </a:r>
            <a:r>
              <a:rPr sz="1700" b="0">
                <a:solidFill>
                  <a:srgbClr val="222B38"/>
                </a:solidFill>
                <a:latin typeface="Calibri"/>
              </a:rPr>
              <a:t> (in </a:t>
            </a:r>
            <a:r>
              <a:rPr sz="1614" b="0">
                <a:solidFill>
                  <a:srgbClr val="3598DB"/>
                </a:solidFill>
                <a:latin typeface="Consolas"/>
              </a:rPr>
              <a:t>%zu</a:t>
            </a:r>
            <a:r>
              <a:rPr sz="1700" b="0">
                <a:solidFill>
                  <a:srgbClr val="222B38"/>
                </a:solidFill>
                <a:latin typeface="Calibri"/>
              </a:rPr>
              <a:t>), khác </a:t>
            </a:r>
            <a:r>
              <a:rPr sz="1614" b="0">
                <a:solidFill>
                  <a:srgbClr val="3598DB"/>
                </a:solidFill>
                <a:latin typeface="Consolas"/>
              </a:rPr>
              <a:t>sizeof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Duyệt tới </a:t>
            </a:r>
            <a:r>
              <a:rPr sz="1614" b="0">
                <a:solidFill>
                  <a:srgbClr val="3598DB"/>
                </a:solidFill>
                <a:latin typeface="Consolas"/>
              </a:rPr>
              <a:t>'\0'</a:t>
            </a:r>
            <a:r>
              <a:rPr sz="1700" b="0">
                <a:solidFill>
                  <a:srgbClr val="222B38"/>
                </a:solidFill>
                <a:latin typeface="Calibri"/>
              </a:rPr>
              <a:t> bằng chỉ số hoặc con trỏ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Nhập: </a:t>
            </a:r>
            <a:r>
              <a:rPr sz="1614" b="0">
                <a:solidFill>
                  <a:srgbClr val="3598DB"/>
                </a:solidFill>
                <a:latin typeface="Consolas"/>
              </a:rPr>
              <a:t>scanf("%99s")</a:t>
            </a:r>
            <a:r>
              <a:rPr sz="1700" b="0">
                <a:solidFill>
                  <a:srgbClr val="222B38"/>
                </a:solidFill>
                <a:latin typeface="Calibri"/>
              </a:rPr>
              <a:t> cho 1 từ, </a:t>
            </a:r>
            <a:r>
              <a:rPr sz="1614" b="0">
                <a:solidFill>
                  <a:srgbClr val="3598DB"/>
                </a:solidFill>
                <a:latin typeface="Consolas"/>
              </a:rPr>
              <a:t>fgets</a:t>
            </a:r>
            <a:r>
              <a:rPr sz="1700" b="0">
                <a:solidFill>
                  <a:srgbClr val="222B38"/>
                </a:solidFill>
                <a:latin typeface="Calibri"/>
              </a:rPr>
              <a:t> cho cả dòng, cấm </a:t>
            </a:r>
            <a:r>
              <a:rPr sz="1614" b="0">
                <a:solidFill>
                  <a:srgbClr val="3598DB"/>
                </a:solidFill>
                <a:latin typeface="Consolas"/>
              </a:rPr>
              <a:t>gets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Gán dùng </a:t>
            </a:r>
            <a:r>
              <a:rPr sz="1614" b="0">
                <a:solidFill>
                  <a:srgbClr val="3598DB"/>
                </a:solidFill>
                <a:latin typeface="Consolas"/>
              </a:rPr>
              <a:t>strcpy</a:t>
            </a:r>
            <a:r>
              <a:rPr sz="1700" b="0">
                <a:solidFill>
                  <a:srgbClr val="222B38"/>
                </a:solidFill>
                <a:latin typeface="Calibri"/>
              </a:rPr>
              <a:t>, so sánh dùng </a:t>
            </a:r>
            <a:r>
              <a:rPr sz="1614" b="0">
                <a:solidFill>
                  <a:srgbClr val="3598DB"/>
                </a:solidFill>
                <a:latin typeface="Consolas"/>
              </a:rPr>
              <a:t>strcmp</a:t>
            </a:r>
            <a:r>
              <a:rPr sz="1700" b="0">
                <a:solidFill>
                  <a:srgbClr val="222B38"/>
                </a:solidFill>
                <a:latin typeface="Calibri"/>
              </a:rPr>
              <a:t>, không dùng </a:t>
            </a:r>
            <a:r>
              <a:rPr sz="1614" b="0">
                <a:solidFill>
                  <a:srgbClr val="3598DB"/>
                </a:solidFill>
                <a:latin typeface="Consolas"/>
              </a:rPr>
              <a:t>=</a:t>
            </a:r>
            <a:r>
              <a:rPr sz="1700" b="0">
                <a:solidFill>
                  <a:srgbClr val="222B38"/>
                </a:solidFill>
                <a:latin typeface="Calibri"/>
              </a:rPr>
              <a:t> và </a:t>
            </a:r>
            <a:r>
              <a:rPr sz="1614" b="0">
                <a:solidFill>
                  <a:srgbClr val="3598DB"/>
                </a:solidFill>
                <a:latin typeface="Consolas"/>
              </a:rPr>
              <a:t>==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