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Biến Và Từ Khóa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Biến</a:t>
            </a:r>
            <a:r>
              <a:rPr sz="1800" b="0">
                <a:solidFill>
                  <a:srgbClr val="222B38"/>
                </a:solidFill>
                <a:latin typeface="Calibri"/>
              </a:rPr>
              <a:t> (variable) dùng để lưu trữ giá trị cho bài toán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xác định: kiểu dữ liệu, tên biến, giá trị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khởi tạo thì biến có 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ngẫu nhiên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[Kiểu dữ liệu] [Tên biến];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b = 282828282828282;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c = 3.8912;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 = 10.8912781;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 = '@';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 = true;         // cần &lt;stdbool.h&gt;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giá trị biến bằng printf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Đặt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đặc tả</a:t>
            </a:r>
            <a:r>
              <a:rPr sz="2000" b="0">
                <a:solidFill>
                  <a:srgbClr val="222B38"/>
                </a:solidFill>
                <a:latin typeface="Calibri"/>
              </a:rPr>
              <a:t> đúng kiểu vào chuỗi, truyền biến phía sau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%d</a:t>
            </a:r>
            <a:r>
              <a:rPr sz="2000" b="0">
                <a:solidFill>
                  <a:srgbClr val="222B38"/>
                </a:solidFill>
                <a:latin typeface="Calibri"/>
              </a:rPr>
              <a:t> int, </a:t>
            </a:r>
            <a:r>
              <a:rPr sz="1900" b="0">
                <a:solidFill>
                  <a:srgbClr val="3598DB"/>
                </a:solidFill>
                <a:latin typeface="Consolas"/>
              </a:rPr>
              <a:t>%lld</a:t>
            </a:r>
            <a:r>
              <a:rPr sz="2000" b="0">
                <a:solidFill>
                  <a:srgbClr val="222B38"/>
                </a:solidFill>
                <a:latin typeface="Calibri"/>
              </a:rPr>
              <a:t> long long,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%f</a:t>
            </a:r>
            <a:r>
              <a:rPr sz="2000" b="0">
                <a:solidFill>
                  <a:srgbClr val="222B38"/>
                </a:solidFill>
                <a:latin typeface="Calibri"/>
              </a:rPr>
              <a:t> float/double, </a:t>
            </a:r>
            <a:r>
              <a:rPr sz="1900" b="0">
                <a:solidFill>
                  <a:srgbClr val="3598DB"/>
                </a:solidFill>
                <a:latin typeface="Consolas"/>
              </a:rPr>
              <a:t>%c</a:t>
            </a:r>
            <a:r>
              <a:rPr sz="2000" b="0">
                <a:solidFill>
                  <a:srgbClr val="222B38"/>
                </a:solidFill>
                <a:latin typeface="Calibri"/>
              </a:rPr>
              <a:t> char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%f</a:t>
            </a:r>
            <a:r>
              <a:rPr sz="2000" b="0">
                <a:solidFill>
                  <a:srgbClr val="222B38"/>
                </a:solidFill>
                <a:latin typeface="Calibri"/>
              </a:rPr>
              <a:t> mặc định in 6 chữ số thập phân;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in ra 1/0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a : %d\n", a);       //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b : %lld\n", b);     // 282828282828282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d : %f\n", d);       // 10.891278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kitu : %c\n", kitu); // @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check : %d\n", check); //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nhiều biến cùng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biến </a:t>
            </a:r>
            <a:r>
              <a:rPr sz="2000" b="1">
                <a:solidFill>
                  <a:srgbClr val="222B38"/>
                </a:solidFill>
                <a:latin typeface="Calibri"/>
              </a:rPr>
              <a:t>cùng kiểu dữ liệu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khai báo chung 1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Ngăn cách các biến bằng dấu phẩy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x = '@', y = '#', z = '$';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 %d\n", a, b, c);   // 10 20 30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printf("%c %c %c\n", x, y, z);   // @ # 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Quy tắc đặt tên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Chỉ gồm chữ cái, chữ số, </a:t>
            </a:r>
            <a:r>
              <a:rPr sz="1614" b="0">
                <a:solidFill>
                  <a:srgbClr val="3598DB"/>
                </a:solidFill>
                <a:latin typeface="Consolas"/>
              </a:rPr>
              <a:t>_</a:t>
            </a:r>
            <a:r>
              <a:rPr sz="1700" b="0">
                <a:solidFill>
                  <a:srgbClr val="222B38"/>
                </a:solidFill>
                <a:latin typeface="Calibri"/>
              </a:rPr>
              <a:t>; không bắt đầu bằng </a:t>
            </a:r>
            <a:r>
              <a:rPr sz="1700" b="1">
                <a:solidFill>
                  <a:srgbClr val="222B38"/>
                </a:solidFill>
                <a:latin typeface="Calibri"/>
              </a:rPr>
              <a:t>chữ số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chứa dấu cách hoặc ký tự đặc biệt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trùng </a:t>
            </a:r>
            <a:r>
              <a:rPr sz="1700" b="1">
                <a:solidFill>
                  <a:srgbClr val="222B38"/>
                </a:solidFill>
                <a:latin typeface="Calibri"/>
              </a:rPr>
              <a:t>keyword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for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return</a:t>
            </a:r>
            <a:r>
              <a:rPr sz="17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đặt 2 biến cùng tên trong cùng phạm vi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Phân biệt hoa/thường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tech28</a:t>
            </a:r>
            <a:r>
              <a:rPr sz="1700" b="0">
                <a:solidFill>
                  <a:srgbClr val="222B38"/>
                </a:solidFill>
                <a:latin typeface="Calibri"/>
              </a:rPr>
              <a:t> khác </a:t>
            </a:r>
            <a:r>
              <a:rPr sz="1614" b="0">
                <a:solidFill>
                  <a:srgbClr val="3598DB"/>
                </a:solidFill>
                <a:latin typeface="Consolas"/>
              </a:rPr>
              <a:t>Tech28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đặt tên biến rõ nghĩa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quy chuẩn bắt buộc, nên đặt ngắn gọn, có ý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Viết hoa chữ đầu mỗi từ: </a:t>
            </a:r>
            <a:r>
              <a:rPr sz="1709" b="0">
                <a:solidFill>
                  <a:srgbClr val="3598DB"/>
                </a:solidFill>
                <a:latin typeface="Consolas"/>
              </a:rPr>
              <a:t>BanKinh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ChuVi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DienTich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gạch dưới: </a:t>
            </a:r>
            <a:r>
              <a:rPr sz="1709" b="0">
                <a:solidFill>
                  <a:srgbClr val="3598DB"/>
                </a:solidFill>
                <a:latin typeface="Consolas"/>
              </a:rPr>
              <a:t>ban_kinh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chu_vi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dien_tich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Tránh trùng tên hàm thư viện: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sqrt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Keywords (từ khóa) trong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Từ khoá định nghĩa sẵn trong C, không dùng làm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C11 có 44 từ khoá, ít hơn C++ rất nhiều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tên hàm,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phải</a:t>
            </a:r>
            <a:r>
              <a:rPr sz="1800" b="0">
                <a:solidFill>
                  <a:srgbClr val="222B38"/>
                </a:solidFill>
                <a:latin typeface="Calibri"/>
              </a:rPr>
              <a:t> từ khoá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false</a:t>
            </a:r>
            <a:r>
              <a:rPr sz="1800" b="0">
                <a:solidFill>
                  <a:srgbClr val="222B38"/>
                </a:solidFill>
                <a:latin typeface="Calibri"/>
              </a:rPr>
              <a:t> đến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&lt;stdbool.h&gt;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(C23 mới là từ khoá)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break case char const continue default do double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enum extern float for goto if inline int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register restrict return short signed sizeof static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switch typedef union unsigned void volatile while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_Alignas _Alignof _Atomic _Bool _Complex _Generic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_Imaginary _Noreturn _Static_assert _Thread_local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cần đủ 3 yếu tố: kiểu dữ liệu, tên, giá trị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In biến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đặc tả đúng kiểu: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%lld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Tên biến không trùng keyword, không bắt đầu bằng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</a:t>
            </a:r>
            <a:r>
              <a:rPr sz="1800" b="1">
                <a:solidFill>
                  <a:srgbClr val="222B38"/>
                </a:solidFill>
                <a:latin typeface="Calibri"/>
              </a:rPr>
              <a:t>phân biệt hoa thường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tên biến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