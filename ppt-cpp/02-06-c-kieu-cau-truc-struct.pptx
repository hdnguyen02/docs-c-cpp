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Kiểu Cấu Trúc Struct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Struct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do bạn tự định nghĩa, gom </a:t>
            </a:r>
            <a:r>
              <a:rPr sz="1800" b="1">
                <a:solidFill>
                  <a:srgbClr val="222B38"/>
                </a:solidFill>
                <a:latin typeface="Calibri"/>
              </a:rPr>
              <a:t>nhiều giá trị liên quan</a:t>
            </a:r>
            <a:r>
              <a:rPr sz="1800" b="0">
                <a:solidFill>
                  <a:srgbClr val="222B38"/>
                </a:solidFill>
                <a:latin typeface="Calibri"/>
              </a:rPr>
              <a:t> vào 1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trường</a:t>
            </a:r>
            <a:r>
              <a:rPr sz="1800" b="0">
                <a:solidFill>
                  <a:srgbClr val="222B38"/>
                </a:solidFill>
                <a:latin typeface="Calibri"/>
              </a:rPr>
              <a:t> (member) có kiểu và tên riêng, kiểu có thể khác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bằng toán tử dấu chấm: </a:t>
            </a:r>
            <a:r>
              <a:rPr sz="1709" b="0">
                <a:solidFill>
                  <a:srgbClr val="3598DB"/>
                </a:solidFill>
                <a:latin typeface="Consolas"/>
              </a:rPr>
              <a:t>bien.tenTruong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Ví dụ: toạ độ (x, y), thời gian bắt đầu/kết thúc, thông tin sinh viên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khởi tạo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Định nghĩa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struct Ten { ... };</a:t>
            </a:r>
            <a:r>
              <a:rPr sz="2000" b="0">
                <a:solidFill>
                  <a:srgbClr val="222B38"/>
                </a:solidFill>
                <a:latin typeface="Calibri"/>
              </a:rPr>
              <a:t> nhớ </a:t>
            </a:r>
            <a:r>
              <a:rPr sz="2000" b="1">
                <a:solidFill>
                  <a:srgbClr val="222B38"/>
                </a:solidFill>
                <a:latin typeface="Calibri"/>
              </a:rPr>
              <a:t>dấu chấm phẩy</a:t>
            </a:r>
            <a:r>
              <a:rPr sz="2000" b="0">
                <a:solidFill>
                  <a:srgbClr val="222B38"/>
                </a:solidFill>
                <a:latin typeface="Calibri"/>
              </a:rPr>
              <a:t>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{}</a:t>
            </a:r>
            <a:r>
              <a:rPr sz="2000" b="0">
                <a:solidFill>
                  <a:srgbClr val="222B38"/>
                </a:solidFill>
                <a:latin typeface="Calibri"/>
              </a:rPr>
              <a:t> theo thứ tự trường; thiếu trường nào thì trường đó bằng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{.y = 20, .x = 10}</a:t>
            </a:r>
            <a:r>
              <a:rPr sz="2000" b="0">
                <a:solidFill>
                  <a:srgbClr val="222B38"/>
                </a:solidFill>
                <a:latin typeface="Calibri"/>
              </a:rPr>
              <a:t>: chỉ định tên trường (C99)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Diem { int x; int y; 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Diem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a.x = 28; a.y = 100;                  // gan tung truong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Diem b = {28, 100};            // theo thu tu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Diem c = {.y = 20, .x = 10};   // chi dinh ten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c.x, c.y);          // 10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Struct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Trường của struct có thể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 struct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nhiều dấu chấm liên tiếp để đi vào từng tầng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Diem { int x, y; 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DoanThang { struct Diem dau, cuoi; 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DoanThang d = {{10, 20}, {30, 40}};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d.dau.x, d.dau.y);   // 10 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d.cuoi.x = 99;                          // cuoi = {99, 40}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typedef struct: đặt tên ngắn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Viết </a:t>
            </a:r>
            <a:r>
              <a:rPr sz="1900" b="0">
                <a:solidFill>
                  <a:srgbClr val="3598DB"/>
                </a:solidFill>
                <a:latin typeface="Consolas"/>
              </a:rPr>
              <a:t>SinhVien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struct SinhVien</a:t>
            </a:r>
            <a:r>
              <a:rPr sz="2000" b="0">
                <a:solidFill>
                  <a:srgbClr val="222B38"/>
                </a:solidFill>
                <a:latin typeface="Calibri"/>
              </a:rPr>
              <a:t> mỗi lần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scanf trường số: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&amp;sv.tuoi</a:t>
            </a:r>
            <a:r>
              <a:rPr sz="2000" b="0">
                <a:solidFill>
                  <a:srgbClr val="222B38"/>
                </a:solidFill>
                <a:latin typeface="Calibri"/>
              </a:rPr>
              <a:t>; trường mảng char: </a:t>
            </a:r>
            <a:r>
              <a:rPr sz="1900" b="0">
                <a:solidFill>
                  <a:srgbClr val="3598DB"/>
                </a:solidFill>
                <a:latin typeface="Consolas"/>
              </a:rPr>
              <a:t>sv.ten</a:t>
            </a:r>
            <a:r>
              <a:rPr sz="2000" b="0">
                <a:solidFill>
                  <a:srgbClr val="222B38"/>
                </a:solidFill>
                <a:latin typeface="Calibri"/>
              </a:rPr>
              <a:t> không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char ten[50];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tuoi;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double diem;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 SinhVien;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SinhVien sv = {"codelab", 20, 8.5};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scanf("%d", &amp;sv.tuoi);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 %d %.2f\n", sv.ten, sv.tuoi, sv.diem);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Gán và so sánh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Gán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p1 = p</a:t>
            </a:r>
            <a:r>
              <a:rPr sz="2000" b="0">
                <a:solidFill>
                  <a:srgbClr val="222B38"/>
                </a:solidFill>
                <a:latin typeface="Calibri"/>
              </a:rPr>
              <a:t> copy toàn bộ trường, kể cả mảng char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được </a:t>
            </a:r>
            <a:r>
              <a:rPr sz="1900" b="0">
                <a:solidFill>
                  <a:srgbClr val="3598DB"/>
                </a:solidFill>
                <a:latin typeface="Consolas"/>
              </a:rPr>
              <a:t>==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trên struct: lỗi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Tự so từng trường: trường 1 trước, bằng nhau mới xét trường 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{ int x, y; } Cap;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Cap p1 = {10, 20}, p2 = {10, 21};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bang   = (p1.x == p2.x) &amp;&amp; (p1.y == p2.y);          // false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nhoHon = (p1.x &lt; p2.x) || (p1.x == p2.x &amp;&amp; p1.y &lt; p2.y); // 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Hoán đổi 2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359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không có sẵn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biến tạm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với số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35274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81578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Cap p1 = {10, 20}, p2 = {30, 40};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Cap tmp = p1;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p1 = p2;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p2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p1 = {30, 40}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p2 = {10, 20}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phần tử là 1 struct, truy cập </a:t>
            </a:r>
            <a:r>
              <a:rPr sz="1900" b="0">
                <a:solidFill>
                  <a:srgbClr val="3598DB"/>
                </a:solidFill>
                <a:latin typeface="Consolas"/>
              </a:rPr>
              <a:t>ds[i].diem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Tên và điểm luôn đi cùng nhau, gán </a:t>
            </a:r>
            <a:r>
              <a:rPr sz="1900" b="0">
                <a:solidFill>
                  <a:srgbClr val="3598DB"/>
                </a:solidFill>
                <a:latin typeface="Consolas"/>
              </a:rPr>
              <a:t>best = ds[i]</a:t>
            </a:r>
            <a:r>
              <a:rPr sz="2000" b="0">
                <a:solidFill>
                  <a:srgbClr val="222B38"/>
                </a:solidFill>
                <a:latin typeface="Calibri"/>
              </a:rPr>
              <a:t> copy cả hai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SinhVien ds[100];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scanf("%49s %lf", ds[i].ten, &amp;ds[i].diem);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SinhVien best = ds[0];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(ds[i].diem &gt; best.diem) best = ds[i];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Struct 2 trường lưu dữ liệu theo cặp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không có kiểu "cặp" dựng sẵn, dùng struct 2 trường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chỉ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1 giá trị, nhưng giá trị đó có thể là struct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{ int thuong; int du; } KetQuaChia;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KetQuaChia chia(int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KetQuaChia kq = {a / b, a % b};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kq;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KetQuaChia k = chia(17, 5);   // k.thuong = 3, k.du =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Cấu Trúc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struct</a:t>
            </a:r>
            <a:r>
              <a:rPr sz="1700" b="0">
                <a:solidFill>
                  <a:srgbClr val="222B38"/>
                </a:solidFill>
                <a:latin typeface="Calibri"/>
              </a:rPr>
              <a:t> gom nhiều trường có tên vào 1 biến, truy cập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.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typedef struct {...} Ten;</a:t>
            </a:r>
            <a:r>
              <a:rPr sz="1700" b="0">
                <a:solidFill>
                  <a:srgbClr val="222B38"/>
                </a:solidFill>
                <a:latin typeface="Calibri"/>
              </a:rPr>
              <a:t> giúp khai báo gọn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Gán </a:t>
            </a:r>
            <a:r>
              <a:rPr sz="1614" b="0">
                <a:solidFill>
                  <a:srgbClr val="3598DB"/>
                </a:solidFill>
                <a:latin typeface="Consolas"/>
              </a:rPr>
              <a:t>=</a:t>
            </a:r>
            <a:r>
              <a:rPr sz="1700" b="0">
                <a:solidFill>
                  <a:srgbClr val="222B38"/>
                </a:solidFill>
                <a:latin typeface="Calibri"/>
              </a:rPr>
              <a:t> copy cả struct; </a:t>
            </a:r>
            <a:r>
              <a:rPr sz="17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700" b="0">
                <a:solidFill>
                  <a:srgbClr val="222B38"/>
                </a:solidFill>
                <a:latin typeface="Calibri"/>
              </a:rPr>
              <a:t> so sánh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==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&lt;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Mảng struct giữ các thông tin của 1 bản ghi luôn đi cùng nhau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Hàm trả nhiều giá trị: gói vào struct rồi </a:t>
            </a:r>
            <a:r>
              <a:rPr sz="1614" b="0">
                <a:solidFill>
                  <a:srgbClr val="3598DB"/>
                </a:solidFill>
                <a:latin typeface="Consolas"/>
              </a:rPr>
              <a:t>return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