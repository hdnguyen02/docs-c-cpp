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So Sánh Chuỗi Theo Thứ Tự Từ Điển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Thứ tự từ điển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Chuỗi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Hiểu đơn giản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thứ tự abc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bảng chữ cái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Hai xâu được phân định bởi </a:t>
            </a:r>
            <a:r>
              <a:rPr sz="2000" b="1">
                <a:solidFill>
                  <a:srgbClr val="222B38"/>
                </a:solidFill>
                <a:latin typeface="Calibri"/>
              </a:rPr>
              <a:t>ký tự khác nhau đầu tiên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Thứ tự của từng ký tự quy định bởi </a:t>
            </a:r>
            <a:r>
              <a:rPr sz="2000" b="1">
                <a:solidFill>
                  <a:srgbClr val="222B38"/>
                </a:solidFill>
                <a:latin typeface="Calibri"/>
              </a:rPr>
              <a:t>mã ASCII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Quy tắc so sánh 2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Chuỗi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505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Cùng độ dài, giống mọi ký tự → </a:t>
            </a:r>
            <a:r>
              <a:rPr sz="1800" b="1">
                <a:solidFill>
                  <a:srgbClr val="222B38"/>
                </a:solidFill>
                <a:latin typeface="Calibri"/>
              </a:rPr>
              <a:t>bằng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Ký tự khác nhau đầu tiên quyết định xâu nào lớn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ký tự khác nhau → xâu </a:t>
            </a:r>
            <a:r>
              <a:rPr sz="1800" b="1">
                <a:solidFill>
                  <a:srgbClr val="222B38"/>
                </a:solidFill>
                <a:latin typeface="Calibri"/>
              </a:rPr>
              <a:t>dài hơn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lớn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Chữ </a:t>
            </a:r>
            <a:r>
              <a:rPr sz="1800" b="1">
                <a:solidFill>
                  <a:srgbClr val="222B38"/>
                </a:solidFill>
                <a:latin typeface="Calibri"/>
              </a:rPr>
              <a:t>in hoa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in thường</a:t>
            </a:r>
            <a:r>
              <a:rPr sz="1800" b="0">
                <a:solidFill>
                  <a:srgbClr val="222B38"/>
                </a:solidFill>
                <a:latin typeface="Calibri"/>
              </a:rPr>
              <a:t> có thứ tự khác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53890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0194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"codelabzabc" &gt; "codelabaz"   (chi so 7: 'z' &gt; 'a')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"codelab"     &lt; "codelabblog" (xau ngan hon)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thứ tự từ điển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Chuỗi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Dấu cách (32) &lt; chữ số (48–57) &lt; chữ hoa (65–90) &lt; chữ thường (97–122)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"codelab"      &lt; "codelabzzz"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"1234"         &lt; "zzz"          // '1' (49) &lt; 'z' (122)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"lan"          &lt; "lan di hoc lap trinh"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"codelab"      &gt; "27tech"       // 'c' &gt; '2'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"codelab java" &lt; "codelab@"     // ' ' (32) &lt; '@' (64)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Không dùng toán tử so sánh với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Chuỗi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Xâu là mảng char: </a:t>
            </a:r>
            <a:r>
              <a:rPr sz="1900" b="0">
                <a:solidFill>
                  <a:srgbClr val="3598DB"/>
                </a:solidFill>
                <a:latin typeface="Consolas"/>
              </a:rPr>
              <a:t>a == b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a &lt; b</a:t>
            </a:r>
            <a:r>
              <a:rPr sz="2000" b="0">
                <a:solidFill>
                  <a:srgbClr val="222B38"/>
                </a:solidFill>
                <a:latin typeface="Calibri"/>
              </a:rPr>
              <a:t> so sánh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không có ý nghĩa về mặt từ điển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strcmp()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thư viện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&lt;string.h&gt;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strcmp()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Chuỗi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strcmp(a, b)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&lt; 0</a:t>
            </a:r>
            <a:r>
              <a:rPr sz="2000" b="0">
                <a:solidFill>
                  <a:srgbClr val="222B38"/>
                </a:solidFill>
                <a:latin typeface="Calibri"/>
              </a:rPr>
              <a:t>: a nhỏ hơn; </a:t>
            </a:r>
            <a:r>
              <a:rPr sz="2000" b="1">
                <a:solidFill>
                  <a:srgbClr val="222B38"/>
                </a:solidFill>
                <a:latin typeface="Calibri"/>
              </a:rPr>
              <a:t>= 0</a:t>
            </a:r>
            <a:r>
              <a:rPr sz="2000" b="0">
                <a:solidFill>
                  <a:srgbClr val="222B38"/>
                </a:solidFill>
                <a:latin typeface="Calibri"/>
              </a:rPr>
              <a:t>: bằng; </a:t>
            </a:r>
            <a:r>
              <a:rPr sz="2000" b="1">
                <a:solidFill>
                  <a:srgbClr val="222B38"/>
                </a:solidFill>
                <a:latin typeface="Calibri"/>
              </a:rPr>
              <a:t>&gt; 0</a:t>
            </a:r>
            <a:r>
              <a:rPr sz="2000" b="0">
                <a:solidFill>
                  <a:srgbClr val="222B38"/>
                </a:solidFill>
                <a:latin typeface="Calibri"/>
              </a:rPr>
              <a:t>: a lớn hơn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Chuẩn chỉ quy định </a:t>
            </a:r>
            <a:r>
              <a:rPr sz="2000" b="1">
                <a:solidFill>
                  <a:srgbClr val="222B38"/>
                </a:solidFill>
                <a:latin typeface="Calibri"/>
              </a:rPr>
              <a:t>dấu</a:t>
            </a:r>
            <a:r>
              <a:rPr sz="2000" b="0">
                <a:solidFill>
                  <a:srgbClr val="222B38"/>
                </a:solidFill>
                <a:latin typeface="Calibri"/>
              </a:rPr>
              <a:t>: so với 0, đừng so với -1 hay 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Mẹo: </a:t>
            </a:r>
            <a:r>
              <a:rPr sz="1900" b="0">
                <a:solidFill>
                  <a:srgbClr val="3598DB"/>
                </a:solidFill>
                <a:latin typeface="Consolas"/>
              </a:rPr>
              <a:t>a op b</a:t>
            </a:r>
            <a:r>
              <a:rPr sz="2000" b="0">
                <a:solidFill>
                  <a:srgbClr val="222B38"/>
                </a:solidFill>
                <a:latin typeface="Calibri"/>
              </a:rPr>
              <a:t> ⇔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strcmp(a, b) op 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strcmp("codelab", "codelab") == 0    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strcmp("codelababc", "codelabza") &lt; 0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strcmp("codelab", "codelab") &lt; 0       // false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strcmp("codelab", "28@tech") &lt; 0       // false: 'c' &gt; '2'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strncmp()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Chuỗi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strncmp(a, b, n)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so sánh </a:t>
            </a:r>
            <a:r>
              <a:rPr sz="2000" b="1">
                <a:solidFill>
                  <a:srgbClr val="222B38"/>
                </a:solidFill>
                <a:latin typeface="Calibri"/>
              </a:rPr>
              <a:t>tối đa n ký tự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Thường dùng kiểm tra xâu có </a:t>
            </a:r>
            <a:r>
              <a:rPr sz="2000" b="1">
                <a:solidFill>
                  <a:srgbClr val="222B38"/>
                </a:solidFill>
                <a:latin typeface="Calibri"/>
              </a:rPr>
              <a:t>bắt đầu bằng</a:t>
            </a:r>
            <a:r>
              <a:rPr sz="2000" b="0">
                <a:solidFill>
                  <a:srgbClr val="222B38"/>
                </a:solidFill>
                <a:latin typeface="Calibri"/>
              </a:rPr>
              <a:t> xâu khác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strncmp("codelab.dev", "codelab.vn", 7) == 0  //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strncmp("codelab.dev", "codelab.vn", 9) == 0  //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Không phân biệt hoa thường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Chuỗi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strcmp</a:t>
            </a:r>
            <a:r>
              <a:rPr sz="1800" b="0">
                <a:solidFill>
                  <a:srgbClr val="222B38"/>
                </a:solidFill>
                <a:latin typeface="Calibri"/>
              </a:rPr>
              <a:t> phân biệt hoa thường vì so theo mã ASCII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Chuẩn C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có</a:t>
            </a:r>
            <a:r>
              <a:rPr sz="1800" b="0">
                <a:solidFill>
                  <a:srgbClr val="222B38"/>
                </a:solidFill>
                <a:latin typeface="Calibri"/>
              </a:rPr>
              <a:t> hàm so sánh bỏ qua hoa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strcasecmp()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có trên Linux/macOS, Windows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_stricmp()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Tự cài đặt: so sánh </a:t>
            </a:r>
            <a:r>
              <a:rPr sz="1709" b="0">
                <a:solidFill>
                  <a:srgbClr val="3598DB"/>
                </a:solidFill>
                <a:latin typeface="Consolas"/>
              </a:rPr>
              <a:t>tolower()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từng ký tự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Chuỗi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So sánh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ký tự khác nhau đầu tiên</a:t>
            </a:r>
            <a:r>
              <a:rPr sz="1800" b="0">
                <a:solidFill>
                  <a:srgbClr val="222B38"/>
                </a:solidFill>
                <a:latin typeface="Calibri"/>
              </a:rPr>
              <a:t>, dựa trên mã ASCII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Xâu là tiền tố của xâu kia → xâu </a:t>
            </a:r>
            <a:r>
              <a:rPr sz="1800" b="1">
                <a:solidFill>
                  <a:srgbClr val="222B38"/>
                </a:solidFill>
                <a:latin typeface="Calibri"/>
              </a:rPr>
              <a:t>ngắn hơn</a:t>
            </a:r>
            <a:r>
              <a:rPr sz="1800" b="0">
                <a:solidFill>
                  <a:srgbClr val="222B38"/>
                </a:solidFill>
                <a:latin typeface="Calibri"/>
              </a:rPr>
              <a:t> nhỏ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Lỗi thường gặp: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==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&lt;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xâu → so sánh địa chỉ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strcmp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strncmp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so sánh kết quả với </a:t>
            </a:r>
            <a:r>
              <a:rPr sz="1800" b="1">
                <a:solidFill>
                  <a:srgbClr val="222B38"/>
                </a:solidFill>
                <a:latin typeface="Calibri"/>
              </a:rPr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