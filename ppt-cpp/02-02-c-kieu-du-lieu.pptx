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Kiểu Dữ Liệu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Kiểu dữ liệu số nguyên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để lưu số nguyên, kích thước byte khác nhau tuỳ kiểu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Kiểu </a:t>
            </a:r>
            <a:r>
              <a:rPr sz="2000" b="1">
                <a:solidFill>
                  <a:srgbClr val="222B38"/>
                </a:solidFill>
                <a:latin typeface="Calibri"/>
              </a:rPr>
              <a:t>có dấu</a:t>
            </a:r>
            <a:r>
              <a:rPr sz="2000" b="0">
                <a:solidFill>
                  <a:srgbClr val="222B38"/>
                </a:solidFill>
                <a:latin typeface="Calibri"/>
              </a:rPr>
              <a:t> dùng 1 bit lưu dấu nên phạm vi dương nhỏ hơn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Thường chỉ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long long</a:t>
            </a:r>
            <a:r>
              <a:rPr sz="2000" b="0">
                <a:solidFill>
                  <a:srgbClr val="222B38"/>
                </a:solidFill>
                <a:latin typeface="Calibri"/>
              </a:rPr>
              <a:t>, ít khi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short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short              2 byte   -32,768 .. 32,767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unsigned short     2 byte   0 .. 65,535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               4 byte   -2,147,483,648 .. 2,147,483,647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unsigned int       4 byte   0 .. 4,294,967,295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         8 byte   -9223372036854775808 .. 9223372036854775807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unsigned long long 8 byte   0 .. 18446744073709551615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Lưu ý khi dùng số nguyên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Không lưu được </a:t>
            </a:r>
            <a:r>
              <a:rPr sz="1700" b="1">
                <a:solidFill>
                  <a:srgbClr val="222B38"/>
                </a:solidFill>
                <a:latin typeface="Calibri"/>
              </a:rPr>
              <a:t>phần thập phân</a:t>
            </a:r>
            <a:r>
              <a:rPr sz="1700" b="0">
                <a:solidFill>
                  <a:srgbClr val="222B38"/>
                </a:solidFill>
                <a:latin typeface="Calibri"/>
              </a:rPr>
              <a:t>, bị </a:t>
            </a:r>
            <a:r>
              <a:rPr sz="1700" b="1">
                <a:solidFill>
                  <a:srgbClr val="222B38"/>
                </a:solidFill>
                <a:latin typeface="Calibri"/>
              </a:rPr>
              <a:t>tràn số</a:t>
            </a:r>
            <a:r>
              <a:rPr sz="1700" b="0">
                <a:solidFill>
                  <a:srgbClr val="222B38"/>
                </a:solidFill>
                <a:latin typeface="Calibri"/>
              </a:rPr>
              <a:t> nếu vượt phạm vi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Có dấu K bit: từ -2^(K-1) đến 2^(K-1) - 1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Không dấu K bit: từ 0 đến 2^K - 1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Trong khoảng ±2.10^9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int</a:t>
            </a:r>
            <a:r>
              <a:rPr sz="1700" b="0">
                <a:solidFill>
                  <a:srgbClr val="222B38"/>
                </a:solidFill>
                <a:latin typeface="Calibri"/>
              </a:rPr>
              <a:t>, ngoài khoảng đó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long long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Giới hạn có sẵn trong </a:t>
            </a:r>
            <a:r>
              <a:rPr sz="1614" b="0">
                <a:solidFill>
                  <a:srgbClr val="3598DB"/>
                </a:solidFill>
                <a:latin typeface="Consolas"/>
              </a:rPr>
              <a:t>&lt;limits.h&gt;</a:t>
            </a:r>
            <a:r>
              <a:rPr sz="1700" b="0">
                <a:solidFill>
                  <a:srgbClr val="222B38"/>
                </a:solidFill>
                <a:latin typeface="Calibri"/>
              </a:rPr>
              <a:t>: </a:t>
            </a:r>
            <a:r>
              <a:rPr sz="1614" b="0">
                <a:solidFill>
                  <a:srgbClr val="3598DB"/>
                </a:solidFill>
                <a:latin typeface="Consolas"/>
              </a:rPr>
              <a:t>INT_MAX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LLONG_MAX</a:t>
            </a:r>
            <a:r>
              <a:rPr sz="1700" b="0">
                <a:solidFill>
                  <a:srgbClr val="222B38"/>
                </a:solidFill>
                <a:latin typeface="Calibri"/>
              </a:rPr>
              <a:t>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Kiểu dữ liệu số thực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0406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3 kiểu: </a:t>
            </a:r>
            <a:r>
              <a:rPr sz="1709" b="0">
                <a:solidFill>
                  <a:srgbClr val="3598DB"/>
                </a:solidFill>
                <a:latin typeface="Consolas"/>
              </a:rPr>
              <a:t>float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double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long double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Chọn kiểu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độ chính xác</a:t>
            </a:r>
            <a:r>
              <a:rPr sz="1800" b="0">
                <a:solidFill>
                  <a:srgbClr val="222B38"/>
                </a:solidFill>
                <a:latin typeface="Calibri"/>
              </a:rPr>
              <a:t> cần thiết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long double</a:t>
            </a:r>
            <a:r>
              <a:rPr sz="1800" b="0">
                <a:solidFill>
                  <a:srgbClr val="222B38"/>
                </a:solidFill>
                <a:latin typeface="Calibri"/>
              </a:rPr>
              <a:t> phụ thuộc trình biên dịch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Có sai số, không nên lưu số nguyên; thường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double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152900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9204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float        4 byte    6 - 9 chữ số thập phân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      8 byte    15 - 18 chữ số thập phân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double  16 byte   33 - 36 chữ số thập phân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Kiểu ký tự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</a:t>
            </a:r>
            <a:r>
              <a:rPr sz="2000" b="0">
                <a:solidFill>
                  <a:srgbClr val="222B38"/>
                </a:solidFill>
                <a:latin typeface="Calibri"/>
              </a:rPr>
              <a:t> lưu 1 ký tự, thực chất lưu số nguyên (mã ASCII)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unsigned char</a:t>
            </a:r>
            <a:r>
              <a:rPr sz="2000" b="0">
                <a:solidFill>
                  <a:srgbClr val="222B38"/>
                </a:solidFill>
                <a:latin typeface="Calibri"/>
              </a:rPr>
              <a:t> lưu ký tự với phạm vi 0 → 255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có kiểu chuỗi</a:t>
            </a:r>
            <a:r>
              <a:rPr sz="2000" b="0">
                <a:solidFill>
                  <a:srgbClr val="222B38"/>
                </a:solidFill>
                <a:latin typeface="Calibri"/>
              </a:rPr>
              <a:t>: chuỗi là mảng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</a:t>
            </a:r>
            <a:r>
              <a:rPr sz="2000" b="0">
                <a:solidFill>
                  <a:srgbClr val="222B38"/>
                </a:solidFill>
                <a:latin typeface="Calibri"/>
              </a:rPr>
              <a:t> kết thúc </a:t>
            </a:r>
            <a:r>
              <a:rPr sz="1900" b="0">
                <a:solidFill>
                  <a:srgbClr val="3598DB"/>
                </a:solidFill>
                <a:latin typeface="Consolas"/>
              </a:rPr>
              <a:t>'\0'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8068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2699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          1 byte   Ký tự hoặc số nguyên   -128 .. 127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unsigned char  1 byte   Ký tự hoặc số nguyên   0 .. 255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Kiểu đúng 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Kiểu gốc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_Bool</a:t>
            </a:r>
            <a:r>
              <a:rPr sz="2000" b="0">
                <a:solidFill>
                  <a:srgbClr val="222B38"/>
                </a:solidFill>
                <a:latin typeface="Calibri"/>
              </a:rPr>
              <a:t> (từ C99), kích thước 1 byte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#include &lt;stdbool.h&gt;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bool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true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false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true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1, </a:t>
            </a:r>
            <a:r>
              <a:rPr sz="1900" b="0">
                <a:solidFill>
                  <a:srgbClr val="3598DB"/>
                </a:solidFill>
                <a:latin typeface="Consolas"/>
              </a:rPr>
              <a:t>false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0, in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%d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&lt;stdbool.h&gt;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check =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done =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%d\n", check, done);   // 1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Chọn kiểu nguyên theo phạm vi giá trị: </a:t>
            </a:r>
            <a:r>
              <a:rPr sz="1614" b="0">
                <a:solidFill>
                  <a:srgbClr val="3598DB"/>
                </a:solidFill>
                <a:latin typeface="Consolas"/>
              </a:rPr>
              <a:t>int</a:t>
            </a:r>
            <a:r>
              <a:rPr sz="1700" b="0">
                <a:solidFill>
                  <a:srgbClr val="222B38"/>
                </a:solidFill>
                <a:latin typeface="Calibri"/>
              </a:rPr>
              <a:t> hay </a:t>
            </a:r>
            <a:r>
              <a:rPr sz="1614" b="0">
                <a:solidFill>
                  <a:srgbClr val="3598DB"/>
                </a:solidFill>
                <a:latin typeface="Consolas"/>
              </a:rPr>
              <a:t>long long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Số thực có sai số, chọn </a:t>
            </a:r>
            <a:r>
              <a:rPr sz="1614" b="0">
                <a:solidFill>
                  <a:srgbClr val="3598DB"/>
                </a:solidFill>
                <a:latin typeface="Consolas"/>
              </a:rPr>
              <a:t>double</a:t>
            </a:r>
            <a:r>
              <a:rPr sz="1700" b="0">
                <a:solidFill>
                  <a:srgbClr val="222B38"/>
                </a:solidFill>
                <a:latin typeface="Calibri"/>
              </a:rPr>
              <a:t> khi cần độ chính xác cao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char</a:t>
            </a:r>
            <a:r>
              <a:rPr sz="1700" b="0">
                <a:solidFill>
                  <a:srgbClr val="222B38"/>
                </a:solidFill>
                <a:latin typeface="Calibri"/>
              </a:rPr>
              <a:t> vừa lưu ký tự vừa lưu được số nguyên nhỏ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bool</a:t>
            </a:r>
            <a:r>
              <a:rPr sz="1700" b="0">
                <a:solidFill>
                  <a:srgbClr val="222B38"/>
                </a:solidFill>
                <a:latin typeface="Calibri"/>
              </a:rPr>
              <a:t> cần </a:t>
            </a:r>
            <a:r>
              <a:rPr sz="1614" b="0">
                <a:solidFill>
                  <a:srgbClr val="3598DB"/>
                </a:solidFill>
                <a:latin typeface="Consolas"/>
              </a:rPr>
              <a:t>&lt;stdbool.h&gt;</a:t>
            </a:r>
            <a:r>
              <a:rPr sz="1700" b="0">
                <a:solidFill>
                  <a:srgbClr val="222B38"/>
                </a:solidFill>
                <a:latin typeface="Calibri"/>
              </a:rPr>
              <a:t>, in ra là 1/0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 không có kiểu </a:t>
            </a:r>
            <a:r>
              <a:rPr sz="1614" b="0">
                <a:solidFill>
                  <a:srgbClr val="3598DB"/>
                </a:solidFill>
                <a:latin typeface="Consolas"/>
              </a:rPr>
              <a:t>string</a:t>
            </a:r>
            <a:r>
              <a:rPr sz="1700" b="0">
                <a:solidFill>
                  <a:srgbClr val="222B38"/>
                </a:solidFill>
                <a:latin typeface="Calibri"/>
              </a:rPr>
              <a:t>, chuỗi là mảng </a:t>
            </a:r>
            <a:r>
              <a:rPr sz="1614" b="0">
                <a:solidFill>
                  <a:srgbClr val="3598DB"/>
                </a:solidFill>
                <a:latin typeface="Consolas"/>
              </a:rPr>
              <a:t>char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