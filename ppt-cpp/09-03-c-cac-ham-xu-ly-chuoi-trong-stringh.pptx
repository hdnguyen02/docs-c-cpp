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Các Hàm Xử Lý Chuỗi Trong string.h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Xâu trong C và thư viện string.h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Xử Lý Chuỗi Trong string.h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Xâu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mảng char</a:t>
            </a:r>
            <a:r>
              <a:rPr sz="2000" b="0">
                <a:solidFill>
                  <a:srgbClr val="222B38"/>
                </a:solidFill>
                <a:latin typeface="Calibri"/>
              </a:rPr>
              <a:t> kết thúc bằng ký tự </a:t>
            </a:r>
            <a:r>
              <a:rPr sz="1900" b="0">
                <a:solidFill>
                  <a:srgbClr val="3598DB"/>
                </a:solidFill>
                <a:latin typeface="Consolas"/>
              </a:rPr>
              <a:t>'\0'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 hàm </a:t>
            </a:r>
            <a:r>
              <a:rPr sz="1900" b="0">
                <a:solidFill>
                  <a:srgbClr val="3598DB"/>
                </a:solidFill>
                <a:latin typeface="Consolas"/>
              </a:rPr>
              <a:t>&lt;string.h&gt;</a:t>
            </a:r>
            <a:r>
              <a:rPr sz="2000" b="0">
                <a:solidFill>
                  <a:srgbClr val="222B38"/>
                </a:solidFill>
                <a:latin typeface="Calibri"/>
              </a:rPr>
              <a:t> dựa vào </a:t>
            </a:r>
            <a:r>
              <a:rPr sz="1900" b="0">
                <a:solidFill>
                  <a:srgbClr val="3598DB"/>
                </a:solidFill>
                <a:latin typeface="Consolas"/>
              </a:rPr>
              <a:t>'\0'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biết xâu kết thúc ở đâu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tự cấp phát</a:t>
            </a:r>
            <a:r>
              <a:rPr sz="2000" b="0">
                <a:solidFill>
                  <a:srgbClr val="222B38"/>
                </a:solidFill>
                <a:latin typeface="Calibri"/>
              </a:rPr>
              <a:t>: mảng đích phải đủ lớn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strlen(): độ dài xâu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Xử Lý Chuỗi Trong string.h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Trả về số ký tự,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tính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1900" b="0">
                <a:solidFill>
                  <a:srgbClr val="3598DB"/>
                </a:solidFill>
                <a:latin typeface="Consolas"/>
              </a:rPr>
              <a:t>'\0'</a:t>
            </a:r>
            <a:r>
              <a:rPr sz="2000" b="0">
                <a:solidFill>
                  <a:srgbClr val="222B38"/>
                </a:solidFill>
                <a:latin typeface="Calibri"/>
              </a:rPr>
              <a:t>; kiểu </a:t>
            </a:r>
            <a:r>
              <a:rPr sz="1900" b="0">
                <a:solidFill>
                  <a:srgbClr val="3598DB"/>
                </a:solidFill>
                <a:latin typeface="Consolas"/>
              </a:rPr>
              <a:t>size_t</a:t>
            </a:r>
            <a:r>
              <a:rPr sz="2000" b="0">
                <a:solidFill>
                  <a:srgbClr val="222B38"/>
                </a:solidFill>
                <a:latin typeface="Calibri"/>
              </a:rPr>
              <a:t>, in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%zu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Đếm từng ký tự → O(N): lưu vào biến, đừng gọi trong điều kiện </a:t>
            </a:r>
            <a:r>
              <a:rPr sz="1900" b="0">
                <a:solidFill>
                  <a:srgbClr val="3598DB"/>
                </a:solidFill>
                <a:latin typeface="Consolas"/>
              </a:rPr>
              <a:t>for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Xâu rỗng: </a:t>
            </a:r>
            <a:r>
              <a:rPr sz="1900" b="0">
                <a:solidFill>
                  <a:srgbClr val="3598DB"/>
                </a:solidFill>
                <a:latin typeface="Consolas"/>
              </a:rPr>
              <a:t>s[0] == '\0'</a:t>
            </a:r>
            <a:r>
              <a:rPr sz="2000" b="0">
                <a:solidFill>
                  <a:srgbClr val="222B38"/>
                </a:solidFill>
                <a:latin typeface="Calibri"/>
              </a:rPr>
              <a:t>; </a:t>
            </a:r>
            <a:r>
              <a:rPr sz="1900" b="0">
                <a:solidFill>
                  <a:srgbClr val="3598DB"/>
                </a:solidFill>
                <a:latin typeface="Consolas"/>
              </a:rPr>
              <a:t>sizeof</a:t>
            </a:r>
            <a:r>
              <a:rPr sz="2000" b="0">
                <a:solidFill>
                  <a:srgbClr val="222B38"/>
                </a:solidFill>
                <a:latin typeface="Calibri"/>
              </a:rPr>
              <a:t> là kích thước </a:t>
            </a:r>
            <a:r>
              <a:rPr sz="2000" b="1">
                <a:solidFill>
                  <a:srgbClr val="222B38"/>
                </a:solidFill>
                <a:latin typeface="Calibri"/>
              </a:rPr>
              <a:t>cả mảng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s[100] = "codelab";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printf("%zu\n", strlen(s));   // 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printf("%zu\n", sizeof(s));   // 100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s[0] = '\0';                   // xau rong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strcpy() / strncpy(): gán và tách xâu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Xử Lý Chuỗi Trong string.h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gán xâu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=</a:t>
            </a:r>
            <a:r>
              <a:rPr sz="2000" b="0">
                <a:solidFill>
                  <a:srgbClr val="222B38"/>
                </a:solidFill>
                <a:latin typeface="Calibri"/>
              </a:rPr>
              <a:t>;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strcpy(dest, src)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strncpy(dest, src, n)</a:t>
            </a:r>
            <a:r>
              <a:rPr sz="2000" b="0">
                <a:solidFill>
                  <a:srgbClr val="222B38"/>
                </a:solidFill>
                <a:latin typeface="Calibri"/>
              </a:rPr>
              <a:t> có thể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thêm '\0'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tự thêm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 + k</a:t>
            </a:r>
            <a:r>
              <a:rPr sz="2000" b="0">
                <a:solidFill>
                  <a:srgbClr val="222B38"/>
                </a:solidFill>
                <a:latin typeface="Calibri"/>
              </a:rPr>
              <a:t> trỏ tới chỉ số k → lấy xâu con từ k tới hết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strcpy(s, "codelab.dev");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strcpy(sub1, s + 2);        // "delab.dev"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strncpy(sub2, s, 4);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sub2[4] = '\0';             // "code"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strcat() / strncat(): nối xâu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Xử Lý Chuỗi Trong string.h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3245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strcat(dest, src)</a:t>
            </a:r>
            <a:r>
              <a:rPr sz="2000" b="0">
                <a:solidFill>
                  <a:srgbClr val="222B38"/>
                </a:solidFill>
                <a:latin typeface="Calibri"/>
              </a:rPr>
              <a:t> nối toàn bộ src vào cuối dest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strncat(dest, src, n)</a:t>
            </a:r>
            <a:r>
              <a:rPr sz="2000" b="0">
                <a:solidFill>
                  <a:srgbClr val="222B38"/>
                </a:solidFill>
                <a:latin typeface="Calibri"/>
              </a:rPr>
              <a:t> nối tối đa n ký tự, luôn thêm </a:t>
            </a:r>
            <a:r>
              <a:rPr sz="1900" b="0">
                <a:solidFill>
                  <a:srgbClr val="3598DB"/>
                </a:solidFill>
                <a:latin typeface="Consolas"/>
              </a:rPr>
              <a:t>'\0'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Thêm/xoá 1 ký tự cuối: thao tác trực tiếp với </a:t>
            </a:r>
            <a:r>
              <a:rPr sz="1900" b="0">
                <a:solidFill>
                  <a:srgbClr val="3598DB"/>
                </a:solidFill>
                <a:latin typeface="Consolas"/>
              </a:rPr>
              <a:t>'\0'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0029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660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s[100] = "codelab";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t[] = "0123456789";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strcat(s, "blog");             // codelabblog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strncat(s, t + 1, 5);          // codelabblog12345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size_t n = strlen(s);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s[n] = '@'; s[n + 1] = '\0';   // them ky tu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s[strlen(s) - 1] = '\0';       // xoa ky tu cuoi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strcmp() / strncmp(): so sánh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Xử Lý Chuỗi Trong string.h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37410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==</a:t>
            </a:r>
            <a:r>
              <a:rPr sz="2000" b="0">
                <a:solidFill>
                  <a:srgbClr val="222B38"/>
                </a:solidFill>
                <a:latin typeface="Calibri"/>
              </a:rPr>
              <a:t> giữa 2 mảng chỉ so sánh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địa chỉ</a:t>
            </a:r>
            <a:r>
              <a:rPr sz="2000" b="0">
                <a:solidFill>
                  <a:srgbClr val="222B38"/>
                </a:solidFill>
                <a:latin typeface="Calibri"/>
              </a:rPr>
              <a:t>, không so nội dung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strcmp(a, b)</a:t>
            </a:r>
            <a:r>
              <a:rPr sz="2000" b="0">
                <a:solidFill>
                  <a:srgbClr val="222B38"/>
                </a:solidFill>
                <a:latin typeface="Calibri"/>
              </a:rPr>
              <a:t>: 0 nếu bằng, âm nếu a đứng trước, dương nếu sau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strncmp(a, b, n)</a:t>
            </a:r>
            <a:r>
              <a:rPr sz="2000" b="0">
                <a:solidFill>
                  <a:srgbClr val="222B38"/>
                </a:solidFill>
                <a:latin typeface="Calibri"/>
              </a:rPr>
              <a:t> chỉ so n ký tự đầu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05249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51553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 (strcmp(a, b) == 0) printf("Bang nhau\n");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 (strncmp("codelab.dev", "code", 4) == 0)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printf("Bat dau bang code\n");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strchr() / strrchr() / strstr(): tìm kiếm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Xử Lý Chuỗi Trong string.h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3443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strchr</a:t>
            </a:r>
            <a:r>
              <a:rPr sz="2000" b="0">
                <a:solidFill>
                  <a:srgbClr val="222B38"/>
                </a:solidFill>
                <a:latin typeface="Calibri"/>
              </a:rPr>
              <a:t> tìm ký tự </a:t>
            </a:r>
            <a:r>
              <a:rPr sz="2000" b="1">
                <a:solidFill>
                  <a:srgbClr val="222B38"/>
                </a:solidFill>
                <a:latin typeface="Calibri"/>
              </a:rPr>
              <a:t>đầu tiên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strrchr</a:t>
            </a:r>
            <a:r>
              <a:rPr sz="2000" b="0">
                <a:solidFill>
                  <a:srgbClr val="222B38"/>
                </a:solidFill>
                <a:latin typeface="Calibri"/>
              </a:rPr>
              <a:t> tìm ký tự </a:t>
            </a:r>
            <a:r>
              <a:rPr sz="2000" b="1">
                <a:solidFill>
                  <a:srgbClr val="222B38"/>
                </a:solidFill>
                <a:latin typeface="Calibri"/>
              </a:rPr>
              <a:t>cuối cùng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strstr(s, t)</a:t>
            </a:r>
            <a:r>
              <a:rPr sz="2000" b="0">
                <a:solidFill>
                  <a:srgbClr val="222B38"/>
                </a:solidFill>
                <a:latin typeface="Calibri"/>
              </a:rPr>
              <a:t> tìm </a:t>
            </a:r>
            <a:r>
              <a:rPr sz="2000" b="1">
                <a:solidFill>
                  <a:srgbClr val="222B38"/>
                </a:solidFill>
                <a:latin typeface="Calibri"/>
              </a:rPr>
              <a:t>xâu con</a:t>
            </a:r>
            <a:r>
              <a:rPr sz="2000" b="0">
                <a:solidFill>
                  <a:srgbClr val="222B38"/>
                </a:solidFill>
                <a:latin typeface="Calibri"/>
              </a:rPr>
              <a:t> t trong s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Trả về </a:t>
            </a:r>
            <a:r>
              <a:rPr sz="2000" b="1">
                <a:solidFill>
                  <a:srgbClr val="222B38"/>
                </a:solidFill>
                <a:latin typeface="Calibri"/>
              </a:rPr>
              <a:t>con trỏ</a:t>
            </a:r>
            <a:r>
              <a:rPr sz="2000" b="0">
                <a:solidFill>
                  <a:srgbClr val="222B38"/>
                </a:solidFill>
                <a:latin typeface="Calibri"/>
              </a:rPr>
              <a:t> hoặc </a:t>
            </a:r>
            <a:r>
              <a:rPr sz="1900" b="0">
                <a:solidFill>
                  <a:srgbClr val="3598DB"/>
                </a:solidFill>
                <a:latin typeface="Consolas"/>
              </a:rPr>
              <a:t>NULL</a:t>
            </a:r>
            <a:r>
              <a:rPr sz="2000" b="0">
                <a:solidFill>
                  <a:srgbClr val="222B38"/>
                </a:solidFill>
                <a:latin typeface="Calibri"/>
              </a:rPr>
              <a:t>; chỉ số = </a:t>
            </a:r>
            <a:r>
              <a:rPr sz="1900" b="0">
                <a:solidFill>
                  <a:srgbClr val="3598DB"/>
                </a:solidFill>
                <a:latin typeface="Consolas"/>
              </a:rPr>
              <a:t>p - 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0227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858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s[] = "codelab.dev codelab";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*p = strchr(s, 'e');       // chi so 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*q = strrchr(s, 'e');      // chi so 9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*r = strstr(s, "codelab"); // chi so 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 (r != NULL) r = strstr(r + 1, "codelab");   // 12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 (strchr(s, 'z') == NULL) printf("Khong co\n");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memset() / memcpy() / memmove()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Xử Lý Chuỗi Trong string.h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31467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Làm việc theo </a:t>
            </a:r>
            <a:r>
              <a:rPr sz="2000" b="1">
                <a:solidFill>
                  <a:srgbClr val="222B38"/>
                </a:solidFill>
                <a:latin typeface="Calibri"/>
              </a:rPr>
              <a:t>từng byte</a:t>
            </a:r>
            <a:r>
              <a:rPr sz="2000" b="0">
                <a:solidFill>
                  <a:srgbClr val="222B38"/>
                </a:solidFill>
                <a:latin typeface="Calibri"/>
              </a:rPr>
              <a:t>, không quan tâm </a:t>
            </a:r>
            <a:r>
              <a:rPr sz="1900" b="0">
                <a:solidFill>
                  <a:srgbClr val="3598DB"/>
                </a:solidFill>
                <a:latin typeface="Consolas"/>
              </a:rPr>
              <a:t>'\0'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memcpy</a:t>
            </a:r>
            <a:r>
              <a:rPr sz="2000" b="0">
                <a:solidFill>
                  <a:srgbClr val="222B38"/>
                </a:solidFill>
                <a:latin typeface="Calibri"/>
              </a:rPr>
              <a:t> cấm vùng nhớ chồng nhau; </a:t>
            </a:r>
            <a:r>
              <a:rPr sz="1900" b="0">
                <a:solidFill>
                  <a:srgbClr val="3598DB"/>
                </a:solidFill>
                <a:latin typeface="Consolas"/>
              </a:rPr>
              <a:t>memmove</a:t>
            </a:r>
            <a:r>
              <a:rPr sz="2000" b="0">
                <a:solidFill>
                  <a:srgbClr val="222B38"/>
                </a:solidFill>
                <a:latin typeface="Calibri"/>
              </a:rPr>
              <a:t> thì </a:t>
            </a:r>
            <a:r>
              <a:rPr sz="2000" b="1">
                <a:solidFill>
                  <a:srgbClr val="222B38"/>
                </a:solidFill>
                <a:latin typeface="Calibri"/>
              </a:rPr>
              <a:t>an toàn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memmove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</a:t>
            </a:r>
            <a:r>
              <a:rPr sz="2000" b="1">
                <a:solidFill>
                  <a:srgbClr val="222B38"/>
                </a:solidFill>
                <a:latin typeface="Calibri"/>
              </a:rPr>
              <a:t>chèn</a:t>
            </a:r>
            <a:r>
              <a:rPr sz="2000" b="0">
                <a:solidFill>
                  <a:srgbClr val="222B38"/>
                </a:solidFill>
                <a:latin typeface="Calibri"/>
              </a:rPr>
              <a:t> hoặc </a:t>
            </a:r>
            <a:r>
              <a:rPr sz="2000" b="1">
                <a:solidFill>
                  <a:srgbClr val="222B38"/>
                </a:solidFill>
                <a:latin typeface="Calibri"/>
              </a:rPr>
              <a:t>xoá</a:t>
            </a:r>
            <a:r>
              <a:rPr sz="2000" b="0">
                <a:solidFill>
                  <a:srgbClr val="222B38"/>
                </a:solidFill>
                <a:latin typeface="Calibri"/>
              </a:rPr>
              <a:t> đoạn giữa xâu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99307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45611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memset(a, '*', 5); a[5] = '\0';          // *****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s[100] = "codelab";                 // chen "####" tai 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memmove(s + 6, s + 2, strlen(s) - 2 + 1);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memcpy(s + 2, "####", 4);                // co####delab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t[100] = "codelab.dev";             // xoa 4 ky tu tu 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memmove(t + 2, t + 6, strlen(t) - 6 + 1); // cob.dev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t[3] = '\0';                             // cob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Xử Lý Chuỗi Trong string.h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Luôn đảm bảo mảng đích đủ chỗ, kể cả ký tự </a:t>
            </a:r>
            <a:r>
              <a:rPr sz="1614" b="0">
                <a:solidFill>
                  <a:srgbClr val="3598DB"/>
                </a:solidFill>
                <a:latin typeface="Consolas"/>
              </a:rPr>
              <a:t>'\0'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Gán dùng </a:t>
            </a:r>
            <a:r>
              <a:rPr sz="1614" b="0">
                <a:solidFill>
                  <a:srgbClr val="3598DB"/>
                </a:solidFill>
                <a:latin typeface="Consolas"/>
              </a:rPr>
              <a:t>strcpy</a:t>
            </a:r>
            <a:r>
              <a:rPr sz="1700" b="0">
                <a:solidFill>
                  <a:srgbClr val="222B38"/>
                </a:solidFill>
                <a:latin typeface="Calibri"/>
              </a:rPr>
              <a:t>, so sánh dùng </a:t>
            </a:r>
            <a:r>
              <a:rPr sz="1614" b="0">
                <a:solidFill>
                  <a:srgbClr val="3598DB"/>
                </a:solidFill>
                <a:latin typeface="Consolas"/>
              </a:rPr>
              <a:t>strcmp</a:t>
            </a:r>
            <a:r>
              <a:rPr sz="1700" b="0">
                <a:solidFill>
                  <a:srgbClr val="222B38"/>
                </a:solidFill>
                <a:latin typeface="Calibri"/>
              </a:rPr>
              <a:t> — không dùng </a:t>
            </a:r>
            <a:r>
              <a:rPr sz="1614" b="0">
                <a:solidFill>
                  <a:srgbClr val="3598DB"/>
                </a:solidFill>
                <a:latin typeface="Consolas"/>
              </a:rPr>
              <a:t>=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614" b="0">
                <a:solidFill>
                  <a:srgbClr val="3598DB"/>
                </a:solidFill>
                <a:latin typeface="Consolas"/>
              </a:rPr>
              <a:t>==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Hàm tìm kiếm trả </a:t>
            </a:r>
            <a:r>
              <a:rPr sz="1614" b="0">
                <a:solidFill>
                  <a:srgbClr val="3598DB"/>
                </a:solidFill>
                <a:latin typeface="Consolas"/>
              </a:rPr>
              <a:t>NULL</a:t>
            </a:r>
            <a:r>
              <a:rPr sz="1700" b="0">
                <a:solidFill>
                  <a:srgbClr val="222B38"/>
                </a:solidFill>
                <a:latin typeface="Calibri"/>
              </a:rPr>
              <a:t> khi không thấy: phải kiểm tra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strncpy</a:t>
            </a:r>
            <a:r>
              <a:rPr sz="1700" b="0">
                <a:solidFill>
                  <a:srgbClr val="222B38"/>
                </a:solidFill>
                <a:latin typeface="Calibri"/>
              </a:rPr>
              <a:t> có thể thiếu </a:t>
            </a:r>
            <a:r>
              <a:rPr sz="1614" b="0">
                <a:solidFill>
                  <a:srgbClr val="3598DB"/>
                </a:solidFill>
                <a:latin typeface="Consolas"/>
              </a:rPr>
              <a:t>'\0'</a:t>
            </a:r>
            <a:r>
              <a:rPr sz="1700" b="0">
                <a:solidFill>
                  <a:srgbClr val="222B38"/>
                </a:solidFill>
                <a:latin typeface="Calibri"/>
              </a:rPr>
              <a:t>; dịch chuyển chồng nhau dùng </a:t>
            </a:r>
            <a:r>
              <a:rPr sz="1614" b="0">
                <a:solidFill>
                  <a:srgbClr val="3598DB"/>
                </a:solidFill>
                <a:latin typeface="Consolas"/>
              </a:rPr>
              <a:t>memmove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memset</a:t>
            </a:r>
            <a:r>
              <a:rPr sz="1700" b="0">
                <a:solidFill>
                  <a:srgbClr val="222B38"/>
                </a:solidFill>
                <a:latin typeface="Calibri"/>
              </a:rPr>
              <a:t> với mảng số chỉ đúng khi gán 0 (hoặc -1)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