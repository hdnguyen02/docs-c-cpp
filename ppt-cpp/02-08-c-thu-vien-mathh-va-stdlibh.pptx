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Thư Viện math.h Và stdlib.h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hàm toán học phổ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math.h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chứa các hàm nhận tham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double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cần nhớ hết, chỉ cần vài hàm dùng thường xuyên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Biên dịch với gcc trên Linux cần thêm </a:t>
            </a:r>
            <a:r>
              <a:rPr sz="1800" b="1">
                <a:solidFill>
                  <a:srgbClr val="222B38"/>
                </a:solidFill>
                <a:latin typeface="Calibri"/>
              </a:rPr>
              <a:t>-lm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gcc main.c -o main -lm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50108"/>
            <a:ext cx="10765231" cy="320497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6412"/>
            <a:ext cx="10362895" cy="29123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pow(x, y)   // x^y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sqrt(x)     // can bac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cbrt(x)     // can bac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ceil(x)     // lam tron len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floor(x)    // lam tron xuong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round(x)    // lam tron gan nhat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fabs(x)     // tri tuyet doi so thuc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fmod(x, y)  // so du khi chia x cho 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log(x)      // logarit tu nhien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log10(x)    // logarit thap phan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sin/cos/tan(x)  // ham luong giac, x tinh bang radian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pow và sqrt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pow(x, y)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double</a:t>
            </a:r>
            <a:r>
              <a:rPr sz="2000" b="0">
                <a:solidFill>
                  <a:srgbClr val="222B38"/>
                </a:solidFill>
                <a:latin typeface="Calibri"/>
              </a:rPr>
              <a:t>, cần ép kiểu nếu muốn số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sqrt(x)</a:t>
            </a:r>
            <a:r>
              <a:rPr sz="2000" b="0">
                <a:solidFill>
                  <a:srgbClr val="222B38"/>
                </a:solidFill>
                <a:latin typeface="Calibri"/>
              </a:rPr>
              <a:t> tính căn bậc 2, in số thực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%.2f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2, b 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(int)pow(a, b));   // 1024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res = pow(100, 1.0 / 5);    // can bac 5 cua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printf("%.3f\n", res);             // 2.512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(int)sqrt(n));      // 10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printf("%.2f\n", sqrt(1000));      // 31.62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ceil, floor, round, fabs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ceil(x)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làm tròn </a:t>
            </a:r>
            <a:r>
              <a:rPr sz="1800" b="1">
                <a:solidFill>
                  <a:srgbClr val="222B38"/>
                </a:solidFill>
                <a:latin typeface="Calibri"/>
              </a:rPr>
              <a:t>lên</a:t>
            </a:r>
            <a:r>
              <a:rPr sz="1800" b="0">
                <a:solidFill>
                  <a:srgbClr val="222B38"/>
                </a:solidFill>
                <a:latin typeface="Calibri"/>
              </a:rPr>
              <a:t>, số nguyên nhỏ nhất ≥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floor(x)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làm tròn </a:t>
            </a:r>
            <a:r>
              <a:rPr sz="1800" b="1">
                <a:solidFill>
                  <a:srgbClr val="222B38"/>
                </a:solidFill>
                <a:latin typeface="Calibri"/>
              </a:rPr>
              <a:t>xuống</a:t>
            </a:r>
            <a:r>
              <a:rPr sz="1800" b="0">
                <a:solidFill>
                  <a:srgbClr val="222B38"/>
                </a:solidFill>
                <a:latin typeface="Calibri"/>
              </a:rPr>
              <a:t>, số nguyên lớn nhất ≤ x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round(x)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làm tròn theo quy tắc </a:t>
            </a:r>
            <a:r>
              <a:rPr sz="1800" b="1">
                <a:solidFill>
                  <a:srgbClr val="222B38"/>
                </a:solidFill>
                <a:latin typeface="Calibri"/>
              </a:rPr>
              <a:t>≥ 0.5 thì lên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fabs(x)</a:t>
            </a:r>
            <a:r>
              <a:rPr sz="1800" b="0">
                <a:solidFill>
                  <a:srgbClr val="222B38"/>
                </a:solidFill>
                <a:latin typeface="Calibri"/>
              </a:rPr>
              <a:t>: trị tuyệt đối của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thực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a = 3.14, b = 3.8;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(int)ceil(a), (int)ceil(b));   // 4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(int)floor(a), (int)floor(b)); // 3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(int)round(a), (int)round(b)); // 3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printf("%.2f\n", fabs(-2.75));                   // 2.75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stdlib.h: abs, labs, llabs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có overload</a:t>
            </a:r>
            <a:r>
              <a:rPr sz="2000" b="0">
                <a:solidFill>
                  <a:srgbClr val="222B38"/>
                </a:solidFill>
                <a:latin typeface="Calibri"/>
              </a:rPr>
              <a:t>: mỗi kiểu số nguyên một hàm riêng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abs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labs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llabs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abs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số thực: </a:t>
            </a:r>
            <a:r>
              <a:rPr sz="1900" b="0">
                <a:solidFill>
                  <a:srgbClr val="3598DB"/>
                </a:solidFill>
                <a:latin typeface="Consolas"/>
              </a:rPr>
              <a:t>abs(-3.9)</a:t>
            </a:r>
            <a:r>
              <a:rPr sz="2000" b="0">
                <a:solidFill>
                  <a:srgbClr val="222B38"/>
                </a:solidFill>
                <a:latin typeface="Calibri"/>
              </a:rPr>
              <a:t> ra </a:t>
            </a:r>
            <a:r>
              <a:rPr sz="2000" b="1">
                <a:solidFill>
                  <a:srgbClr val="222B38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&lt;stdlib.h&gt;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abs(10), abs(-100));  // 10 100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x = -9876543210LL;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printf("%lld\n", llabs(x));             // 9876543210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stdlib.h: rand và srand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rand()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số ngẫu nhiên từ 0 tới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RAND_MAX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srand(time(NULL))</a:t>
            </a:r>
            <a:r>
              <a:rPr sz="2000" b="0">
                <a:solidFill>
                  <a:srgbClr val="222B38"/>
                </a:solidFill>
                <a:latin typeface="Calibri"/>
              </a:rPr>
              <a:t> một lần để mỗi lần chạy ra dãy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ngẫu nhiên trong đoạn [a, b]: </a:t>
            </a:r>
            <a:r>
              <a:rPr sz="1900" b="0">
                <a:solidFill>
                  <a:srgbClr val="3598DB"/>
                </a:solidFill>
                <a:latin typeface="Consolas"/>
              </a:rPr>
              <a:t>a + rand() % (b - a + 1)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&lt;stdlib.h&gt;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&lt;time.h&gt;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srand(time(NULL));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5;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 = 1 + rand() % 100;   // doan [1, 100]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 ", 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Tự viết swap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09064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không có sẵn </a:t>
            </a:r>
            <a:r>
              <a:rPr sz="1900" b="0">
                <a:solidFill>
                  <a:srgbClr val="3598DB"/>
                </a:solidFill>
                <a:latin typeface="Consolas"/>
              </a:rPr>
              <a:t>swap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</a:t>
            </a:r>
            <a:r>
              <a:rPr sz="2000" b="1">
                <a:solidFill>
                  <a:srgbClr val="222B38"/>
                </a:solidFill>
                <a:latin typeface="Calibri"/>
              </a:rPr>
              <a:t>biến tạm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hoán đổi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Viết thành hàm thì phải truyền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 (con trỏ)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63824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10128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100, b = 200;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temp = 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 =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 = temp;          // a = 200, b =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swap(int *a, int *b)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temp = *a;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*a = *b;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*b = temp;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Goi ham: swap(&amp;a, &amp;b);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Tự viết min,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Viết hàm dùng toán tử 3 ngôi, nhiều số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gọi lồng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Macro </a:t>
            </a:r>
            <a:r>
              <a:rPr sz="1900" b="0">
                <a:solidFill>
                  <a:srgbClr val="3598DB"/>
                </a:solidFill>
                <a:latin typeface="Consolas"/>
              </a:rPr>
              <a:t>#define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được cho nhiều kiểu: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double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min(int a, int b) { return a &lt; b ? a : b;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max(int a, int b) { return a &gt; b ? a : b;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min(100, 200);                     //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min(min(10, 20), min(15, 4));      //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MAX(a, b) ((a) &gt; (b) ? (a) : (b))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MAX(2.5, 1.5);                     // 2.5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MAX('d', MAX('b', 'z'));           // 'z'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stdlib.h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math.h</a:t>
            </a:r>
            <a:r>
              <a:rPr sz="1700" b="0">
                <a:solidFill>
                  <a:srgbClr val="222B38"/>
                </a:solidFill>
                <a:latin typeface="Calibri"/>
              </a:rPr>
              <a:t> cung cấp </a:t>
            </a:r>
            <a:r>
              <a:rPr sz="1614" b="0">
                <a:solidFill>
                  <a:srgbClr val="3598DB"/>
                </a:solidFill>
                <a:latin typeface="Consolas"/>
              </a:rPr>
              <a:t>pow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sqrt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ceil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floor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round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fabs</a:t>
            </a:r>
            <a:r>
              <a:rPr sz="17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Các hàm này nhận/trả </a:t>
            </a:r>
            <a:r>
              <a:rPr sz="1700" b="1">
                <a:solidFill>
                  <a:srgbClr val="222B38"/>
                </a:solidFill>
                <a:latin typeface="Calibri"/>
              </a:rPr>
              <a:t>double</a:t>
            </a:r>
            <a:r>
              <a:rPr sz="1700" b="0">
                <a:solidFill>
                  <a:srgbClr val="222B38"/>
                </a:solidFill>
                <a:latin typeface="Calibri"/>
              </a:rPr>
              <a:t>, cần ép kiểu khi muốn số nguyên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Nhớ thêm </a:t>
            </a:r>
            <a:r>
              <a:rPr sz="1700" b="1">
                <a:solidFill>
                  <a:srgbClr val="222B38"/>
                </a:solidFill>
                <a:latin typeface="Calibri"/>
              </a:rPr>
              <a:t>-lm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biên dịch chương trình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math.h</a:t>
            </a:r>
            <a:r>
              <a:rPr sz="1700" b="0">
                <a:solidFill>
                  <a:srgbClr val="222B38"/>
                </a:solidFill>
                <a:latin typeface="Calibri"/>
              </a:rPr>
              <a:t> bằng gcc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stdlib.h</a:t>
            </a:r>
            <a:r>
              <a:rPr sz="1700" b="0">
                <a:solidFill>
                  <a:srgbClr val="222B38"/>
                </a:solidFill>
                <a:latin typeface="Calibri"/>
              </a:rPr>
              <a:t>: </a:t>
            </a:r>
            <a:r>
              <a:rPr sz="1614" b="0">
                <a:solidFill>
                  <a:srgbClr val="3598DB"/>
                </a:solidFill>
                <a:latin typeface="Consolas"/>
              </a:rPr>
              <a:t>abs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labs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llabs</a:t>
            </a:r>
            <a:r>
              <a:rPr sz="1700" b="0">
                <a:solidFill>
                  <a:srgbClr val="222B38"/>
                </a:solidFill>
                <a:latin typeface="Calibri"/>
              </a:rPr>
              <a:t> cho số nguyên, </a:t>
            </a:r>
            <a:r>
              <a:rPr sz="1614" b="0">
                <a:solidFill>
                  <a:srgbClr val="3598DB"/>
                </a:solidFill>
                <a:latin typeface="Consolas"/>
              </a:rPr>
              <a:t>rand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srand</a:t>
            </a:r>
            <a:r>
              <a:rPr sz="1700" b="0">
                <a:solidFill>
                  <a:srgbClr val="222B38"/>
                </a:solidFill>
                <a:latin typeface="Calibri"/>
              </a:rPr>
              <a:t> sinh số ngẫu nhiên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min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max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swap</a:t>
            </a:r>
            <a:r>
              <a:rPr sz="1700" b="0">
                <a:solidFill>
                  <a:srgbClr val="222B38"/>
                </a:solidFill>
                <a:latin typeface="Calibri"/>
              </a:rPr>
              <a:t> phải </a:t>
            </a:r>
            <a:r>
              <a:rPr sz="1700" b="1">
                <a:solidFill>
                  <a:srgbClr val="222B38"/>
                </a:solidFill>
                <a:latin typeface="Calibri"/>
              </a:rPr>
              <a:t>tự viết</a:t>
            </a:r>
            <a:r>
              <a:rPr sz="1700" b="0">
                <a:solidFill>
                  <a:srgbClr val="222B38"/>
                </a:solidFill>
                <a:latin typeface="Calibri"/>
              </a:rPr>
              <a:t> bằng hàm hoặc macro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