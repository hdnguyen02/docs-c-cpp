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Nhập Xuất Với scanf Và printf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 Cơ Bản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ra màn hình với printf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0207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 nằm trong thư viện </a:t>
            </a:r>
            <a:r>
              <a:rPr sz="1709" b="0">
                <a:solidFill>
                  <a:srgbClr val="3598DB"/>
                </a:solidFill>
                <a:latin typeface="Consolas"/>
              </a:rPr>
              <a:t>stdio.h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Chuỗi định dạng in y nguyên, trừ các </a:t>
            </a:r>
            <a:r>
              <a:rPr sz="1800" b="1">
                <a:solidFill>
                  <a:srgbClr val="222B38"/>
                </a:solidFill>
                <a:latin typeface="Calibri"/>
              </a:rPr>
              <a:t>đặc tả</a:t>
            </a:r>
            <a:r>
              <a:rPr sz="1800" b="0">
                <a:solidFill>
                  <a:srgbClr val="222B38"/>
                </a:solidFill>
                <a:latin typeface="Calibri"/>
              </a:rPr>
              <a:t> bắt đầu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%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Mỗi đặc tả được thay lần lượt bằng giá trị phía sau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\n</a:t>
            </a:r>
            <a:r>
              <a:rPr sz="1800" b="0">
                <a:solidFill>
                  <a:srgbClr val="222B38"/>
                </a:solidFill>
                <a:latin typeface="Calibri"/>
              </a:rPr>
              <a:t> xuống dòng,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\t</a:t>
            </a:r>
            <a:r>
              <a:rPr sz="1800" b="0">
                <a:solidFill>
                  <a:srgbClr val="222B38"/>
                </a:solidFill>
                <a:latin typeface="Calibri"/>
              </a:rPr>
              <a:t> tab, </a:t>
            </a:r>
            <a:r>
              <a:rPr sz="1709" b="0">
                <a:solidFill>
                  <a:srgbClr val="3598DB"/>
                </a:solidFill>
                <a:latin typeface="Consolas"/>
              </a:rPr>
              <a:t>%%</a:t>
            </a:r>
            <a:r>
              <a:rPr sz="1800" b="0">
                <a:solidFill>
                  <a:srgbClr val="222B38"/>
                </a:solidFill>
                <a:latin typeface="Calibri"/>
              </a:rPr>
              <a:t> in dấu </a:t>
            </a:r>
            <a:r>
              <a:rPr sz="1709" b="0">
                <a:solidFill>
                  <a:srgbClr val="3598DB"/>
                </a:solidFill>
                <a:latin typeface="Consolas"/>
              </a:rPr>
              <a:t>%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5091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9722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printf("codelab blog\n");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 %s\n", "codelab.dev", "C programming !");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 %d\n", 100, 200, 300);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282828;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printf("Gia tri cua bien n : %d\n", n);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Đặc tả định dạng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03069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printf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tự biết kiểu</a:t>
            </a:r>
            <a:r>
              <a:rPr sz="1800" b="0">
                <a:solidFill>
                  <a:srgbClr val="222B38"/>
                </a:solidFill>
                <a:latin typeface="Calibri"/>
              </a:rPr>
              <a:t>, sai đặc tả sẽ in ra rác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 int, </a:t>
            </a:r>
            <a:r>
              <a:rPr sz="1709" b="0">
                <a:solidFill>
                  <a:srgbClr val="3598DB"/>
                </a:solidFill>
                <a:latin typeface="Consolas"/>
              </a:rPr>
              <a:t>%lld</a:t>
            </a:r>
            <a:r>
              <a:rPr sz="1800" b="0">
                <a:solidFill>
                  <a:srgbClr val="222B38"/>
                </a:solidFill>
                <a:latin typeface="Calibri"/>
              </a:rPr>
              <a:t> long long, </a:t>
            </a:r>
            <a:r>
              <a:rPr sz="1709" b="0">
                <a:solidFill>
                  <a:srgbClr val="3598DB"/>
                </a:solidFill>
                <a:latin typeface="Consolas"/>
              </a:rPr>
              <a:t>%u</a:t>
            </a:r>
            <a:r>
              <a:rPr sz="1800" b="0">
                <a:solidFill>
                  <a:srgbClr val="222B38"/>
                </a:solidFill>
                <a:latin typeface="Calibri"/>
              </a:rPr>
              <a:t> unsigned, </a:t>
            </a:r>
            <a:r>
              <a:rPr sz="1709" b="0">
                <a:solidFill>
                  <a:srgbClr val="3598DB"/>
                </a:solidFill>
                <a:latin typeface="Consolas"/>
              </a:rPr>
              <a:t>%zu</a:t>
            </a:r>
            <a:r>
              <a:rPr sz="1800" b="0">
                <a:solidFill>
                  <a:srgbClr val="222B38"/>
                </a:solidFill>
                <a:latin typeface="Calibri"/>
              </a:rPr>
              <a:t> size_t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%f</a:t>
            </a:r>
            <a:r>
              <a:rPr sz="1800" b="0">
                <a:solidFill>
                  <a:srgbClr val="222B38"/>
                </a:solidFill>
                <a:latin typeface="Calibri"/>
              </a:rPr>
              <a:t> float/double (mặc định 6 chữ số), </a:t>
            </a:r>
            <a:r>
              <a:rPr sz="1709" b="0">
                <a:solidFill>
                  <a:srgbClr val="3598DB"/>
                </a:solidFill>
                <a:latin typeface="Consolas"/>
              </a:rPr>
              <a:t>%e</a:t>
            </a:r>
            <a:r>
              <a:rPr sz="1800" b="0">
                <a:solidFill>
                  <a:srgbClr val="222B38"/>
                </a:solidFill>
                <a:latin typeface="Calibri"/>
              </a:rPr>
              <a:t> dạng khoa học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%c</a:t>
            </a:r>
            <a:r>
              <a:rPr sz="1800" b="0">
                <a:solidFill>
                  <a:srgbClr val="222B38"/>
                </a:solidFill>
                <a:latin typeface="Calibri"/>
              </a:rPr>
              <a:t> một ký tự, </a:t>
            </a:r>
            <a:r>
              <a:rPr sz="1709" b="0">
                <a:solidFill>
                  <a:srgbClr val="3598DB"/>
                </a:solidFill>
                <a:latin typeface="Consolas"/>
              </a:rPr>
              <a:t>%s</a:t>
            </a:r>
            <a:r>
              <a:rPr sz="1800" b="0">
                <a:solidFill>
                  <a:srgbClr val="222B38"/>
                </a:solidFill>
                <a:latin typeface="Calibri"/>
              </a:rPr>
              <a:t> chuỗi ký tự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4051909"/>
            <a:ext cx="10765231" cy="1519936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198213"/>
            <a:ext cx="10362895" cy="122732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char c = 'A';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printf("%c %d\n", c, c);             // A 65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printf("%lld\n", 1000000000000LL);   // 1000000000000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printf("%zu\n", sizeof(int));         // 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In giá trị bool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bool</a:t>
            </a:r>
            <a:r>
              <a:rPr sz="2000" b="0">
                <a:solidFill>
                  <a:srgbClr val="222B38"/>
                </a:solidFill>
                <a:latin typeface="Calibri"/>
              </a:rPr>
              <a:t> (thư viện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stdbool.h</a:t>
            </a:r>
            <a:r>
              <a:rPr sz="2000" b="0">
                <a:solidFill>
                  <a:srgbClr val="222B38"/>
                </a:solidFill>
                <a:latin typeface="Calibri"/>
              </a:rPr>
              <a:t>) in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%d</a:t>
            </a:r>
            <a:r>
              <a:rPr sz="2000" b="0">
                <a:solidFill>
                  <a:srgbClr val="222B38"/>
                </a:solidFill>
                <a:latin typeface="Calibri"/>
              </a:rPr>
              <a:t>: true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1</a:t>
            </a:r>
            <a:r>
              <a:rPr sz="2000" b="0">
                <a:solidFill>
                  <a:srgbClr val="222B38"/>
                </a:solidFill>
                <a:latin typeface="Calibri"/>
              </a:rPr>
              <a:t>, false là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Không có đặc tả in chữ,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? :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để chọn chuỗi </a:t>
            </a:r>
            <a:r>
              <a:rPr sz="2000" b="1">
                <a:solidFill>
                  <a:srgbClr val="222B38"/>
                </a:solidFill>
                <a:latin typeface="Calibri"/>
              </a:rPr>
              <a:t>true/false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bool check = true, used = false;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printf("%d %d\n", check, used);            // 1 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printf("%s\n", check ? "true" : "false");  // true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chính xác số thực: %.kf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15007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%.kf</a:t>
            </a:r>
            <a:r>
              <a:rPr sz="2000" b="0">
                <a:solidFill>
                  <a:srgbClr val="222B38"/>
                </a:solidFill>
                <a:latin typeface="Calibri"/>
              </a:rPr>
              <a:t> in đúng </a:t>
            </a:r>
            <a:r>
              <a:rPr sz="1900" b="0">
                <a:solidFill>
                  <a:srgbClr val="3598DB"/>
                </a:solidFill>
                <a:latin typeface="Consolas"/>
              </a:rPr>
              <a:t>k</a:t>
            </a:r>
            <a:r>
              <a:rPr sz="2000" b="0">
                <a:solidFill>
                  <a:srgbClr val="222B38"/>
                </a:solidFill>
                <a:latin typeface="Calibri"/>
              </a:rPr>
              <a:t> chữ số thập phân, có </a:t>
            </a:r>
            <a:r>
              <a:rPr sz="2000" b="1">
                <a:solidFill>
                  <a:srgbClr val="222B38"/>
                </a:solidFill>
                <a:latin typeface="Calibri"/>
              </a:rPr>
              <a:t>làm tròn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Mỗi lệnh printf độc lập, </a:t>
            </a:r>
            <a:r>
              <a:rPr sz="1900" b="0">
                <a:solidFill>
                  <a:srgbClr val="3598DB"/>
                </a:solidFill>
                <a:latin typeface="Consolas"/>
              </a:rPr>
              <a:t>%f</a:t>
            </a:r>
            <a:r>
              <a:rPr sz="2000" b="0">
                <a:solidFill>
                  <a:srgbClr val="222B38"/>
                </a:solidFill>
                <a:latin typeface="Calibri"/>
              </a:rPr>
              <a:t> lại về mặc định 6 chữ số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369767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516071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float a = 30.192387f;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b = 9.18293;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printf("%.2f\n", a);    // 30.19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printf("%.10f\n", b);   // 9.1829300000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printf("%f\n", b);      // 9.182930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Độ rộng khi 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%10d</a:t>
            </a:r>
            <a:r>
              <a:rPr sz="2000" b="0">
                <a:solidFill>
                  <a:srgbClr val="222B38"/>
                </a:solidFill>
                <a:latin typeface="Calibri"/>
              </a:rPr>
              <a:t>: rộng 10 ký tự, </a:t>
            </a:r>
            <a:r>
              <a:rPr sz="2000" b="1">
                <a:solidFill>
                  <a:srgbClr val="222B38"/>
                </a:solidFill>
                <a:latin typeface="Calibri"/>
              </a:rPr>
              <a:t>căn phải</a:t>
            </a:r>
            <a:r>
              <a:rPr sz="2000" b="0">
                <a:solidFill>
                  <a:srgbClr val="222B38"/>
                </a:solidFill>
                <a:latin typeface="Calibri"/>
              </a:rPr>
              <a:t>, đệm dấu cách bên trái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%-10d</a:t>
            </a:r>
            <a:r>
              <a:rPr sz="2000" b="0">
                <a:solidFill>
                  <a:srgbClr val="222B38"/>
                </a:solidFill>
                <a:latin typeface="Calibri"/>
              </a:rPr>
              <a:t> căn trái, </a:t>
            </a:r>
            <a:r>
              <a:rPr sz="1900" b="0">
                <a:solidFill>
                  <a:srgbClr val="3598DB"/>
                </a:solidFill>
                <a:latin typeface="Consolas"/>
              </a:rPr>
              <a:t>%010d</a:t>
            </a:r>
            <a:r>
              <a:rPr sz="2000" b="0">
                <a:solidFill>
                  <a:srgbClr val="222B38"/>
                </a:solidFill>
                <a:latin typeface="Calibri"/>
              </a:rPr>
              <a:t> đệm bằng số </a:t>
            </a:r>
            <a:r>
              <a:rPr sz="1900" b="0">
                <a:solidFill>
                  <a:srgbClr val="3598DB"/>
                </a:solidFill>
                <a:latin typeface="Consolas"/>
              </a:rPr>
              <a:t>0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%8.2f</a:t>
            </a:r>
            <a:r>
              <a:rPr sz="2000" b="0">
                <a:solidFill>
                  <a:srgbClr val="222B38"/>
                </a:solidFill>
                <a:latin typeface="Calibri"/>
              </a:rPr>
              <a:t> kết hợp độ rộng và độ chính xác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 = 12345;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printf("%10d|\n", n);           //      12345|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printf("%010d|\n", n);          // 0000012345|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printf("%-10d|\n", n);          // 12345     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printf("%10s|\n", "codelab");   //    codelab|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printf("%8.2f|\n", 3.14159);    //     3.14|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Nhập dữ liệu với scanf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935429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scanf</a:t>
            </a:r>
            <a:r>
              <a:rPr sz="2000" b="0">
                <a:solidFill>
                  <a:srgbClr val="222B38"/>
                </a:solidFill>
                <a:latin typeface="Calibri"/>
              </a:rPr>
              <a:t> cũng trong </a:t>
            </a:r>
            <a:r>
              <a:rPr sz="1900" b="0">
                <a:solidFill>
                  <a:srgbClr val="3598DB"/>
                </a:solidFill>
                <a:latin typeface="Consolas"/>
              </a:rPr>
              <a:t>stdio.h</a:t>
            </a:r>
            <a:r>
              <a:rPr sz="2000" b="0">
                <a:solidFill>
                  <a:srgbClr val="222B38"/>
                </a:solidFill>
                <a:latin typeface="Calibri"/>
              </a:rPr>
              <a:t>, dùng đặc tả giống printf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1">
                <a:solidFill>
                  <a:srgbClr val="222B38"/>
                </a:solidFill>
                <a:latin typeface="Calibri"/>
              </a:rPr>
              <a:t>Bắt buộc &amp;</a:t>
            </a:r>
            <a:r>
              <a:rPr sz="2000" b="0">
                <a:solidFill>
                  <a:srgbClr val="222B38"/>
                </a:solidFill>
                <a:latin typeface="Calibri"/>
              </a:rPr>
              <a:t> trước tên biến: truyền địa chỉ để ghi giá trị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Nhập nhiều số: cách nhau dấu cách hoặc Enter đều được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703269"/>
            <a:ext cx="10765231" cy="1808480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49573"/>
            <a:ext cx="10362895" cy="15158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n, a, b, c;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printf("Nhap gia tri cho n :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scanf("%d", &amp;n);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printf("Nhap gia tri cho a, b, c : ");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scanf("%d%d%d", &amp;a, &amp;b, &amp;c);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scanf với double, char, chuỗi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70108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double nhập bằng %lf</a:t>
            </a:r>
            <a:r>
              <a:rPr sz="1800" b="0">
                <a:solidFill>
                  <a:srgbClr val="222B38"/>
                </a:solidFill>
                <a:latin typeface="Calibri"/>
              </a:rPr>
              <a:t>, in bằng </a:t>
            </a:r>
            <a:r>
              <a:rPr sz="1709" b="0">
                <a:solidFill>
                  <a:srgbClr val="3598DB"/>
                </a:solidFill>
                <a:latin typeface="Consolas"/>
              </a:rPr>
              <a:t>%f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" %c"</a:t>
            </a:r>
            <a:r>
              <a:rPr sz="1800" b="0">
                <a:solidFill>
                  <a:srgbClr val="222B38"/>
                </a:solidFill>
                <a:latin typeface="Calibri"/>
              </a:rPr>
              <a:t>: dấu cách phía trước để bỏ qua Enter còn sót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Chuỗi </a:t>
            </a:r>
            <a:r>
              <a:rPr sz="1709" b="0">
                <a:solidFill>
                  <a:srgbClr val="3598DB"/>
                </a:solidFill>
                <a:latin typeface="Consolas"/>
              </a:rPr>
              <a:t>char s[]</a:t>
            </a:r>
            <a:r>
              <a:rPr sz="1800" b="0">
                <a:solidFill>
                  <a:srgbClr val="222B38"/>
                </a:solidFill>
                <a:latin typeface="Calibri"/>
              </a:rPr>
              <a:t> </a:t>
            </a:r>
            <a:r>
              <a:rPr sz="1800" b="1">
                <a:solidFill>
                  <a:srgbClr val="222B38"/>
                </a:solidFill>
                <a:latin typeface="Calibri"/>
              </a:rPr>
              <a:t>không có 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%49s</a:t>
            </a:r>
            <a:r>
              <a:rPr sz="1800" b="0">
                <a:solidFill>
                  <a:srgbClr val="222B38"/>
                </a:solidFill>
                <a:latin typeface="Calibri"/>
              </a:rPr>
              <a:t> giới hạn độ dài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%s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 đọc tới khoảng trắng đầu tiên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84992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99623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double diem; char xepLoai; char ten[50];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scanf("%49s", ten);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scanf("%lf", &amp;diem);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scanf(" %c", &amp;xepLoai);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printf("%s - %.2f - %c\n", ten, diem, xepLoai);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codelab - 8.76 - 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Nhập Xuất Với scanf Và printf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printf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xuất, </a:t>
            </a:r>
            <a:r>
              <a:rPr sz="1709" b="0">
                <a:solidFill>
                  <a:srgbClr val="3598DB"/>
                </a:solidFill>
                <a:latin typeface="Consolas"/>
              </a:rPr>
              <a:t>scanf</a:t>
            </a:r>
            <a:r>
              <a:rPr sz="1800" b="0">
                <a:solidFill>
                  <a:srgbClr val="222B38"/>
                </a:solidFill>
                <a:latin typeface="Calibri"/>
              </a:rPr>
              <a:t> để nhập, đều cần </a:t>
            </a:r>
            <a:r>
              <a:rPr sz="1709" b="0">
                <a:solidFill>
                  <a:srgbClr val="3598DB"/>
                </a:solidFill>
                <a:latin typeface="Consolas"/>
              </a:rPr>
              <a:t>stdio.h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Chọn </a:t>
            </a:r>
            <a:r>
              <a:rPr sz="1800" b="1">
                <a:solidFill>
                  <a:srgbClr val="222B38"/>
                </a:solidFill>
                <a:latin typeface="Calibri"/>
              </a:rPr>
              <a:t>đúng đặc tả</a:t>
            </a:r>
            <a:r>
              <a:rPr sz="1800" b="0">
                <a:solidFill>
                  <a:srgbClr val="222B38"/>
                </a:solidFill>
                <a:latin typeface="Calibri"/>
              </a:rPr>
              <a:t> theo kiểu: </a:t>
            </a:r>
            <a:r>
              <a:rPr sz="1709" b="0">
                <a:solidFill>
                  <a:srgbClr val="3598DB"/>
                </a:solidFill>
                <a:latin typeface="Consolas"/>
              </a:rPr>
              <a:t>%d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%lld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%f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%c</a:t>
            </a:r>
            <a:r>
              <a:rPr sz="1800" b="0">
                <a:solidFill>
                  <a:srgbClr val="222B38"/>
                </a:solidFill>
                <a:latin typeface="Calibri"/>
              </a:rPr>
              <a:t>, </a:t>
            </a:r>
            <a:r>
              <a:rPr sz="1709" b="0">
                <a:solidFill>
                  <a:srgbClr val="3598DB"/>
                </a:solidFill>
                <a:latin typeface="Consolas"/>
              </a:rPr>
              <a:t>%s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scanf: quên </a:t>
            </a:r>
            <a:r>
              <a:rPr sz="1709" b="0">
                <a:solidFill>
                  <a:srgbClr val="3598DB"/>
                </a:solidFill>
                <a:latin typeface="Consolas"/>
              </a:rPr>
              <a:t>&amp;</a:t>
            </a:r>
            <a:r>
              <a:rPr sz="1800" b="0">
                <a:solidFill>
                  <a:srgbClr val="222B38"/>
                </a:solidFill>
                <a:latin typeface="Calibri"/>
              </a:rPr>
              <a:t> hoặc dùng </a:t>
            </a:r>
            <a:r>
              <a:rPr sz="1709" b="0">
                <a:solidFill>
                  <a:srgbClr val="3598DB"/>
                </a:solidFill>
                <a:latin typeface="Consolas"/>
              </a:rPr>
              <a:t>%f</a:t>
            </a:r>
            <a:r>
              <a:rPr sz="1800" b="0">
                <a:solidFill>
                  <a:srgbClr val="222B38"/>
                </a:solidFill>
                <a:latin typeface="Calibri"/>
              </a:rPr>
              <a:t> cho double là lỗi hay gặp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709" b="0">
                <a:solidFill>
                  <a:srgbClr val="3598DB"/>
                </a:solidFill>
                <a:latin typeface="Consolas"/>
              </a:rPr>
              <a:t>%.kf</a:t>
            </a:r>
            <a:r>
              <a:rPr sz="1800" b="0">
                <a:solidFill>
                  <a:srgbClr val="222B38"/>
                </a:solidFill>
                <a:latin typeface="Calibri"/>
              </a:rPr>
              <a:t> chỉnh số chữ số thập phân, </a:t>
            </a:r>
            <a:r>
              <a:rPr sz="1709" b="0">
                <a:solidFill>
                  <a:srgbClr val="3598DB"/>
                </a:solidFill>
                <a:latin typeface="Consolas"/>
              </a:rPr>
              <a:t>%10d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%-10d</a:t>
            </a:r>
            <a:r>
              <a:rPr sz="1800" b="0">
                <a:solidFill>
                  <a:srgbClr val="222B38"/>
                </a:solidFill>
                <a:latin typeface="Calibri"/>
              </a:rPr>
              <a:t>/</a:t>
            </a:r>
            <a:r>
              <a:rPr sz="1709" b="0">
                <a:solidFill>
                  <a:srgbClr val="3598DB"/>
                </a:solidFill>
                <a:latin typeface="Consolas"/>
              </a:rPr>
              <a:t>%010d</a:t>
            </a:r>
            <a:r>
              <a:rPr sz="1800" b="0">
                <a:solidFill>
                  <a:srgbClr val="222B38"/>
                </a:solidFill>
                <a:latin typeface="Calibri"/>
              </a:rPr>
              <a:t> căn độ rộng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