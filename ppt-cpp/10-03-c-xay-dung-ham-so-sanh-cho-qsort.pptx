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Xây Dựng Hàm So Sánh Cho qsort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so sánh quyết định thứ tự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Là tham số thứ 4 của </a:t>
            </a:r>
            <a:r>
              <a:rPr sz="1709" b="0">
                <a:solidFill>
                  <a:srgbClr val="3598DB"/>
                </a:solidFill>
                <a:latin typeface="Consolas"/>
              </a:rPr>
              <a:t>qsort</a:t>
            </a:r>
            <a:r>
              <a:rPr sz="1800" b="0">
                <a:solidFill>
                  <a:srgbClr val="222B38"/>
                </a:solidFill>
                <a:latin typeface="Calibri"/>
              </a:rPr>
              <a:t>, tên tự đặt, thường là </a:t>
            </a:r>
            <a:r>
              <a:rPr sz="1709" b="0">
                <a:solidFill>
                  <a:srgbClr val="3598DB"/>
                </a:solidFill>
                <a:latin typeface="Consolas"/>
              </a:rPr>
              <a:t>cmp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, 2 tham số </a:t>
            </a:r>
            <a:r>
              <a:rPr sz="1800" b="1">
                <a:solidFill>
                  <a:srgbClr val="222B38"/>
                </a:solidFill>
                <a:latin typeface="Calibri"/>
              </a:rPr>
              <a:t>const void *</a:t>
            </a:r>
            <a:r>
              <a:rPr sz="1800" b="0">
                <a:solidFill>
                  <a:srgbClr val="222B38"/>
                </a:solidFill>
                <a:latin typeface="Calibri"/>
              </a:rPr>
              <a:t> trỏ tới 2 phần tử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Bước 1: </a:t>
            </a:r>
            <a:r>
              <a:rPr sz="1800" b="1">
                <a:solidFill>
                  <a:srgbClr val="222B38"/>
                </a:solidFill>
                <a:latin typeface="Calibri"/>
              </a:rPr>
              <a:t>ép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 về con trỏ đúng kiểu phần tử, rồi mới đọc giá trị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Trả </a:t>
            </a:r>
            <a:r>
              <a:rPr sz="1800" b="1">
                <a:solidFill>
                  <a:srgbClr val="222B38"/>
                </a:solidFill>
                <a:latin typeface="Calibri"/>
              </a:rPr>
              <a:t>âm</a:t>
            </a:r>
            <a:r>
              <a:rPr sz="1800" b="0">
                <a:solidFill>
                  <a:srgbClr val="222B38"/>
                </a:solidFill>
                <a:latin typeface="Calibri"/>
              </a:rPr>
              <a:t>: x trước y; </a:t>
            </a:r>
            <a:r>
              <a:rPr sz="1800" b="1">
                <a:solidFill>
                  <a:srgbClr val="222B38"/>
                </a:solidFill>
                <a:latin typeface="Calibri"/>
              </a:rPr>
              <a:t>dương</a:t>
            </a:r>
            <a:r>
              <a:rPr sz="1800" b="0">
                <a:solidFill>
                  <a:srgbClr val="222B38"/>
                </a:solidFill>
                <a:latin typeface="Calibri"/>
              </a:rPr>
              <a:t>: x sau y; </a:t>
            </a:r>
            <a:r>
              <a:rPr sz="1800" b="1">
                <a:solidFill>
                  <a:srgbClr val="222B38"/>
                </a:solidFill>
                <a:latin typeface="Calibri"/>
              </a:rPr>
              <a:t>0</a:t>
            </a:r>
            <a:r>
              <a:rPr sz="1800" b="0">
                <a:solidFill>
                  <a:srgbClr val="222B38"/>
                </a:solidFill>
                <a:latin typeface="Calibri"/>
              </a:rPr>
              <a:t>: tương đương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const data_type *x = (const data_type *)a;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const data_type *y = (const data_type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logic so sanh *x va *y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giảm dần, tổng chữ số, trị tuyệt đối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Hàm so sánh phải nhất quán: cmp(x, y) âm thì cmp(y, x) dương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298852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45156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cmpGiam(const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 = *(const int *)a, y = *(const int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if(x &gt; y) return -1;          // lon hon dung truoc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if(x &lt; y) return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Tong chu so tang: so sanh tong(x), tong(y)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{1000000,212,40,9,10001,30,449} -&gt; 1000000 10001 30 40 212 9 449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Tri tuyet doi giam: so sanh abs(x), abs(y)  (stdlib.h)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{3,-5,-1,4,-2,6,-7} -&gt; -7 6 -5 4 3 -2 -1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Bẫy tràn số: return a -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x - y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tràn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x, y lớn và trái dấu → sai dấu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Tràn số nguyên có dấu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hành vi không xác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An toàn: </a:t>
            </a:r>
            <a:r>
              <a:rPr sz="1709" b="0">
                <a:solidFill>
                  <a:srgbClr val="3598DB"/>
                </a:solidFill>
                <a:latin typeface="Consolas"/>
              </a:rPr>
              <a:t>(x &gt; y) - (x &lt; y)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ra -1, 0,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double, long long, size_t cũng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x - 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return *(const int *)a - *(const int *)b;   // NGUY HIEM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2000000000 - (-2000000000) tran thanh so am -&gt; sap sai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x = *(const int *)a, y = *(const int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return (x &gt; y) - (x &lt; y);                    // AN TOAN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Nhiều tiêu chí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Xét lần lượt từ tiêu chí </a:t>
            </a:r>
            <a:r>
              <a:rPr sz="2000" b="1">
                <a:solidFill>
                  <a:srgbClr val="222B38"/>
                </a:solidFill>
                <a:latin typeface="Calibri"/>
              </a:rPr>
              <a:t>ưu tiên nhất</a:t>
            </a:r>
            <a:r>
              <a:rPr sz="2000" b="0">
                <a:solidFill>
                  <a:srgbClr val="222B38"/>
                </a:solidFill>
                <a:latin typeface="Calibri"/>
              </a:rPr>
              <a:t> tới cuối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Tiêu chí trước </a:t>
            </a:r>
            <a:r>
              <a:rPr sz="2000" b="1">
                <a:solidFill>
                  <a:srgbClr val="222B38"/>
                </a:solidFill>
                <a:latin typeface="Calibri"/>
              </a:rPr>
              <a:t>khác nhau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trả về ngay, bằng mới xét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Đảo chiều tiêu chí: đổi 2 vế </a:t>
            </a:r>
            <a:r>
              <a:rPr sz="1900" b="0">
                <a:solidFill>
                  <a:srgbClr val="3598DB"/>
                </a:solidFill>
                <a:latin typeface="Consolas"/>
              </a:rPr>
              <a:t>(x &lt; y) - (x &gt; 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 = *(const int *)a, y = *(const int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tx = tong(x), ty = tong(y);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if(tx != ty) return (tx &gt; ty) - (tx &lt; ty);  // tong tang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(x &lt; y) - (x &gt; y);                   // so lon truoc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Chan truoc le: chan giam, le tang -&gt; 10 8 6 4 2 1 3 5 7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Sắp mảng struct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31467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Ép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const Point *</a:t>
            </a:r>
            <a:r>
              <a:rPr sz="2000" b="0">
                <a:solidFill>
                  <a:srgbClr val="222B38"/>
                </a:solidFill>
                <a:latin typeface="Calibri"/>
              </a:rPr>
              <a:t>, truy cập trường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-&gt;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Tên là chuỗi: so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strcmp</a:t>
            </a:r>
            <a:r>
              <a:rPr sz="2000" b="0">
                <a:solidFill>
                  <a:srgbClr val="222B38"/>
                </a:solidFill>
                <a:latin typeface="Calibri"/>
              </a:rPr>
              <a:t>, trả thẳng kết quả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sizeof(ds[0])</a:t>
            </a:r>
            <a:r>
              <a:rPr sz="2000" b="0">
                <a:solidFill>
                  <a:srgbClr val="222B38"/>
                </a:solidFill>
                <a:latin typeface="Calibri"/>
              </a:rPr>
              <a:t>: qsort đổi chỗ </a:t>
            </a:r>
            <a:r>
              <a:rPr sz="2000" b="1">
                <a:solidFill>
                  <a:srgbClr val="222B38"/>
                </a:solidFill>
                <a:latin typeface="Calibri"/>
              </a:rPr>
              <a:t>cả struct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99307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45611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typedef struct { char ten[30]; double gpa; } SinhVien;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const SinhVien *s1 = (const SinhVien *)a;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const SinhVien *s2 = (const SinhVien 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if(s1-&gt;gpa != s2-&gt;gpa)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return (s1-&gt;gpa &lt; s2-&gt;gpa) - (s1-&gt;gpa &gt; s2-&gt;gpa); // gpa giam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strcmp(s1-&gt;ten, s2-&gt;ten);                      // ten A-Z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Sắp mảng chuỗi: 2 cách ép kiểu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a[n][MAX]</a:t>
            </a:r>
            <a:r>
              <a:rPr sz="2000" b="0">
                <a:solidFill>
                  <a:srgbClr val="222B38"/>
                </a:solidFill>
                <a:latin typeface="Calibri"/>
              </a:rPr>
              <a:t>: void* trỏ thẳng vào chuỗi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(const char *)a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 *a[n]</a:t>
            </a:r>
            <a:r>
              <a:rPr sz="2000" b="0">
                <a:solidFill>
                  <a:srgbClr val="222B38"/>
                </a:solidFill>
                <a:latin typeface="Calibri"/>
              </a:rPr>
              <a:t>: void* trỏ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*(const char * const *)a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Ép nhầm: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strcmp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đọc byte của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sắp sai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cmp2Chieu(const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strcmp((const char *)a, (const char *)b);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cmpConTro(const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strcmp(*(const char * const *)a,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      *(const char * const *)b);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{"lan","hoa","cuc","mai","dao"} -&gt; cuc dao hoa lan mai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Xây Dựng Hàm So Sánh Cho qsort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Luôn </a:t>
            </a:r>
            <a:r>
              <a:rPr sz="1700" b="1">
                <a:solidFill>
                  <a:srgbClr val="222B38"/>
                </a:solidFill>
                <a:latin typeface="Calibri"/>
              </a:rPr>
              <a:t>ép kiểu</a:t>
            </a:r>
            <a:r>
              <a:rPr sz="1700" b="0">
                <a:solidFill>
                  <a:srgbClr val="222B38"/>
                </a:solidFill>
                <a:latin typeface="Calibri"/>
              </a:rPr>
              <a:t> </a:t>
            </a:r>
            <a:r>
              <a:rPr sz="1614" b="0">
                <a:solidFill>
                  <a:srgbClr val="3598DB"/>
                </a:solidFill>
                <a:latin typeface="Consolas"/>
              </a:rPr>
              <a:t>const void *</a:t>
            </a:r>
            <a:r>
              <a:rPr sz="1700" b="0">
                <a:solidFill>
                  <a:srgbClr val="222B38"/>
                </a:solidFill>
                <a:latin typeface="Calibri"/>
              </a:rPr>
              <a:t> về đúng kiểu phần tử trước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Trả </a:t>
            </a:r>
            <a:r>
              <a:rPr sz="1700" b="1">
                <a:solidFill>
                  <a:srgbClr val="222B38"/>
                </a:solidFill>
                <a:latin typeface="Calibri"/>
              </a:rPr>
              <a:t>âm / 0 / dương</a:t>
            </a:r>
            <a:r>
              <a:rPr sz="1700" b="0">
                <a:solidFill>
                  <a:srgbClr val="222B38"/>
                </a:solidFill>
                <a:latin typeface="Calibri"/>
              </a:rPr>
              <a:t>; không trả kiểu đúng/sai 0-1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Tránh </a:t>
            </a:r>
            <a:r>
              <a:rPr sz="1614" b="0">
                <a:solidFill>
                  <a:srgbClr val="3598DB"/>
                </a:solidFill>
                <a:latin typeface="Consolas"/>
              </a:rPr>
              <a:t>return x - y</a:t>
            </a:r>
            <a:r>
              <a:rPr sz="1700" b="0">
                <a:solidFill>
                  <a:srgbClr val="222B38"/>
                </a:solidFill>
                <a:latin typeface="Calibri"/>
              </a:rPr>
              <a:t>; dùng </a:t>
            </a:r>
            <a:r>
              <a:rPr sz="1614" b="0">
                <a:solidFill>
                  <a:srgbClr val="3598DB"/>
                </a:solidFill>
                <a:latin typeface="Consolas"/>
              </a:rPr>
              <a:t>(x &gt; y) - (x &lt; y)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Nhiều tiêu chí: khác thì trả ngay, bằng mới xét tiếp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Mảng con trỏ chuỗi phải ép </a:t>
            </a:r>
            <a:r>
              <a:rPr sz="1614" b="0">
                <a:solidFill>
                  <a:srgbClr val="3598DB"/>
                </a:solidFill>
                <a:latin typeface="Consolas"/>
              </a:rPr>
              <a:t>*(const char * const *)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