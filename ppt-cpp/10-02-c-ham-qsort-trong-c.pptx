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Hàm qsort Trong C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qsort()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qsort Trong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Hàm sắp xếp có sẵn trong </a:t>
            </a:r>
            <a:r>
              <a:rPr sz="1800" b="1">
                <a:solidFill>
                  <a:srgbClr val="222B38"/>
                </a:solidFill>
                <a:latin typeface="Calibri"/>
              </a:rPr>
              <a:t>&lt;stdlib.h&gt;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cần tự cài đặt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Độ phức tạp trung bình </a:t>
            </a:r>
            <a:r>
              <a:rPr sz="1800" b="1">
                <a:solidFill>
                  <a:srgbClr val="222B38"/>
                </a:solidFill>
                <a:latin typeface="Calibri"/>
              </a:rPr>
              <a:t>O(NlogN)</a:t>
            </a:r>
            <a:r>
              <a:rPr sz="1800" b="0">
                <a:solidFill>
                  <a:srgbClr val="222B38"/>
                </a:solidFill>
                <a:latin typeface="Calibri"/>
              </a:rPr>
              <a:t>, nhanh hơn nhiều thuật toán O(N²)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Sắp được </a:t>
            </a:r>
            <a:r>
              <a:rPr sz="1800" b="1">
                <a:solidFill>
                  <a:srgbClr val="222B38"/>
                </a:solidFill>
                <a:latin typeface="Calibri"/>
              </a:rPr>
              <a:t>mọi kiểu</a:t>
            </a:r>
            <a:r>
              <a:rPr sz="1800" b="0">
                <a:solidFill>
                  <a:srgbClr val="222B38"/>
                </a:solidFill>
                <a:latin typeface="Calibri"/>
              </a:rPr>
              <a:t>: int, double, char, chuỗi, struct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Chuẩn C không quy định thuật toán cụ thể và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đảm bảo ổn định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Nguyên mẫu và 4 tham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qsort Trong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05050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base</a:t>
            </a:r>
            <a:r>
              <a:rPr sz="1800" b="0">
                <a:solidFill>
                  <a:srgbClr val="222B38"/>
                </a:solidFill>
                <a:latin typeface="Calibri"/>
              </a:rPr>
              <a:t>: địa chỉ phần tử đầu, thường là tên mảng </a:t>
            </a:r>
            <a:r>
              <a:rPr sz="1709" b="0">
                <a:solidFill>
                  <a:srgbClr val="3598DB"/>
                </a:solidFill>
                <a:latin typeface="Consolas"/>
              </a:rPr>
              <a:t>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nmemb</a:t>
            </a:r>
            <a:r>
              <a:rPr sz="1800" b="0">
                <a:solidFill>
                  <a:srgbClr val="222B38"/>
                </a:solidFill>
                <a:latin typeface="Calibri"/>
              </a:rPr>
              <a:t>: số phần tử cần sắp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size</a:t>
            </a:r>
            <a:r>
              <a:rPr sz="1800" b="0">
                <a:solidFill>
                  <a:srgbClr val="222B38"/>
                </a:solidFill>
                <a:latin typeface="Calibri"/>
              </a:rPr>
              <a:t>: số byte của </a:t>
            </a:r>
            <a:r>
              <a:rPr sz="1800" b="1">
                <a:solidFill>
                  <a:srgbClr val="222B38"/>
                </a:solidFill>
                <a:latin typeface="Calibri"/>
              </a:rPr>
              <a:t>một</a:t>
            </a:r>
            <a:r>
              <a:rPr sz="1800" b="0">
                <a:solidFill>
                  <a:srgbClr val="222B38"/>
                </a:solidFill>
                <a:latin typeface="Calibri"/>
              </a:rPr>
              <a:t> phần tử,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sizeof(a[0])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compar</a:t>
            </a:r>
            <a:r>
              <a:rPr sz="1800" b="0">
                <a:solidFill>
                  <a:srgbClr val="222B38"/>
                </a:solidFill>
                <a:latin typeface="Calibri"/>
              </a:rPr>
              <a:t>: hàm so sánh tự viết, quyết định thứ tự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253890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00194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qsort(void *base, size_t nmemb, size_t size,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int (*compar)(const void *, const void *));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 gọi qsort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qsort Trong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Tham số thứ hai là số phần tử của đoạn, không phải chỉ số cuối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596896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Sap toan bo mang a co n phan tu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qsort(a, n, sizeof(a[0]), cmp);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Sap doan tu chi so x toi 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qsort(a + x, y - x + 1, sizeof(a[0]), cmp);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Hàm so sánh: quy ước trả về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qsort Trong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1467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Nhận 2 </a:t>
            </a:r>
            <a:r>
              <a:rPr sz="2000" b="1">
                <a:solidFill>
                  <a:srgbClr val="222B38"/>
                </a:solidFill>
                <a:latin typeface="Calibri"/>
              </a:rPr>
              <a:t>con trỏ void</a:t>
            </a:r>
            <a:r>
              <a:rPr sz="2000" b="0">
                <a:solidFill>
                  <a:srgbClr val="222B38"/>
                </a:solidFill>
                <a:latin typeface="Calibri"/>
              </a:rPr>
              <a:t> tới 2 phần tử, phải </a:t>
            </a:r>
            <a:r>
              <a:rPr sz="2000" b="1">
                <a:solidFill>
                  <a:srgbClr val="222B38"/>
                </a:solidFill>
                <a:latin typeface="Calibri"/>
              </a:rPr>
              <a:t>ép kiểu</a:t>
            </a:r>
            <a:r>
              <a:rPr sz="2000" b="0">
                <a:solidFill>
                  <a:srgbClr val="222B38"/>
                </a:solidFill>
                <a:latin typeface="Calibri"/>
              </a:rPr>
              <a:t> trước khi đọc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Trả </a:t>
            </a:r>
            <a:r>
              <a:rPr sz="2000" b="1">
                <a:solidFill>
                  <a:srgbClr val="222B38"/>
                </a:solidFill>
                <a:latin typeface="Calibri"/>
              </a:rPr>
              <a:t>số âm</a:t>
            </a:r>
            <a:r>
              <a:rPr sz="2000" b="0">
                <a:solidFill>
                  <a:srgbClr val="222B38"/>
                </a:solidFill>
                <a:latin typeface="Calibri"/>
              </a:rPr>
              <a:t>: a đứng trước b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Trả </a:t>
            </a:r>
            <a:r>
              <a:rPr sz="2000" b="1">
                <a:solidFill>
                  <a:srgbClr val="222B38"/>
                </a:solidFill>
                <a:latin typeface="Calibri"/>
              </a:rPr>
              <a:t>số dương</a:t>
            </a:r>
            <a:r>
              <a:rPr sz="2000" b="0">
                <a:solidFill>
                  <a:srgbClr val="222B38"/>
                </a:solidFill>
                <a:latin typeface="Calibri"/>
              </a:rPr>
              <a:t>: a đứng sau b; trả </a:t>
            </a:r>
            <a:r>
              <a:rPr sz="2000" b="1">
                <a:solidFill>
                  <a:srgbClr val="222B38"/>
                </a:solidFill>
                <a:latin typeface="Calibri"/>
              </a:rPr>
              <a:t>0</a:t>
            </a:r>
            <a:r>
              <a:rPr sz="2000" b="0">
                <a:solidFill>
                  <a:srgbClr val="222B38"/>
                </a:solidFill>
                <a:latin typeface="Calibri"/>
              </a:rPr>
              <a:t>: bằng nhau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99307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45611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cmpTang(const void *a, const void *b){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x = *(const int *)a;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y = *(const int *)b;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if(x &lt; y) return -1;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if(x &gt; y) return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Giam dan: doi cho tham so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cmpGiam(const void *a, const void *b){ return cmpTang(b, a);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Sắp mảng int tăng / giảm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qsort Trong C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a[] = {3, 1, 2, 5, 6, 4, 8, 9, 10, 7};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10;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qsort(a, n, sizeof(a[0]), cmpTang);  // 1 2 3 ... 10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qsort(a, n, sizeof(a[0]), cmpGiam);  // 10 9 8 ... 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n; i++) printf("%d ", a[i]);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Sắp mảng char và double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qsort Trong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93596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char sắp theo </a:t>
            </a:r>
            <a:r>
              <a:rPr sz="2000" b="1">
                <a:solidFill>
                  <a:srgbClr val="222B38"/>
                </a:solidFill>
                <a:latin typeface="Calibri"/>
              </a:rPr>
              <a:t>mã ASCII</a:t>
            </a:r>
            <a:r>
              <a:rPr sz="2000" b="0">
                <a:solidFill>
                  <a:srgbClr val="222B38"/>
                </a:solidFill>
                <a:latin typeface="Calibri"/>
              </a:rPr>
              <a:t>: chữ số &lt; chữ hoa &lt; chữ thường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Sắp chuỗi: số phần tử là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strlen(s)</a:t>
            </a:r>
            <a:r>
              <a:rPr sz="2000" b="0">
                <a:solidFill>
                  <a:srgbClr val="222B38"/>
                </a:solidFill>
                <a:latin typeface="Calibri"/>
              </a:rPr>
              <a:t>, không sắp </a:t>
            </a:r>
            <a:r>
              <a:rPr sz="1900" b="0">
                <a:solidFill>
                  <a:srgbClr val="3598DB"/>
                </a:solidFill>
                <a:latin typeface="Consolas"/>
              </a:rPr>
              <a:t>'\0'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double: ép về </a:t>
            </a:r>
            <a:r>
              <a:rPr sz="1900" b="0">
                <a:solidFill>
                  <a:srgbClr val="3598DB"/>
                </a:solidFill>
                <a:latin typeface="Consolas"/>
              </a:rPr>
              <a:t>const double *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1900" b="0">
                <a:solidFill>
                  <a:srgbClr val="3598DB"/>
                </a:solidFill>
                <a:latin typeface="Consolas"/>
              </a:rPr>
              <a:t>return x - y</a:t>
            </a:r>
            <a:r>
              <a:rPr sz="2000" b="0">
                <a:solidFill>
                  <a:srgbClr val="222B38"/>
                </a:solidFill>
                <a:latin typeface="Calibri"/>
              </a:rPr>
              <a:t> (bị cắt về int)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1436"/>
            <a:ext cx="10765231" cy="307086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07740"/>
            <a:ext cx="10362895" cy="2778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// char: {'2','8','t','e','c','h','a','z'} -&gt; 2 8 a c e h t z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char s[] = "codelab";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qsort(s, strlen(s), sizeof(s[0]), cmpChar);  // "abcdelo"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int cmpDouble(const void *a, const void *b){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double x = *(const double *)a, y = *(const double *)b;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if(x &lt; y) return -1;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if(x &gt; y) return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return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Ứng dụng: sắp trước, xử lý sau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qsort Trong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03069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Sau khi sắp, giá trị </a:t>
            </a:r>
            <a:r>
              <a:rPr sz="1800" b="1">
                <a:solidFill>
                  <a:srgbClr val="222B38"/>
                </a:solidFill>
                <a:latin typeface="Calibri"/>
              </a:rPr>
              <a:t>giống nhau</a:t>
            </a:r>
            <a:r>
              <a:rPr sz="1800" b="0">
                <a:solidFill>
                  <a:srgbClr val="222B38"/>
                </a:solidFill>
                <a:latin typeface="Calibri"/>
              </a:rPr>
              <a:t> và </a:t>
            </a:r>
            <a:r>
              <a:rPr sz="1800" b="1">
                <a:solidFill>
                  <a:srgbClr val="222B38"/>
                </a:solidFill>
                <a:latin typeface="Calibri"/>
              </a:rPr>
              <a:t>gần nhau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đứng cạnh nhau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Đếm giá trị khác nhau: đếm chỗ </a:t>
            </a:r>
            <a:r>
              <a:rPr sz="1709" b="0">
                <a:solidFill>
                  <a:srgbClr val="3598DB"/>
                </a:solidFill>
                <a:latin typeface="Consolas"/>
              </a:rPr>
              <a:t>a[i] != a[i-1]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Chênh lệch nhỏ nhất: chỉ xét cặp kề nhau, O(NlogN) thay O(N²)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Tần suất: đếm độ dài từng đoạn giá trị bằng nhau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05190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9821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qsort(a, n, sizeof(a[0]), cmpTang);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dem = 1;                       // a[0]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1;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if(a[i] != a[i - 1]) ++dem;    // so gia tri khac nhau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qsort Trong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qsort(a, n, sizeof(a[0]), cmp)</a:t>
            </a:r>
            <a:r>
              <a:rPr sz="1700" b="0">
                <a:solidFill>
                  <a:srgbClr val="222B38"/>
                </a:solidFill>
                <a:latin typeface="Calibri"/>
              </a:rPr>
              <a:t> — nhớ </a:t>
            </a:r>
            <a:r>
              <a:rPr sz="1614" b="0">
                <a:solidFill>
                  <a:srgbClr val="3598DB"/>
                </a:solidFill>
                <a:latin typeface="Consolas"/>
              </a:rPr>
              <a:t>#include &lt;stdlib.h&gt;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cmp trả </a:t>
            </a:r>
            <a:r>
              <a:rPr sz="1700" b="1">
                <a:solidFill>
                  <a:srgbClr val="222B38"/>
                </a:solidFill>
                <a:latin typeface="Calibri"/>
              </a:rPr>
              <a:t>âm / 0 / dương</a:t>
            </a:r>
            <a:r>
              <a:rPr sz="1700" b="0">
                <a:solidFill>
                  <a:srgbClr val="222B38"/>
                </a:solidFill>
                <a:latin typeface="Calibri"/>
              </a:rPr>
              <a:t>; âm nghĩa là a đứng trước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Kiểu ép trong cmp và </a:t>
            </a:r>
            <a:r>
              <a:rPr sz="1614" b="0">
                <a:solidFill>
                  <a:srgbClr val="3598DB"/>
                </a:solidFill>
                <a:latin typeface="Consolas"/>
              </a:rPr>
              <a:t>size</a:t>
            </a:r>
            <a:r>
              <a:rPr sz="1700" b="0">
                <a:solidFill>
                  <a:srgbClr val="222B38"/>
                </a:solidFill>
                <a:latin typeface="Calibri"/>
              </a:rPr>
              <a:t> phải </a:t>
            </a:r>
            <a:r>
              <a:rPr sz="1700" b="1">
                <a:solidFill>
                  <a:srgbClr val="222B38"/>
                </a:solidFill>
                <a:latin typeface="Calibri"/>
              </a:rPr>
              <a:t>khớp</a:t>
            </a:r>
            <a:r>
              <a:rPr sz="1700" b="0">
                <a:solidFill>
                  <a:srgbClr val="222B38"/>
                </a:solidFill>
                <a:latin typeface="Calibri"/>
              </a:rPr>
              <a:t> kiểu phần tử mảng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Tránh </a:t>
            </a:r>
            <a:r>
              <a:rPr sz="1614" b="0">
                <a:solidFill>
                  <a:srgbClr val="3598DB"/>
                </a:solidFill>
                <a:latin typeface="Consolas"/>
              </a:rPr>
              <a:t>return x - y</a:t>
            </a:r>
            <a:r>
              <a:rPr sz="1700" b="0">
                <a:solidFill>
                  <a:srgbClr val="222B38"/>
                </a:solidFill>
                <a:latin typeface="Calibri"/>
              </a:rPr>
              <a:t>: tràn số với int, sai với double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qsort </a:t>
            </a:r>
            <a:r>
              <a:rPr sz="1700" b="1">
                <a:solidFill>
                  <a:srgbClr val="222B38"/>
                </a:solidFill>
                <a:latin typeface="Calibri"/>
              </a:rPr>
              <a:t>không ổn định</a:t>
            </a:r>
            <a:r>
              <a:rPr sz="1700" b="0">
                <a:solidFill>
                  <a:srgbClr val="222B38"/>
                </a:solidFill>
                <a:latin typeface="Calibri"/>
              </a:rPr>
              <a:t>: phần tử bằng nhau có thể đổi chỗ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