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Con Trỏ Cấp 2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cần con trỏ cấp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Biến con trỏ cũng là biến, cũng có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 riêng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lưu địa chỉ của một con trỏ → cần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con trỏ tới con trỏ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dấu </a:t>
            </a:r>
            <a:r>
              <a:rPr sz="1900" b="0">
                <a:solidFill>
                  <a:srgbClr val="3598DB"/>
                </a:solidFill>
                <a:latin typeface="Consolas"/>
              </a:rPr>
              <a:t>*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tên biến thể hiện cấp của con trỏ (1, 2, 3...)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Khai báo và giải tham chiếu con trỏ cấp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**ptr2 = &amp;ptr1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ptr2</a:t>
            </a:r>
            <a:r>
              <a:rPr sz="2000" b="0">
                <a:solidFill>
                  <a:srgbClr val="222B38"/>
                </a:solidFill>
                <a:latin typeface="Calibri"/>
              </a:rPr>
              <a:t> lưu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 của ptr1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tham chiếu 1 lần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*ptr2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giá trị của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ptr1</a:t>
            </a:r>
            <a:r>
              <a:rPr sz="2000" b="0">
                <a:solidFill>
                  <a:srgbClr val="222B38"/>
                </a:solidFill>
                <a:latin typeface="Calibri"/>
              </a:rPr>
              <a:t> (địa chỉ của 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tham chiếu 2 lần </a:t>
            </a:r>
            <a:r>
              <a:rPr sz="1900" b="0">
                <a:solidFill>
                  <a:srgbClr val="3598DB"/>
                </a:solidFill>
                <a:latin typeface="Consolas"/>
              </a:rPr>
              <a:t>**ptr2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giá trị của 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*ptr1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**ptr2 = &amp;ptr1;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printf("%p\n", (void *)ptr2);  // dia chi cua ptr1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printf("%p\n", (void *)*ptr2); // gia tri ptr1 = dia chi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printf("%d\n", **ptr2);        // gia tri cua N =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Mở rộng: con trỏ cấp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Nguyên tắc lặp lại: mỗi cấp giải tham chiếu lùi về một tầng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*ptr3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ptr2, </a:t>
            </a:r>
            <a:r>
              <a:rPr sz="1900" b="0">
                <a:solidFill>
                  <a:srgbClr val="3598DB"/>
                </a:solidFill>
                <a:latin typeface="Consolas"/>
              </a:rPr>
              <a:t>**ptr3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ptr1, </a:t>
            </a:r>
            <a:r>
              <a:rPr sz="1900" b="0">
                <a:solidFill>
                  <a:srgbClr val="3598DB"/>
                </a:solidFill>
                <a:latin typeface="Consolas"/>
              </a:rPr>
              <a:t>***ptr3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*ptr1 = &amp;N;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**ptr2 = &amp;ptr1;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***ptr3 = &amp;ptr2;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*ptr3   -&gt; gia tri cua ptr2 (dia chi cua ptr1)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**ptr3  -&gt; gia tri cua ptr1 (dia chi cua N)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***ptr3 -&gt; gia tri cua N =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Con trỏ cấp 1 không đổi được con trỏ khác qua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7130"/>
            <a:ext cx="10765231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Truyền </a:t>
            </a:r>
            <a:r>
              <a:rPr sz="1709" b="0">
                <a:solidFill>
                  <a:srgbClr val="3598DB"/>
                </a:solidFill>
                <a:latin typeface="Consolas"/>
              </a:rPr>
              <a:t>ptr1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ptr2</a:t>
            </a:r>
            <a:r>
              <a:rPr sz="1800" b="0">
                <a:solidFill>
                  <a:srgbClr val="222B38"/>
                </a:solidFill>
                <a:latin typeface="Calibri"/>
              </a:rPr>
              <a:t> (con trỏ cấp 1) vào hàm chỉ tạo </a:t>
            </a:r>
            <a:r>
              <a:rPr sz="1800" b="1">
                <a:solidFill>
                  <a:srgbClr val="222B38"/>
                </a:solidFill>
                <a:latin typeface="Calibri"/>
              </a:rPr>
              <a:t>bản sao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709" b="0">
                <a:solidFill>
                  <a:srgbClr val="3598DB"/>
                </a:solidFill>
                <a:latin typeface="Consolas"/>
              </a:rPr>
              <a:t>x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Gán </a:t>
            </a:r>
            <a:r>
              <a:rPr sz="1709" b="0">
                <a:solidFill>
                  <a:srgbClr val="3598DB"/>
                </a:solidFill>
                <a:latin typeface="Consolas"/>
              </a:rPr>
              <a:t>x = y</a:t>
            </a:r>
            <a:r>
              <a:rPr sz="1800" b="0">
                <a:solidFill>
                  <a:srgbClr val="222B38"/>
                </a:solidFill>
                <a:latin typeface="Calibri"/>
              </a:rPr>
              <a:t> trong hàm không ảnh hưởng gì tới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ptr1</a:t>
            </a:r>
            <a:r>
              <a:rPr sz="1800" b="0">
                <a:solidFill>
                  <a:srgbClr val="222B38"/>
                </a:solidFill>
                <a:latin typeface="Calibri"/>
              </a:rPr>
              <a:t> bên ngoài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25850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72154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change(int *x, int *y)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x = y;   // chi doi ban sao x, khong doi ptr1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change(ptr1, ptr2);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ptr1 va ptr2 KHONG doi sau khi goi ham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Dùng con trỏ cấp 2 để đổi được con trỏ cấp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hàm sửa được </a:t>
            </a:r>
            <a:r>
              <a:rPr sz="1900" b="0">
                <a:solidFill>
                  <a:srgbClr val="3598DB"/>
                </a:solidFill>
                <a:latin typeface="Consolas"/>
              </a:rPr>
              <a:t>ptr1</a:t>
            </a:r>
            <a:r>
              <a:rPr sz="2000" b="0">
                <a:solidFill>
                  <a:srgbClr val="222B38"/>
                </a:solidFill>
                <a:latin typeface="Calibri"/>
              </a:rPr>
              <a:t>, phải truyền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địa chỉ của ptr1</a:t>
            </a:r>
            <a:r>
              <a:rPr sz="2000" b="0">
                <a:solidFill>
                  <a:srgbClr val="222B38"/>
                </a:solidFill>
                <a:latin typeface="Calibri"/>
              </a:rPr>
              <a:t> (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&amp;ptr1</a:t>
            </a:r>
            <a:r>
              <a:rPr sz="20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Tham số hàm nhận con trỏ cấp 2 (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**x</a:t>
            </a:r>
            <a:r>
              <a:rPr sz="2000" b="0">
                <a:solidFill>
                  <a:srgbClr val="222B38"/>
                </a:solidFill>
                <a:latin typeface="Calibri"/>
              </a:rPr>
              <a:t>), gán qua </a:t>
            </a:r>
            <a:r>
              <a:rPr sz="1900" b="0">
                <a:solidFill>
                  <a:srgbClr val="3598DB"/>
                </a:solidFill>
                <a:latin typeface="Consolas"/>
              </a:rPr>
              <a:t>*x = y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Tương tự: muốn đổi con trỏ cấp 2 qua hàm → tham số cấp 3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change(int **x, int *y)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*x = y;   // sua truc tiep gia tri cua ptr1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change(&amp;ptr1, ptr2);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ptr1 gio bang ptr2 (cung tro toi 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Con Trỏ Cấp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sửa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 biến thường</a:t>
            </a:r>
            <a:r>
              <a:rPr sz="1800" b="0">
                <a:solidFill>
                  <a:srgbClr val="222B38"/>
                </a:solidFill>
                <a:latin typeface="Calibri"/>
              </a:rPr>
              <a:t> qua hàm → dùng con trỏ cấp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Muốn sửa </a:t>
            </a:r>
            <a:r>
              <a:rPr sz="1800" b="1">
                <a:solidFill>
                  <a:srgbClr val="222B38"/>
                </a:solidFill>
                <a:latin typeface="Calibri"/>
              </a:rPr>
              <a:t>giá trị con trỏ</a:t>
            </a:r>
            <a:r>
              <a:rPr sz="1800" b="0">
                <a:solidFill>
                  <a:srgbClr val="222B38"/>
                </a:solidFill>
                <a:latin typeface="Calibri"/>
              </a:rPr>
              <a:t> qua hàm → phải dùng con trỏ cấp 2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Số dấu </a:t>
            </a:r>
            <a:r>
              <a:rPr sz="1709" b="0">
                <a:solidFill>
                  <a:srgbClr val="3598DB"/>
                </a:solidFill>
                <a:latin typeface="Consolas"/>
              </a:rPr>
              <a:t>*</a:t>
            </a:r>
            <a:r>
              <a:rPr sz="1800" b="0">
                <a:solidFill>
                  <a:srgbClr val="222B38"/>
                </a:solidFill>
                <a:latin typeface="Calibri"/>
              </a:rPr>
              <a:t> = số lần giải tham chiếu để chạm tới giá trị gốc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Nhầm lẫn phổ biến: tưởng con trỏ cấp 1 đủ để đổi con trỏ khác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