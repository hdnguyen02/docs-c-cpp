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Tập Về Dãy Số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Tổng quan 5 dạng bài về dãy 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Về Dãy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Tổng dãy con liên tiếp </a:t>
            </a:r>
            <a:r>
              <a:rPr sz="1800" b="1">
                <a:solidFill>
                  <a:srgbClr val="222B38"/>
                </a:solidFill>
                <a:latin typeface="Calibri"/>
              </a:rPr>
              <a:t>cỡ K</a:t>
            </a:r>
            <a:r>
              <a:rPr sz="1800" b="0">
                <a:solidFill>
                  <a:srgbClr val="222B38"/>
                </a:solidFill>
                <a:latin typeface="Calibri"/>
              </a:rPr>
              <a:t> cố định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Dãy con liên tiếp </a:t>
            </a:r>
            <a:r>
              <a:rPr sz="1800" b="1">
                <a:solidFill>
                  <a:srgbClr val="222B38"/>
                </a:solidFill>
                <a:latin typeface="Calibri"/>
              </a:rPr>
              <a:t>giống nhau</a:t>
            </a:r>
            <a:r>
              <a:rPr sz="1800" b="0">
                <a:solidFill>
                  <a:srgbClr val="222B38"/>
                </a:solidFill>
                <a:latin typeface="Calibri"/>
              </a:rPr>
              <a:t> / </a:t>
            </a:r>
            <a:r>
              <a:rPr sz="1800" b="1">
                <a:solidFill>
                  <a:srgbClr val="222B38"/>
                </a:solidFill>
                <a:latin typeface="Calibri"/>
              </a:rPr>
              <a:t>khác nhau liền kề</a:t>
            </a:r>
            <a:r>
              <a:rPr sz="1800" b="0">
                <a:solidFill>
                  <a:srgbClr val="222B38"/>
                </a:solidFill>
                <a:latin typeface="Calibri"/>
              </a:rPr>
              <a:t> dài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Kiểm tra mảng </a:t>
            </a:r>
            <a:r>
              <a:rPr sz="1800" b="1">
                <a:solidFill>
                  <a:srgbClr val="222B38"/>
                </a:solidFill>
                <a:latin typeface="Calibri"/>
              </a:rPr>
              <a:t>tăng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Dãy con </a:t>
            </a:r>
            <a:r>
              <a:rPr sz="1800" b="1">
                <a:solidFill>
                  <a:srgbClr val="222B38"/>
                </a:solidFill>
                <a:latin typeface="Calibri"/>
              </a:rPr>
              <a:t>nguyên tố</a:t>
            </a:r>
            <a:r>
              <a:rPr sz="1800" b="0">
                <a:solidFill>
                  <a:srgbClr val="222B38"/>
                </a:solidFill>
                <a:latin typeface="Calibri"/>
              </a:rPr>
              <a:t> liên tiếp dài nhất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Tổng các dãy con liên tiếp cỡ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Về Dãy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A[] = {3,2,1,5,6,7,2}, K=3 -&gt; các dãy con {3,2,1}, {2,1,5}, {1,5,6}...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636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chỉ số bắt đầu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 từ 0 tới N-K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Với mỗi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, cộng dồn đúng K phần tử liên tiếp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a[i..i+K-1]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51840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6471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&lt;= n - k;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0; j &lt; k; j++) tong += a[i + 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printf("%d\n", tong);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6 8 12 18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Dãy con liên tiếp giống nhau / khác nhau dài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Về Dãy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83474"/>
            <a:ext cx="10765231" cy="15735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Đếm dồn: </a:t>
            </a:r>
            <a:r>
              <a:rPr sz="1700" b="1">
                <a:solidFill>
                  <a:srgbClr val="222B38"/>
                </a:solidFill>
                <a:latin typeface="Calibri"/>
              </a:rPr>
              <a:t>giống nhau</a:t>
            </a:r>
            <a:r>
              <a:rPr sz="1700" b="0">
                <a:solidFill>
                  <a:srgbClr val="222B38"/>
                </a:solidFill>
                <a:latin typeface="Calibri"/>
              </a:rPr>
              <a:t> thì so </a:t>
            </a:r>
            <a:r>
              <a:rPr sz="1614" b="0">
                <a:solidFill>
                  <a:srgbClr val="3598DB"/>
                </a:solidFill>
                <a:latin typeface="Consolas"/>
              </a:rPr>
              <a:t>a[i]==a[i-1]</a:t>
            </a:r>
            <a:r>
              <a:rPr sz="1700" b="0">
                <a:solidFill>
                  <a:srgbClr val="222B38"/>
                </a:solidFill>
                <a:latin typeface="Calibri"/>
              </a:rPr>
              <a:t>; </a:t>
            </a:r>
            <a:r>
              <a:rPr sz="1700" b="1">
                <a:solidFill>
                  <a:srgbClr val="222B38"/>
                </a:solidFill>
                <a:latin typeface="Calibri"/>
              </a:rPr>
              <a:t>khác nhau liền kề</a:t>
            </a:r>
            <a:r>
              <a:rPr sz="1700" b="0">
                <a:solidFill>
                  <a:srgbClr val="222B38"/>
                </a:solidFill>
                <a:latin typeface="Calibri"/>
              </a:rPr>
              <a:t> thì so </a:t>
            </a:r>
            <a:r>
              <a:rPr sz="1614" b="0">
                <a:solidFill>
                  <a:srgbClr val="3598DB"/>
                </a:solidFill>
                <a:latin typeface="Consolas"/>
              </a:rPr>
              <a:t>a[i]!=a[i-1]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Thỏa điều kiện thì tăng biến đếm, không thỏa thì so kết quả rồi reset đếm về 1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Lưu ý</a:t>
            </a:r>
            <a:r>
              <a:rPr sz="1700" b="0">
                <a:solidFill>
                  <a:srgbClr val="222B38"/>
                </a:solidFill>
                <a:latin typeface="Calibri"/>
              </a:rPr>
              <a:t>: so sánh kết quả thêm 1 lần sau vòng lặp (dãy kết thúc ở cuối mảng)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02724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9028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dem = 1, res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if(a[i] == a[i-1]) ++dem;      // đổi != cho bài "khác nhau"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if(res &lt; dem) res = dem;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dem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if(dem &gt; res) res = dem;   // cập nhật lần cuối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Kiểm tra mảng tăng dần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Về Dãy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09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tăng dần: mọi cặp liền kề thỏa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 &gt;= a[i-1]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1 cặp sai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kết luận ngay mảng không tăng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cần xét </a:t>
            </a:r>
            <a:r>
              <a:rPr sz="1709" b="0">
                <a:solidFill>
                  <a:srgbClr val="3598DB"/>
                </a:solidFill>
                <a:latin typeface="Consolas"/>
              </a:rPr>
              <a:t>a[0]</a:t>
            </a:r>
            <a:r>
              <a:rPr sz="1800" b="0">
                <a:solidFill>
                  <a:srgbClr val="222B38"/>
                </a:solidFill>
                <a:latin typeface="Calibri"/>
              </a:rPr>
              <a:t> với phần tử đứng trước nó (không tồn tại)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Hàm trả </a:t>
            </a:r>
            <a:r>
              <a:rPr sz="1709" b="0">
                <a:solidFill>
                  <a:srgbClr val="3598DB"/>
                </a:solidFill>
                <a:latin typeface="Consolas"/>
              </a:rPr>
              <a:t>bool</a:t>
            </a:r>
            <a:r>
              <a:rPr sz="1800" b="0">
                <a:solidFill>
                  <a:srgbClr val="222B38"/>
                </a:solidFill>
                <a:latin typeface="Calibri"/>
              </a:rPr>
              <a:t> cần </a:t>
            </a:r>
            <a:r>
              <a:rPr sz="1709" b="0">
                <a:solidFill>
                  <a:srgbClr val="3598DB"/>
                </a:solidFill>
                <a:latin typeface="Consolas"/>
              </a:rPr>
              <a:t>#include &lt;stdbool.h&gt;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4893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24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&lt;stdbool.h&gt;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check(int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&lt; a[i-1])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Dãy con nguyên tố liên tiếp dài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Về Dãy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A[]={2,3,5,8,7,11,19,4,10,23,5} -&gt; dãy {7,11,19} dài nhất và có tổng lớn nhất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69954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Duyệt mảng, gặp số nguyên tố thì cộng dồn đếm và tổng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Gặp số không nguyên tố: cập nhật kết quả rồi reset đếm, tổng về 0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Ưu tiên dãy </a:t>
            </a:r>
            <a:r>
              <a:rPr sz="1700" b="1">
                <a:solidFill>
                  <a:srgbClr val="222B38"/>
                </a:solidFill>
                <a:latin typeface="Calibri"/>
              </a:rPr>
              <a:t>dài hơn</a:t>
            </a:r>
            <a:r>
              <a:rPr sz="1700" b="0">
                <a:solidFill>
                  <a:srgbClr val="222B38"/>
                </a:solidFill>
                <a:latin typeface="Calibri"/>
              </a:rPr>
              <a:t>; bằng độ dài thì ưu tiên </a:t>
            </a:r>
            <a:r>
              <a:rPr sz="1700" b="1">
                <a:solidFill>
                  <a:srgbClr val="222B38"/>
                </a:solidFill>
                <a:latin typeface="Calibri"/>
              </a:rPr>
              <a:t>tổng lớn hơn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Lưu ý</a:t>
            </a:r>
            <a:r>
              <a:rPr sz="1700" b="0">
                <a:solidFill>
                  <a:srgbClr val="222B38"/>
                </a:solidFill>
                <a:latin typeface="Calibri"/>
              </a:rPr>
              <a:t>: so sánh thêm 1 lần nếu dãy kết thúc tại cuối mảng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prime</a:t>
            </a:r>
            <a:r>
              <a:rPr sz="1700" b="0">
                <a:solidFill>
                  <a:srgbClr val="222B38"/>
                </a:solidFill>
                <a:latin typeface="Calibri"/>
              </a:rPr>
              <a:t>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sqrt</a:t>
            </a:r>
            <a:r>
              <a:rPr sz="1700" b="0">
                <a:solidFill>
                  <a:srgbClr val="222B38"/>
                </a:solidFill>
                <a:latin typeface="Calibri"/>
              </a:rPr>
              <a:t> nên cần </a:t>
            </a:r>
            <a:r>
              <a:rPr sz="1614" b="0">
                <a:solidFill>
                  <a:srgbClr val="3598DB"/>
                </a:solidFill>
                <a:latin typeface="Consolas"/>
              </a:rPr>
              <a:t>#include &lt;math.h&gt;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096264"/>
            <a:ext cx="10765231" cy="225031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42568"/>
            <a:ext cx="10362895" cy="1957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FF7"/>
                </a:solidFill>
                <a:latin typeface="Consolas"/>
              </a:rPr>
              <a:t>int dem=0, tong=0, res_dem=0, res_tong=0;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FF7"/>
                </a:solidFill>
                <a:latin typeface="Consolas"/>
              </a:rPr>
              <a:t>for(int i = 0;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FF7"/>
                </a:solidFill>
                <a:latin typeface="Consolas"/>
              </a:rPr>
              <a:t>    if(prime(a[i])){ ++dem; tong += a[i];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FF7"/>
                </a:solidFill>
                <a:latin typeface="Consolas"/>
              </a:rPr>
              <a:t>    else{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FF7"/>
                </a:solidFill>
                <a:latin typeface="Consolas"/>
              </a:rPr>
              <a:t>        if(dem &gt; res_dem || (dem==res_dem &amp;&amp; tong&gt;res_tong)){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FF7"/>
                </a:solidFill>
                <a:latin typeface="Consolas"/>
              </a:rPr>
              <a:t>            res_dem = dem; res_tong = tong;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FF7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FF7"/>
                </a:solidFill>
                <a:latin typeface="Consolas"/>
              </a:rPr>
              <a:t>        dem = 0;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FF7"/>
                </a:solidFill>
                <a:latin typeface="Consolas"/>
              </a:rPr>
              <a:t>// so sánh lần cuối tương tự sau vòng lặp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Về Dãy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Dạng "dãy con liên tiếp" luôn cần 1 biến đếm + so sánh phần tử liền kề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Lỗi hay gặp</a:t>
            </a:r>
            <a:r>
              <a:rPr sz="1800" b="0">
                <a:solidFill>
                  <a:srgbClr val="222B38"/>
                </a:solidFill>
                <a:latin typeface="Calibri"/>
              </a:rPr>
              <a:t>: quên cập nhật kết quả sau khi vòng lặp kết thúc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Dãy con cỡ K cố định: duyệt chỉ số bắt đầu rồi cộng dồn K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Dãy nguyên tố dài nhất: vừa đếm liên tiếp vừa so tổng khi bằng độ dài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