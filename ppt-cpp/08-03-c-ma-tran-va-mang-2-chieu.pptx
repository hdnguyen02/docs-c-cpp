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Ma Trận Và Mảng 2 Chiều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Ma trận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Và Mảng 2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Bảng số gồm </a:t>
            </a:r>
            <a:r>
              <a:rPr sz="2000" b="1">
                <a:solidFill>
                  <a:srgbClr val="222B38"/>
                </a:solidFill>
                <a:latin typeface="Calibri"/>
              </a:rPr>
              <a:t>hàng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</a:t>
            </a:r>
            <a:r>
              <a:rPr sz="2000" b="1">
                <a:solidFill>
                  <a:srgbClr val="222B38"/>
                </a:solidFill>
                <a:latin typeface="Calibri"/>
              </a:rPr>
              <a:t>cột</a:t>
            </a:r>
            <a:r>
              <a:rPr sz="2000" b="0">
                <a:solidFill>
                  <a:srgbClr val="222B38"/>
                </a:solidFill>
                <a:latin typeface="Calibri"/>
              </a:rPr>
              <a:t>, ký hiệu ma trận cỡ n×m là A(n×m)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Lưu trong C bằng </a:t>
            </a:r>
            <a:r>
              <a:rPr sz="2000" b="1">
                <a:solidFill>
                  <a:srgbClr val="222B38"/>
                </a:solidFill>
                <a:latin typeface="Calibri"/>
              </a:rPr>
              <a:t>mảng 2 chiều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Ma trận </a:t>
            </a:r>
            <a:r>
              <a:rPr sz="2000" b="1">
                <a:solidFill>
                  <a:srgbClr val="222B38"/>
                </a:solidFill>
                <a:latin typeface="Calibri"/>
              </a:rPr>
              <a:t>vuông</a:t>
            </a:r>
            <a:r>
              <a:rPr sz="2000" b="0">
                <a:solidFill>
                  <a:srgbClr val="222B38"/>
                </a:solidFill>
                <a:latin typeface="Calibri"/>
              </a:rPr>
              <a:t>: số hàng bằng số cột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a[3][3] =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{1, 2, 3},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{4, 5, 6},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{7, 8, 9}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a[i][j]: i = hàng (0..2), j = cột (0..2)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Đường chéo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Và Mảng 2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1104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Gồm các phần tử có </a:t>
            </a:r>
            <a:r>
              <a:rPr sz="2000" b="1">
                <a:solidFill>
                  <a:srgbClr val="222B38"/>
                </a:solidFill>
                <a:latin typeface="Calibri"/>
              </a:rPr>
              <a:t>chỉ số hàng = chỉ số cột</a:t>
            </a:r>
            <a:r>
              <a:rPr sz="2000" b="0">
                <a:solidFill>
                  <a:srgbClr val="222B38"/>
                </a:solidFill>
                <a:latin typeface="Calibri"/>
              </a:rPr>
              <a:t>: </a:t>
            </a:r>
            <a:r>
              <a:rPr sz="1900" b="0">
                <a:solidFill>
                  <a:srgbClr val="3598DB"/>
                </a:solidFill>
                <a:latin typeface="Consolas"/>
              </a:rPr>
              <a:t>a[i][i]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xét được trên ma trận </a:t>
            </a:r>
            <a:r>
              <a:rPr sz="2000" b="1">
                <a:solidFill>
                  <a:srgbClr val="222B38"/>
                </a:solidFill>
                <a:latin typeface="Calibri"/>
              </a:rPr>
              <a:t>vuông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65805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12109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a[3][3] =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{1, 2, 3},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{4, 5, 6},   // 5 nằm trên đường chéo chính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{7, 8, 9}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đường chéo chính: a[0][0]=1  a[1][1]=5  a[2][2]=9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(nt(a[i][i])) printf("%d ", a[i][i]);   // lọc số nguyên tố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Đường chéo phụ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Và Mảng 2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1203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Gồm các phần tử </a:t>
            </a:r>
            <a:r>
              <a:rPr sz="1900" b="0">
                <a:solidFill>
                  <a:srgbClr val="3598DB"/>
                </a:solidFill>
                <a:latin typeface="Consolas"/>
              </a:rPr>
              <a:t>a[i][n-i-1]</a:t>
            </a:r>
            <a:r>
              <a:rPr sz="2000" b="0">
                <a:solidFill>
                  <a:srgbClr val="222B38"/>
                </a:solidFill>
                <a:latin typeface="Calibri"/>
              </a:rPr>
              <a:t> — hàng </a:t>
            </a:r>
            <a:r>
              <a:rPr sz="1900" b="0">
                <a:solidFill>
                  <a:srgbClr val="3598DB"/>
                </a:solidFill>
                <a:latin typeface="Consolas"/>
              </a:rPr>
              <a:t>i</a:t>
            </a:r>
            <a:r>
              <a:rPr sz="2000" b="0">
                <a:solidFill>
                  <a:srgbClr val="222B38"/>
                </a:solidFill>
                <a:latin typeface="Calibri"/>
              </a:rPr>
              <a:t>, cột đối xứng qua tâm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Với n = 3: đó là </a:t>
            </a:r>
            <a:r>
              <a:rPr sz="1900" b="0">
                <a:solidFill>
                  <a:srgbClr val="3598DB"/>
                </a:solidFill>
                <a:latin typeface="Consolas"/>
              </a:rPr>
              <a:t>a[0][2]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a[1][1]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a[2][0]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066796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13100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a[3][3] =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{1, 2, 3},   // 3 nằm trên đường chéo phụ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{4, 5, 6},   // 5 nằm trên đường chéo phụ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{7, 8, 9}    // 7 nằm trên đường chéo phụ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(nt(a[i][n - i - 1])) printf("%d ", a[i][n - i - 1]);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Tam giác dưới, tam giác trên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Và Mảng 2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Tam giác dưới</a:t>
            </a:r>
            <a:r>
              <a:rPr sz="2000" b="0">
                <a:solidFill>
                  <a:srgbClr val="222B38"/>
                </a:solidFill>
                <a:latin typeface="Calibri"/>
              </a:rPr>
              <a:t>: từ đường chéo chính đổ xuống, điều kiện </a:t>
            </a:r>
            <a:r>
              <a:rPr sz="1900" b="0">
                <a:solidFill>
                  <a:srgbClr val="3598DB"/>
                </a:solidFill>
                <a:latin typeface="Consolas"/>
              </a:rPr>
              <a:t>j &lt;= 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Tam giác trên</a:t>
            </a:r>
            <a:r>
              <a:rPr sz="2000" b="0">
                <a:solidFill>
                  <a:srgbClr val="222B38"/>
                </a:solidFill>
                <a:latin typeface="Calibri"/>
              </a:rPr>
              <a:t>: từ đường chéo chính đổ lên, điều kiện </a:t>
            </a:r>
            <a:r>
              <a:rPr sz="1900" b="0">
                <a:solidFill>
                  <a:srgbClr val="3598DB"/>
                </a:solidFill>
                <a:latin typeface="Consolas"/>
              </a:rPr>
              <a:t>j &gt;= 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Tam giác dưới: j chạy từ 0 đến 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j = 0; j &lt;= i; j++) tong += a[i][j];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Tam giác trên: j chạy từ i đến n-1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j = i; j &lt; n; j++) tong += a[i][j];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Ma trận chuyển vị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Và Mảng 2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15007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Ma trận A(n×m) → chuyển vị AT(m×n)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Hàng của A trở thành cột của AT: </a:t>
            </a:r>
            <a:r>
              <a:rPr sz="1900" b="0">
                <a:solidFill>
                  <a:srgbClr val="3598DB"/>
                </a:solidFill>
                <a:latin typeface="Consolas"/>
              </a:rPr>
              <a:t>b[i][j] = a[j][i]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369767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16071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a[3][4] = { ... };   // n=3 hàng, m=4 cột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b[4][3];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m;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j = 0; j &lt; n; j++)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b[i][j] = a[j][i];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Và Mảng 2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Ma trận = mảng 2 chiều; ma trận </a:t>
            </a:r>
            <a:r>
              <a:rPr sz="1800" b="1">
                <a:solidFill>
                  <a:srgbClr val="222B38"/>
                </a:solidFill>
                <a:latin typeface="Calibri"/>
              </a:rPr>
              <a:t>vuông</a:t>
            </a:r>
            <a:r>
              <a:rPr sz="1800" b="0">
                <a:solidFill>
                  <a:srgbClr val="222B38"/>
                </a:solidFill>
                <a:latin typeface="Calibri"/>
              </a:rPr>
              <a:t> có số hàng = số cột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Đường chéo chính: </a:t>
            </a:r>
            <a:r>
              <a:rPr sz="1709" b="0">
                <a:solidFill>
                  <a:srgbClr val="3598DB"/>
                </a:solidFill>
                <a:latin typeface="Consolas"/>
              </a:rPr>
              <a:t>a[i][i]</a:t>
            </a:r>
            <a:r>
              <a:rPr sz="1800" b="0">
                <a:solidFill>
                  <a:srgbClr val="222B38"/>
                </a:solidFill>
                <a:latin typeface="Calibri"/>
              </a:rPr>
              <a:t>; đường chéo phụ: </a:t>
            </a:r>
            <a:r>
              <a:rPr sz="1709" b="0">
                <a:solidFill>
                  <a:srgbClr val="3598DB"/>
                </a:solidFill>
                <a:latin typeface="Consolas"/>
              </a:rPr>
              <a:t>a[i][n-i-1]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Tam giác dưới </a:t>
            </a:r>
            <a:r>
              <a:rPr sz="1709" b="0">
                <a:solidFill>
                  <a:srgbClr val="3598DB"/>
                </a:solidFill>
                <a:latin typeface="Consolas"/>
              </a:rPr>
              <a:t>j &lt;= i</a:t>
            </a:r>
            <a:r>
              <a:rPr sz="1800" b="0">
                <a:solidFill>
                  <a:srgbClr val="222B38"/>
                </a:solidFill>
                <a:latin typeface="Calibri"/>
              </a:rPr>
              <a:t>, tam giác trên </a:t>
            </a:r>
            <a:r>
              <a:rPr sz="1709" b="0">
                <a:solidFill>
                  <a:srgbClr val="3598DB"/>
                </a:solidFill>
                <a:latin typeface="Consolas"/>
              </a:rPr>
              <a:t>j &gt;= 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Chuyển vị: đổi vai trò hàng-cột, kích thước mảng kết quả cũng đổi theo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