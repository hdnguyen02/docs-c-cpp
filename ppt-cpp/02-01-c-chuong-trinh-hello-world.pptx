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Chương Trình Hello World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Chương trình đơn giản nhất khi học một ngôn ngữ mới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Giúp hiểu </a:t>
            </a:r>
            <a:r>
              <a:rPr sz="2000" b="1">
                <a:solidFill>
                  <a:srgbClr val="222B38"/>
                </a:solidFill>
                <a:latin typeface="Calibri"/>
              </a:rPr>
              <a:t>cấu trúc</a:t>
            </a:r>
            <a:r>
              <a:rPr sz="2000" b="0">
                <a:solidFill>
                  <a:srgbClr val="222B38"/>
                </a:solidFill>
                <a:latin typeface="Calibri"/>
              </a:rPr>
              <a:t> cơ bản của chương trình 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Lưu mã nguồn vào file đuôi </a:t>
            </a:r>
            <a:r>
              <a:rPr sz="1900" b="0">
                <a:solidFill>
                  <a:srgbClr val="3598DB"/>
                </a:solidFill>
                <a:latin typeface="Consolas"/>
              </a:rPr>
              <a:t>.c</a:t>
            </a:r>
            <a:r>
              <a:rPr sz="2000" b="0">
                <a:solidFill>
                  <a:srgbClr val="222B38"/>
                </a:solidFill>
                <a:latin typeface="Calibri"/>
              </a:rPr>
              <a:t>, ví dụ </a:t>
            </a:r>
            <a:r>
              <a:rPr sz="1900" b="0">
                <a:solidFill>
                  <a:srgbClr val="3598DB"/>
                </a:solidFill>
                <a:latin typeface="Consolas"/>
              </a:rPr>
              <a:t>hello.c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&lt;stdio.h&gt;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printf("Hello World !\n");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printf("codelab tutorial !\n");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Hello World !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codelab tutorial 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2 phần chính của chương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Thư viện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#include &lt;stdio.h&gt;</a:t>
            </a:r>
            <a:r>
              <a:rPr sz="1800" b="0">
                <a:solidFill>
                  <a:srgbClr val="222B38"/>
                </a:solidFill>
                <a:latin typeface="Calibri"/>
              </a:rPr>
              <a:t> nạp công cụ nhập/xuất chuẩn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Quên </a:t>
            </a:r>
            <a:r>
              <a:rPr sz="1709" b="0">
                <a:solidFill>
                  <a:srgbClr val="3598DB"/>
                </a:solidFill>
                <a:latin typeface="Consolas"/>
              </a:rPr>
              <a:t>#include</a:t>
            </a:r>
            <a:r>
              <a:rPr sz="1800" b="0">
                <a:solidFill>
                  <a:srgbClr val="222B38"/>
                </a:solidFill>
                <a:latin typeface="Calibri"/>
              </a:rPr>
              <a:t> thì báo </a:t>
            </a:r>
            <a:r>
              <a:rPr sz="1709" b="0">
                <a:solidFill>
                  <a:srgbClr val="3598DB"/>
                </a:solidFill>
                <a:latin typeface="Consolas"/>
              </a:rPr>
              <a:t>implicit declaration of function 'printf'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có namespace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using namespace std;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Hàm main</a:t>
            </a:r>
            <a:r>
              <a:rPr sz="1800" b="0">
                <a:solidFill>
                  <a:srgbClr val="222B38"/>
                </a:solidFill>
                <a:latin typeface="Calibri"/>
              </a:rPr>
              <a:t>: nơi chương trình bắt đầu chạy, thiếu là không chạy được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printf: in nội dung ra màn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Nội dung đặt trong </a:t>
            </a:r>
            <a:r>
              <a:rPr sz="1900" b="0">
                <a:solidFill>
                  <a:srgbClr val="3598DB"/>
                </a:solidFill>
                <a:latin typeface="Consolas"/>
              </a:rPr>
              <a:t>" "</a:t>
            </a:r>
            <a:r>
              <a:rPr sz="2000" b="0">
                <a:solidFill>
                  <a:srgbClr val="222B38"/>
                </a:solidFill>
                <a:latin typeface="Calibri"/>
              </a:rPr>
              <a:t>, bên trong cặp ngoặc tròn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printf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tự xuống dòng</a:t>
            </a:r>
            <a:r>
              <a:rPr sz="2000" b="0">
                <a:solidFill>
                  <a:srgbClr val="222B38"/>
                </a:solidFill>
                <a:latin typeface="Calibri"/>
              </a:rPr>
              <a:t>, phải thêm </a:t>
            </a:r>
            <a:r>
              <a:rPr sz="1900" b="0">
                <a:solidFill>
                  <a:srgbClr val="3598DB"/>
                </a:solidFill>
                <a:latin typeface="Consolas"/>
              </a:rPr>
              <a:t>\n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Đặc tả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%s</a:t>
            </a:r>
            <a:r>
              <a:rPr sz="2000" b="0">
                <a:solidFill>
                  <a:srgbClr val="222B38"/>
                </a:solidFill>
                <a:latin typeface="Calibri"/>
              </a:rPr>
              <a:t> thay bằng đoạn text truyền phía sau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printf("Hello\nWorld !\n");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printf("codelab\ntutorial !\nC\nJava\n");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printf("Text1");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 @ 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printf("Text 2");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printf("-Text3.codelab!\n");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printf("%s @ %s-%s.%s\n", "Text1", "Text 2", "Text3", "codelab!");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Text1 @ Text 2-Text3.codelab!  (in 2 lần)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puts: in và tự xuống dòng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puts</a:t>
            </a:r>
            <a:r>
              <a:rPr sz="2000" b="0">
                <a:solidFill>
                  <a:srgbClr val="222B38"/>
                </a:solidFill>
                <a:latin typeface="Calibri"/>
              </a:rPr>
              <a:t> in một đoạn text rồi </a:t>
            </a:r>
            <a:r>
              <a:rPr sz="2000" b="1">
                <a:solidFill>
                  <a:srgbClr val="222B38"/>
                </a:solidFill>
                <a:latin typeface="Calibri"/>
              </a:rPr>
              <a:t>tự động xuống dòng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cần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\n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dùng được đặc tả như </a:t>
            </a:r>
            <a:r>
              <a:rPr sz="1900" b="0">
                <a:solidFill>
                  <a:srgbClr val="3598DB"/>
                </a:solidFill>
                <a:latin typeface="Consolas"/>
              </a:rPr>
              <a:t>%s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puts("Hello");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puts("codelab");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printf("@\n");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puts("C tutorial");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Hello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codelab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@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 tutorial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Câu lệnh return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09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Đặt cuối hàm </a:t>
            </a:r>
            <a:r>
              <a:rPr sz="1709" b="0">
                <a:solidFill>
                  <a:srgbClr val="3598DB"/>
                </a:solidFill>
                <a:latin typeface="Consolas"/>
              </a:rPr>
              <a:t>main</a:t>
            </a:r>
            <a:r>
              <a:rPr sz="1800" b="0">
                <a:solidFill>
                  <a:srgbClr val="222B38"/>
                </a:solidFill>
                <a:latin typeface="Calibri"/>
              </a:rPr>
              <a:t>, là giá trị trả về khi chạy xong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return 0</a:t>
            </a:r>
            <a:r>
              <a:rPr sz="1800" b="0">
                <a:solidFill>
                  <a:srgbClr val="222B38"/>
                </a:solidFill>
                <a:latin typeface="Calibri"/>
              </a:rPr>
              <a:t> nghĩa là chương trình chạy đúng, không lỗi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Chương trình </a:t>
            </a:r>
            <a:r>
              <a:rPr sz="1800" b="1">
                <a:solidFill>
                  <a:srgbClr val="222B38"/>
                </a:solidFill>
                <a:latin typeface="Calibri"/>
              </a:rPr>
              <a:t>kết thúc ngay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gặp </a:t>
            </a:r>
            <a:r>
              <a:rPr sz="1709" b="0">
                <a:solidFill>
                  <a:srgbClr val="3598DB"/>
                </a:solidFill>
                <a:latin typeface="Consolas"/>
              </a:rPr>
              <a:t>return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</a:t>
            </a:r>
            <a:r>
              <a:rPr sz="1709" b="0">
                <a:solidFill>
                  <a:srgbClr val="3598DB"/>
                </a:solidFill>
                <a:latin typeface="Consolas"/>
              </a:rPr>
              <a:t>main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Giá trị trả về khác 0 thường báo hiệu có lỗi runtime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4893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24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printf("hello codelab !\n");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printf("C tutorial !\n");  // không bao giờ chạy tới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Output: hello codelab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Chương trình C gồm </a:t>
            </a:r>
            <a:r>
              <a:rPr sz="1800" b="1">
                <a:solidFill>
                  <a:srgbClr val="222B38"/>
                </a:solidFill>
                <a:latin typeface="Calibri"/>
              </a:rPr>
              <a:t>thư viện</a:t>
            </a:r>
            <a:r>
              <a:rPr sz="1800" b="0">
                <a:solidFill>
                  <a:srgbClr val="222B38"/>
                </a:solidFill>
                <a:latin typeface="Calibri"/>
              </a:rPr>
              <a:t> (</a:t>
            </a:r>
            <a:r>
              <a:rPr sz="1709" b="0">
                <a:solidFill>
                  <a:srgbClr val="3598DB"/>
                </a:solidFill>
                <a:latin typeface="Consolas"/>
              </a:rPr>
              <a:t>#include &lt;stdio.h&gt;</a:t>
            </a:r>
            <a:r>
              <a:rPr sz="1800" b="0">
                <a:solidFill>
                  <a:srgbClr val="222B38"/>
                </a:solidFill>
                <a:latin typeface="Calibri"/>
              </a:rPr>
              <a:t>) và </a:t>
            </a:r>
            <a:r>
              <a:rPr sz="1800" b="1">
                <a:solidFill>
                  <a:srgbClr val="222B38"/>
                </a:solidFill>
                <a:latin typeface="Calibri"/>
              </a:rPr>
              <a:t>hàm main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printf</a:t>
            </a:r>
            <a:r>
              <a:rPr sz="1800" b="0">
                <a:solidFill>
                  <a:srgbClr val="222B38"/>
                </a:solidFill>
                <a:latin typeface="Calibri"/>
              </a:rPr>
              <a:t> không tự xuống dòng, cần </a:t>
            </a:r>
            <a:r>
              <a:rPr sz="1709" b="0">
                <a:solidFill>
                  <a:srgbClr val="3598DB"/>
                </a:solidFill>
                <a:latin typeface="Consolas"/>
              </a:rPr>
              <a:t>\n</a:t>
            </a:r>
            <a:r>
              <a:rPr sz="1800" b="0">
                <a:solidFill>
                  <a:srgbClr val="222B38"/>
                </a:solidFill>
                <a:latin typeface="Calibri"/>
              </a:rPr>
              <a:t>; </a:t>
            </a:r>
            <a:r>
              <a:rPr sz="1709" b="0">
                <a:solidFill>
                  <a:srgbClr val="3598DB"/>
                </a:solidFill>
                <a:latin typeface="Consolas"/>
              </a:rPr>
              <a:t>puts</a:t>
            </a:r>
            <a:r>
              <a:rPr sz="1800" b="0">
                <a:solidFill>
                  <a:srgbClr val="222B38"/>
                </a:solidFill>
                <a:latin typeface="Calibri"/>
              </a:rPr>
              <a:t> tự xuống dòng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return 0;</a:t>
            </a:r>
            <a:r>
              <a:rPr sz="1800" b="0">
                <a:solidFill>
                  <a:srgbClr val="222B38"/>
                </a:solidFill>
                <a:latin typeface="Calibri"/>
              </a:rPr>
              <a:t> kết thúc </a:t>
            </a:r>
            <a:r>
              <a:rPr sz="1709" b="0">
                <a:solidFill>
                  <a:srgbClr val="3598DB"/>
                </a:solidFill>
                <a:latin typeface="Consolas"/>
              </a:rPr>
              <a:t>main</a:t>
            </a:r>
            <a:r>
              <a:rPr sz="1800" b="0">
                <a:solidFill>
                  <a:srgbClr val="222B38"/>
                </a:solidFill>
                <a:latin typeface="Calibri"/>
              </a:rPr>
              <a:t> ngay lập tức, code sau bị bỏ qua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 không 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cout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endl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namespace</a:t>
            </a:r>
            <a:r>
              <a:rPr sz="1800" b="0">
                <a:solidFill>
                  <a:srgbClr val="222B38"/>
                </a:solidFill>
                <a:latin typeface="Calibri"/>
              </a:rPr>
              <a:t> như C++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