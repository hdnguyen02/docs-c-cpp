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Hàm bsearch Và Tự Cài lower_bound, upper_bound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Tìm kiếm nhị phân trong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bsearch Và Tự Cài lower_bound, upper_bound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Chỉ dùng trên mảng </a:t>
            </a:r>
            <a:r>
              <a:rPr sz="1700" b="1">
                <a:solidFill>
                  <a:srgbClr val="222B38"/>
                </a:solidFill>
                <a:latin typeface="Calibri"/>
              </a:rPr>
              <a:t>đã sắp xếp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bsearch</a:t>
            </a:r>
            <a:r>
              <a:rPr sz="1700" b="0">
                <a:solidFill>
                  <a:srgbClr val="222B38"/>
                </a:solidFill>
                <a:latin typeface="Calibri"/>
              </a:rPr>
              <a:t> (</a:t>
            </a:r>
            <a:r>
              <a:rPr sz="1614" b="0">
                <a:solidFill>
                  <a:srgbClr val="3598DB"/>
                </a:solidFill>
                <a:latin typeface="Consolas"/>
              </a:rPr>
              <a:t>stdlib.h</a:t>
            </a:r>
            <a:r>
              <a:rPr sz="1700" b="0">
                <a:solidFill>
                  <a:srgbClr val="222B38"/>
                </a:solidFill>
                <a:latin typeface="Calibri"/>
              </a:rPr>
              <a:t>): có sẵn, trả con trỏ hoặc </a:t>
            </a:r>
            <a:r>
              <a:rPr sz="1614" b="0">
                <a:solidFill>
                  <a:srgbClr val="3598DB"/>
                </a:solidFill>
                <a:latin typeface="Consolas"/>
              </a:rPr>
              <a:t>NULL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lower_bound</a:t>
            </a:r>
            <a:r>
              <a:rPr sz="1700" b="0">
                <a:solidFill>
                  <a:srgbClr val="222B38"/>
                </a:solidFill>
                <a:latin typeface="Calibri"/>
              </a:rPr>
              <a:t>: chỉ số đầu tiên </a:t>
            </a:r>
            <a:r>
              <a:rPr sz="1700" b="1">
                <a:solidFill>
                  <a:srgbClr val="222B38"/>
                </a:solidFill>
                <a:latin typeface="Calibri"/>
              </a:rPr>
              <a:t>≥ X</a:t>
            </a:r>
            <a:r>
              <a:rPr sz="1700" b="0">
                <a:solidFill>
                  <a:srgbClr val="222B38"/>
                </a:solidFill>
                <a:latin typeface="Calibri"/>
              </a:rPr>
              <a:t> — tự viết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upper_bound</a:t>
            </a:r>
            <a:r>
              <a:rPr sz="1700" b="0">
                <a:solidFill>
                  <a:srgbClr val="222B38"/>
                </a:solidFill>
                <a:latin typeface="Calibri"/>
              </a:rPr>
              <a:t>: chỉ số đầu tiên </a:t>
            </a:r>
            <a:r>
              <a:rPr sz="1700" b="1">
                <a:solidFill>
                  <a:srgbClr val="222B38"/>
                </a:solidFill>
                <a:latin typeface="Calibri"/>
              </a:rPr>
              <a:t>&gt; X</a:t>
            </a:r>
            <a:r>
              <a:rPr sz="1700" b="0">
                <a:solidFill>
                  <a:srgbClr val="222B38"/>
                </a:solidFill>
                <a:latin typeface="Calibri"/>
              </a:rPr>
              <a:t> — tự viết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Độ phức tạp cả 3: </a:t>
            </a:r>
            <a:r>
              <a:rPr sz="1700" b="1">
                <a:solidFill>
                  <a:srgbClr val="222B38"/>
                </a:solidFill>
                <a:latin typeface="Calibri"/>
              </a:rPr>
              <a:t>O(logN)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bsearch()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bsearch Và Tự Cài lower_bound, upper_bound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so sánh giống </a:t>
            </a:r>
            <a:r>
              <a:rPr sz="1900" b="0">
                <a:solidFill>
                  <a:srgbClr val="3598DB"/>
                </a:solidFill>
                <a:latin typeface="Consolas"/>
              </a:rPr>
              <a:t>qsort</a:t>
            </a:r>
            <a:r>
              <a:rPr sz="2000" b="0">
                <a:solidFill>
                  <a:srgbClr val="222B38"/>
                </a:solidFill>
                <a:latin typeface="Calibri"/>
              </a:rPr>
              <a:t>, được gọi </a:t>
            </a:r>
            <a:r>
              <a:rPr sz="1900" b="0">
                <a:solidFill>
                  <a:srgbClr val="3598DB"/>
                </a:solidFill>
                <a:latin typeface="Consolas"/>
              </a:rPr>
              <a:t>cmp(key, phần_tử)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con trỏ tới phần tử bằng X, không có → </a:t>
            </a:r>
            <a:r>
              <a:rPr sz="1900" b="0">
                <a:solidFill>
                  <a:srgbClr val="3598DB"/>
                </a:solidFill>
                <a:latin typeface="Consolas"/>
              </a:rPr>
              <a:t>NULL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Lấy chỉ số bằng phép trừ con trỏ </a:t>
            </a:r>
            <a:r>
              <a:rPr sz="1900" b="0">
                <a:solidFill>
                  <a:srgbClr val="3598DB"/>
                </a:solidFill>
                <a:latin typeface="Consolas"/>
              </a:rPr>
              <a:t>p - a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8068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2699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*bsearch(const void *key, const void *base, size_t n,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      size_t size, int (*cmp)(const void *, const void *));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bsearch()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bsearch Và Tự Cài lower_bound, upper_bound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Nhiều phần tử bằng X: chuẩn C không quy định bsearch trả về phần tử nào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399842"/>
            <a:ext cx="10765231" cy="296265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46146"/>
            <a:ext cx="10362895" cy="2670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cmp(const void *a, const void *b){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x = *(const int*)a, y = *(const int*)b;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(x &gt; y) - (x &lt; y);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a[10] = {1,2,3,5,5,6,8,9,14,21}, X = 6;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 = bsearch(&amp;X, a, 10, sizeof(int), cmp);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if(p != NULL) printf("%d\n", (int)(p - a));   // 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doan chi so [L, R]: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bsearch(&amp;X, a + L, R - L + 1, sizeof(int), cmp);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Tự cài lower_bound()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bsearch Và Tự Cài lower_bound, upper_bound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910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Tìm trên nửa khoảng </a:t>
            </a:r>
            <a:r>
              <a:rPr sz="1709" b="0">
                <a:solidFill>
                  <a:srgbClr val="3598DB"/>
                </a:solidFill>
                <a:latin typeface="Consolas"/>
              </a:rPr>
              <a:t>[l, r)</a:t>
            </a:r>
            <a:r>
              <a:rPr sz="1800" b="0">
                <a:solidFill>
                  <a:srgbClr val="222B38"/>
                </a:solidFill>
                <a:latin typeface="Calibri"/>
              </a:rPr>
              <a:t>, ban đầu </a:t>
            </a:r>
            <a:r>
              <a:rPr sz="1709" b="0">
                <a:solidFill>
                  <a:srgbClr val="3598DB"/>
                </a:solidFill>
                <a:latin typeface="Consolas"/>
              </a:rPr>
              <a:t>l = 0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r = 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a[m] &lt; x</a:t>
            </a:r>
            <a:r>
              <a:rPr sz="1800" b="0">
                <a:solidFill>
                  <a:srgbClr val="222B38"/>
                </a:solidFill>
                <a:latin typeface="Calibri"/>
              </a:rPr>
              <a:t> → đáp án bên phải: </a:t>
            </a:r>
            <a:r>
              <a:rPr sz="1709" b="0">
                <a:solidFill>
                  <a:srgbClr val="3598DB"/>
                </a:solidFill>
                <a:latin typeface="Consolas"/>
              </a:rPr>
              <a:t>l = m + 1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Ngược lại </a:t>
            </a:r>
            <a:r>
              <a:rPr sz="1709" b="0">
                <a:solidFill>
                  <a:srgbClr val="3598DB"/>
                </a:solidFill>
                <a:latin typeface="Consolas"/>
              </a:rPr>
              <a:t>a[m]</a:t>
            </a:r>
            <a:r>
              <a:rPr sz="1800" b="0">
                <a:solidFill>
                  <a:srgbClr val="222B38"/>
                </a:solidFill>
                <a:latin typeface="Calibri"/>
              </a:rPr>
              <a:t> có thể là đáp án: </a:t>
            </a:r>
            <a:r>
              <a:rPr sz="1709" b="0">
                <a:solidFill>
                  <a:srgbClr val="3598DB"/>
                </a:solidFill>
                <a:latin typeface="Consolas"/>
              </a:rPr>
              <a:t>r = 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có phần tử ≥ X → trả về </a:t>
            </a:r>
            <a:r>
              <a:rPr sz="1800" b="1">
                <a:solidFill>
                  <a:srgbClr val="222B38"/>
                </a:solidFill>
                <a:latin typeface="Calibri"/>
              </a:rPr>
              <a:t>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4794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25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lower_bound(int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l = 0, r =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while(l &lt; r){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m = l + (r - l) /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if(a[m] &lt; x) l = m + 1; else r = 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Tự cài upper_bound()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bsearch Và Tự Cài lower_bound, upper_bound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Giống hệt </a:t>
            </a:r>
            <a:r>
              <a:rPr sz="1900" b="0">
                <a:solidFill>
                  <a:srgbClr val="3598DB"/>
                </a:solidFill>
                <a:latin typeface="Consolas"/>
              </a:rPr>
              <a:t>lower_bound</a:t>
            </a:r>
            <a:r>
              <a:rPr sz="2000" b="0">
                <a:solidFill>
                  <a:srgbClr val="222B38"/>
                </a:solidFill>
                <a:latin typeface="Calibri"/>
              </a:rPr>
              <a:t>, chỉ đổi </a:t>
            </a:r>
            <a:r>
              <a:rPr sz="1900" b="0">
                <a:solidFill>
                  <a:srgbClr val="3598DB"/>
                </a:solidFill>
                <a:latin typeface="Consolas"/>
              </a:rPr>
              <a:t>&lt;</a:t>
            </a:r>
            <a:r>
              <a:rPr sz="2000" b="0">
                <a:solidFill>
                  <a:srgbClr val="222B38"/>
                </a:solidFill>
                <a:latin typeface="Calibri"/>
              </a:rPr>
              <a:t> thành </a:t>
            </a:r>
            <a:r>
              <a:rPr sz="1900" b="0">
                <a:solidFill>
                  <a:srgbClr val="3598DB"/>
                </a:solidFill>
                <a:latin typeface="Consolas"/>
              </a:rPr>
              <a:t>&lt;=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Tìm chỉ số đầu tiên có giá trị </a:t>
            </a:r>
            <a:r>
              <a:rPr sz="2000" b="1">
                <a:solidFill>
                  <a:srgbClr val="222B38"/>
                </a:solidFill>
                <a:latin typeface="Calibri"/>
              </a:rPr>
              <a:t>&gt; X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upper_bound(int a[], int n, int x){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l = 0, r =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while(l &lt; r){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int m = l + (r - l) / 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if(a[m] &lt;= x) l = m + 1; else r = m;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với số cụ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bsearch Và Tự Cài lower_bound, upper_bound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a[10] = {1,2,3,5,5,5,8,9,14,21}, n =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lower_bound(a, n, 5);    // 3  (a[3] = 5, nho nhat &gt;= 5)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upper_bound(a, n, 5);    // 6  (a[6] = 8, nho nhat &gt; 5)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lower_bound(a, n, 22);   // 10 = n -&gt; khong tim thay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kiem tra vi tri &lt; n truoc khi truy cap a[vi_tri]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Đếm số lần xuất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bsearch Và Tự Cài lower_bound, upper_bound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Phần tử bằng X nằm liền nhau: đoạn </a:t>
            </a:r>
            <a:r>
              <a:rPr sz="1900" b="0">
                <a:solidFill>
                  <a:srgbClr val="3598DB"/>
                </a:solidFill>
                <a:latin typeface="Consolas"/>
              </a:rPr>
              <a:t>[lower_bound, upper_bound)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Số lần xuất hiện = </a:t>
            </a:r>
            <a:r>
              <a:rPr sz="1900" b="0">
                <a:solidFill>
                  <a:srgbClr val="3598DB"/>
                </a:solidFill>
                <a:latin typeface="Consolas"/>
              </a:rPr>
              <a:t>upper_bound - lower_bound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 không có → hai hàm trả </a:t>
            </a:r>
            <a:r>
              <a:rPr sz="2000" b="1">
                <a:solidFill>
                  <a:srgbClr val="222B38"/>
                </a:solidFill>
                <a:latin typeface="Calibri"/>
              </a:rPr>
              <a:t>cùng chỉ số</a:t>
            </a:r>
            <a:r>
              <a:rPr sz="2000" b="0">
                <a:solidFill>
                  <a:srgbClr val="222B38"/>
                </a:solidFill>
                <a:latin typeface="Calibri"/>
              </a:rPr>
              <a:t> = vị trí chèn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a = {1,2,3,5,5,5,8,9,14,21}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x=5: lb=3, ub=6 -&gt; 3 lan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x=8: lb=6, ub=7 -&gt; 1 lan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x=4: lb=3, ub=3 -&gt; 0 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bsearch Và Tự Cài lower_bound, upper_bound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Cả 3 hàm chỉ dùng đúng khi mảng đã </a:t>
            </a:r>
            <a:r>
              <a:rPr sz="1700" b="1">
                <a:solidFill>
                  <a:srgbClr val="222B38"/>
                </a:solidFill>
                <a:latin typeface="Calibri"/>
              </a:rPr>
              <a:t>sắp xếp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bsearch</a:t>
            </a:r>
            <a:r>
              <a:rPr sz="1700" b="0">
                <a:solidFill>
                  <a:srgbClr val="222B38"/>
                </a:solidFill>
                <a:latin typeface="Calibri"/>
              </a:rPr>
              <a:t>: trả con trỏ hoặc </a:t>
            </a:r>
            <a:r>
              <a:rPr sz="1614" b="0">
                <a:solidFill>
                  <a:srgbClr val="3598DB"/>
                </a:solidFill>
                <a:latin typeface="Consolas"/>
              </a:rPr>
              <a:t>NULL</a:t>
            </a:r>
            <a:r>
              <a:rPr sz="1700" b="0">
                <a:solidFill>
                  <a:srgbClr val="222B38"/>
                </a:solidFill>
                <a:latin typeface="Calibri"/>
              </a:rPr>
              <a:t>, truyền </a:t>
            </a:r>
            <a:r>
              <a:rPr sz="17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1700" b="0">
                <a:solidFill>
                  <a:srgbClr val="222B38"/>
                </a:solidFill>
                <a:latin typeface="Calibri"/>
              </a:rPr>
              <a:t> </a:t>
            </a:r>
            <a:r>
              <a:rPr sz="1614" b="0">
                <a:solidFill>
                  <a:srgbClr val="3598DB"/>
                </a:solidFill>
                <a:latin typeface="Consolas"/>
              </a:rPr>
              <a:t>&amp;X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lower_bound</a:t>
            </a:r>
            <a:r>
              <a:rPr sz="1700" b="0">
                <a:solidFill>
                  <a:srgbClr val="222B38"/>
                </a:solidFill>
                <a:latin typeface="Calibri"/>
              </a:rPr>
              <a:t>: chỉ số đầu tiên </a:t>
            </a:r>
            <a:r>
              <a:rPr sz="1700" b="1">
                <a:solidFill>
                  <a:srgbClr val="222B38"/>
                </a:solidFill>
                <a:latin typeface="Calibri"/>
              </a:rPr>
              <a:t>≥ X</a:t>
            </a:r>
            <a:r>
              <a:rPr sz="1700" b="0">
                <a:solidFill>
                  <a:srgbClr val="222B38"/>
                </a:solidFill>
                <a:latin typeface="Calibri"/>
              </a:rPr>
              <a:t>; </a:t>
            </a:r>
            <a:r>
              <a:rPr sz="1614" b="0">
                <a:solidFill>
                  <a:srgbClr val="3598DB"/>
                </a:solidFill>
                <a:latin typeface="Consolas"/>
              </a:rPr>
              <a:t>upper_bound</a:t>
            </a:r>
            <a:r>
              <a:rPr sz="1700" b="0">
                <a:solidFill>
                  <a:srgbClr val="222B38"/>
                </a:solidFill>
                <a:latin typeface="Calibri"/>
              </a:rPr>
              <a:t>: đầu tiên </a:t>
            </a:r>
            <a:r>
              <a:rPr sz="1700" b="1">
                <a:solidFill>
                  <a:srgbClr val="222B38"/>
                </a:solidFill>
                <a:latin typeface="Calibri"/>
              </a:rPr>
              <a:t>&gt; X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Không tìm thấy: hai hàm tự viết trả về </a:t>
            </a:r>
            <a:r>
              <a:rPr sz="1614" b="0">
                <a:solidFill>
                  <a:srgbClr val="3598DB"/>
                </a:solidFill>
                <a:latin typeface="Consolas"/>
              </a:rPr>
              <a:t>n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Hàm so sánh của </a:t>
            </a:r>
            <a:r>
              <a:rPr sz="1614" b="0">
                <a:solidFill>
                  <a:srgbClr val="3598DB"/>
                </a:solidFill>
                <a:latin typeface="Consolas"/>
              </a:rPr>
              <a:t>bsearch</a:t>
            </a:r>
            <a:r>
              <a:rPr sz="1700" b="0">
                <a:solidFill>
                  <a:srgbClr val="222B38"/>
                </a:solidFill>
                <a:latin typeface="Calibri"/>
              </a:rPr>
              <a:t> phải khớp thứ tự đã sắp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