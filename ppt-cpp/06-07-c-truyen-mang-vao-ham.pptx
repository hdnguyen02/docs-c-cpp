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Truyền Mảng Vào Hàm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truyền mảng vào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số: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a[]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kèm</a:t>
            </a:r>
            <a:r>
              <a:rPr sz="2000" b="0">
                <a:solidFill>
                  <a:srgbClr val="222B38"/>
                </a:solidFill>
                <a:latin typeface="Calibri"/>
              </a:rPr>
              <a:t> số phần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hàm chỉ ghi </a:t>
            </a:r>
            <a:r>
              <a:rPr sz="2000" b="1">
                <a:solidFill>
                  <a:srgbClr val="222B38"/>
                </a:solidFill>
                <a:latin typeface="Calibri"/>
              </a:rPr>
              <a:t>tên mảng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tong(a, 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Cùng 1 hàm dùng được cho mảng có độ dài bất kỳ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 s +=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a[5] = {10, 20, 30, 40, 50};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tong(a, 5));   // 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3 cách khai báo tham số tương đương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[]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tham số bị trình biên dịch </a:t>
            </a:r>
            <a:r>
              <a:rPr sz="2000" b="1">
                <a:solidFill>
                  <a:srgbClr val="222B38"/>
                </a:solidFill>
                <a:latin typeface="Calibri"/>
              </a:rPr>
              <a:t>bỏ qua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a[]</a:t>
            </a:r>
            <a:r>
              <a:rPr sz="2000" b="0">
                <a:solidFill>
                  <a:srgbClr val="222B38"/>
                </a:solidFill>
                <a:latin typeface="Calibri"/>
              </a:rPr>
              <a:t> kèm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cách viết rõ ràng nhất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a[], int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a[100], int n);   // 100 bi bo qua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*a, int n);       // dang con 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suy biến thành con trỏ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910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 truyền </a:t>
            </a:r>
            <a:r>
              <a:rPr sz="1800" b="1">
                <a:solidFill>
                  <a:srgbClr val="222B38"/>
                </a:solidFill>
                <a:latin typeface="Calibri"/>
              </a:rPr>
              <a:t>tham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: hàm sửa bản sao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Mảng: C chỉ truyền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địa chỉ phần tử đầu</a:t>
            </a:r>
            <a:r>
              <a:rPr sz="1800" b="0">
                <a:solidFill>
                  <a:srgbClr val="222B38"/>
                </a:solidFill>
                <a:latin typeface="Calibri"/>
              </a:rPr>
              <a:t> (array decay)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sửa mảng ⇒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 gốc thay đổi</a:t>
            </a:r>
            <a:r>
              <a:rPr sz="1800" b="0">
                <a:solidFill>
                  <a:srgbClr val="222B38"/>
                </a:solidFill>
                <a:latin typeface="Calibri"/>
              </a:rPr>
              <a:t> theo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In </a:t>
            </a:r>
            <a:r>
              <a:rPr sz="1709" b="0">
                <a:solidFill>
                  <a:srgbClr val="3598DB"/>
                </a:solidFill>
                <a:latin typeface="Consolas"/>
              </a:rPr>
              <a:t>%p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trong hàm: cùng một địa chỉ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479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2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doiBien(int x){ x = 100;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doiMang(int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 a[i] *=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 = 5, a[4] = {1, 2, 3, 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doiBien(x);      // x van la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doiMang(a, 4);   // a = 2 4 6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Truyền một phần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 + k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địa chỉ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a[k]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coi </a:t>
            </a:r>
            <a:r>
              <a:rPr sz="1900" b="0">
                <a:solidFill>
                  <a:srgbClr val="3598DB"/>
                </a:solidFill>
                <a:latin typeface="Consolas"/>
              </a:rPr>
              <a:t>a + k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 mảng mới bắt đầu từ </a:t>
            </a:r>
            <a:r>
              <a:rPr sz="1900" b="0">
                <a:solidFill>
                  <a:srgbClr val="3598DB"/>
                </a:solidFill>
                <a:latin typeface="Consolas"/>
              </a:rPr>
              <a:t>a[k]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65430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3616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tong(a + 1, 3);   // tong a[1], a[2], a[3]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Bẫy sizeof bên trong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Trong hàm, tham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a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phải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sizeof(a)</a:t>
            </a:r>
            <a:r>
              <a:rPr sz="1800" b="0">
                <a:solidFill>
                  <a:srgbClr val="222B38"/>
                </a:solidFill>
                <a:latin typeface="Calibri"/>
              </a:rPr>
              <a:t> = kích thước con trỏ (8 byte trên máy 64-bit)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gcc </a:t>
            </a:r>
            <a:r>
              <a:rPr sz="1709" b="0">
                <a:solidFill>
                  <a:srgbClr val="3598DB"/>
                </a:solidFill>
                <a:latin typeface="Consolas"/>
              </a:rPr>
              <a:t>-Wall</a:t>
            </a:r>
            <a:r>
              <a:rPr sz="1800" b="0">
                <a:solidFill>
                  <a:srgbClr val="222B38"/>
                </a:solidFill>
                <a:latin typeface="Calibri"/>
              </a:rPr>
              <a:t> cảnh báo </a:t>
            </a:r>
            <a:r>
              <a:rPr sz="1709" b="0">
                <a:solidFill>
                  <a:srgbClr val="3598DB"/>
                </a:solidFill>
                <a:latin typeface="Consolas"/>
              </a:rPr>
              <a:t>-Wsizeof-array-argument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tính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sizeof(a)/sizeof(a[0])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800" b="1">
                <a:solidFill>
                  <a:srgbClr val="222B38"/>
                </a:solidFill>
                <a:latin typeface="Calibri"/>
              </a:rPr>
              <a:t>ở nơi khai báo</a:t>
            </a:r>
            <a:r>
              <a:rPr sz="1800" b="0">
                <a:solidFill>
                  <a:srgbClr val="222B38"/>
                </a:solidFill>
                <a:latin typeface="Calibri"/>
              </a:rPr>
              <a:t> rồi truyền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kiemTra(int a[]){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printf("%zu\n", sizeof(a));   // 8  (SAI y do)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a[5] = {1, 2, 3, 4, 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sizeof(a));       // 20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sizeof(a) / sizeof(a[0]);  // 5 -&gt; truyen vao ham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Tham số const int a[]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chỉ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đọc</a:t>
            </a:r>
            <a:r>
              <a:rPr sz="2000" b="0">
                <a:solidFill>
                  <a:srgbClr val="222B38"/>
                </a:solidFill>
                <a:latin typeface="Calibri"/>
              </a:rPr>
              <a:t> mảng ⇒ khai báo </a:t>
            </a:r>
            <a:r>
              <a:rPr sz="1900" b="0">
                <a:solidFill>
                  <a:srgbClr val="3598DB"/>
                </a:solidFill>
                <a:latin typeface="Consolas"/>
              </a:rPr>
              <a:t>const int a[]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Lỡ gán </a:t>
            </a:r>
            <a:r>
              <a:rPr sz="1900" b="0">
                <a:solidFill>
                  <a:srgbClr val="3598DB"/>
                </a:solidFill>
                <a:latin typeface="Consolas"/>
              </a:rPr>
              <a:t>a[0] = 0;</a:t>
            </a:r>
            <a:r>
              <a:rPr sz="2000" b="0">
                <a:solidFill>
                  <a:srgbClr val="222B38"/>
                </a:solidFill>
                <a:latin typeface="Calibri"/>
              </a:rPr>
              <a:t> ⇒ </a:t>
            </a:r>
            <a:r>
              <a:rPr sz="2000" b="1">
                <a:solidFill>
                  <a:srgbClr val="222B38"/>
                </a:solidFill>
                <a:latin typeface="Calibri"/>
              </a:rPr>
              <a:t>lỗi biên dịch</a:t>
            </a:r>
            <a:r>
              <a:rPr sz="2000" b="0">
                <a:solidFill>
                  <a:srgbClr val="222B38"/>
                </a:solidFill>
                <a:latin typeface="Calibri"/>
              </a:rPr>
              <a:t> read-only location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cần sửa (nhập, sắp xếp, đảo) thì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a[]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timMax(const 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res = a[0];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&gt; res) res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nhập và xuất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nhập đổi cả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⇒ truyền con trỏ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*n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Trong hàm: </a:t>
            </a:r>
            <a:r>
              <a:rPr sz="1900" b="0">
                <a:solidFill>
                  <a:srgbClr val="3598DB"/>
                </a:solidFill>
                <a:latin typeface="Consolas"/>
              </a:rPr>
              <a:t>scanf("%d", n)</a:t>
            </a:r>
            <a:r>
              <a:rPr sz="2000" b="0">
                <a:solidFill>
                  <a:srgbClr val="222B38"/>
                </a:solidFill>
                <a:latin typeface="Calibri"/>
              </a:rPr>
              <a:t> không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giá trị qua </a:t>
            </a:r>
            <a:r>
              <a:rPr sz="1900" b="0">
                <a:solidFill>
                  <a:srgbClr val="3598DB"/>
                </a:solidFill>
                <a:latin typeface="Consolas"/>
              </a:rPr>
              <a:t>*n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xuất chỉ đọc: </a:t>
            </a:r>
            <a:r>
              <a:rPr sz="1900" b="0">
                <a:solidFill>
                  <a:srgbClr val="3598DB"/>
                </a:solidFill>
                <a:latin typeface="Consolas"/>
              </a:rPr>
              <a:t>const int a[]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49168"/>
            <a:ext cx="10765231" cy="310591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95472"/>
            <a:ext cx="10362895" cy="2813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void nhapMang(int a[], int *n){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scanf("%d",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for(int i = 0; i &lt; *n; i++) scanf("%d", &amp;a[i]);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void xuatMang(const 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for(int i = 0; i &lt; n; i++) printf("%d ", a[i]);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int a[1000],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nhapMang(a,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xuatMang(a, n);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không trả về được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hàm trả về một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Khai báo mảng kết quả ở nơi gọi, truyền vào để hàm ghi lên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binhPhuong(const int a[], int kq[],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 kq[i] = a[i] *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Truyền Mảng Vào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Truyền mảng = truyền </a:t>
            </a:r>
            <a:r>
              <a:rPr sz="17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700" b="0">
                <a:solidFill>
                  <a:srgbClr val="222B38"/>
                </a:solidFill>
                <a:latin typeface="Calibri"/>
              </a:rPr>
              <a:t>, hàm sửa trực tiếp mảng gốc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Luôn truyền kèm </a:t>
            </a:r>
            <a:r>
              <a:rPr sz="1614" b="0">
                <a:solidFill>
                  <a:srgbClr val="3598DB"/>
                </a:solidFill>
                <a:latin typeface="Consolas"/>
              </a:rPr>
              <a:t>n</a:t>
            </a:r>
            <a:r>
              <a:rPr sz="1700" b="0">
                <a:solidFill>
                  <a:srgbClr val="222B38"/>
                </a:solidFill>
                <a:latin typeface="Calibri"/>
              </a:rPr>
              <a:t>; </a:t>
            </a:r>
            <a:r>
              <a:rPr sz="17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700" b="0">
                <a:solidFill>
                  <a:srgbClr val="222B38"/>
                </a:solidFill>
                <a:latin typeface="Calibri"/>
              </a:rPr>
              <a:t>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sizeof</a:t>
            </a:r>
            <a:r>
              <a:rPr sz="1700" b="0">
                <a:solidFill>
                  <a:srgbClr val="222B38"/>
                </a:solidFill>
                <a:latin typeface="Calibri"/>
              </a:rPr>
              <a:t> với tham số mảng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Hàm chỉ đọc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const int a[]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Hàm cần đổi số phần tử nhận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 *n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Muốn "trả về" mảng: truyền mảng kết quả làm tham số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