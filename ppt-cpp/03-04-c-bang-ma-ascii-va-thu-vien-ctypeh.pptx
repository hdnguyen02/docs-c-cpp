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Bảng Mã ASCII Và Thư Viện ctype.h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Bảng mã ASCII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256 ký tự đánh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0 đến 255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chữ cái, chữ số, ký tự đặc biệt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 thực chất lưu một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nguyên</a:t>
            </a:r>
            <a:r>
              <a:rPr sz="2000" b="0">
                <a:solidFill>
                  <a:srgbClr val="222B38"/>
                </a:solidFill>
                <a:latin typeface="Calibri"/>
              </a:rPr>
              <a:t> (mã ASCII)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%c</a:t>
            </a:r>
            <a:r>
              <a:rPr sz="2000" b="0">
                <a:solidFill>
                  <a:srgbClr val="222B38"/>
                </a:solidFill>
                <a:latin typeface="Calibri"/>
              </a:rPr>
              <a:t> ra ký tự,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%d</a:t>
            </a:r>
            <a:r>
              <a:rPr sz="2000" b="0">
                <a:solidFill>
                  <a:srgbClr val="222B38"/>
                </a:solidFill>
                <a:latin typeface="Calibri"/>
              </a:rPr>
              <a:t> ra mã ASCII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mốc ASCII cần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Chỉ cần nhớ 3 mốc này là đủ dùng, không cần thuộc cả bảng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- z    : 97  -&gt; 122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- Z    : 65  -&gt; 90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'0'-'9'  : 48  -&gt; 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char trong phép toán số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tính toán,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tự động dùng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++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--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di chuyển sang ký tự liền trước/sau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kitu1 = 'A';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kitu1);         // 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kitu1;                   // n = 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kitu1 + 100);   // 165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++kitu1;                         // 'A' -&gt; 'B'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%c\n", kitu1, kitu1); // 66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Kiểm tra loại ký tự thủ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trực tiếp bằng ký tự hoặc bằng số ASCII đều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cái = nằm trong khoảng in hoa </a:t>
            </a:r>
            <a:r>
              <a:rPr sz="2000" b="1">
                <a:solidFill>
                  <a:srgbClr val="222B38"/>
                </a:solidFill>
                <a:latin typeface="Calibri"/>
              </a:rPr>
              <a:t>hoặc</a:t>
            </a:r>
            <a:r>
              <a:rPr sz="2000" b="0">
                <a:solidFill>
                  <a:srgbClr val="222B38"/>
                </a:solidFill>
                <a:latin typeface="Calibri"/>
              </a:rPr>
              <a:t> in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số nằm trong khoảng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'0'</a:t>
            </a:r>
            <a:r>
              <a:rPr sz="2000" b="0">
                <a:solidFill>
                  <a:srgbClr val="222B38"/>
                </a:solidFill>
                <a:latin typeface="Calibri"/>
              </a:rPr>
              <a:t> đến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'9'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'a' &amp;&amp; c &lt;= 'z')  // in thường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'A' &amp;&amp; c &lt;= 'Z')  // in hoa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if((c&gt;='A'&amp;&amp;c&lt;='Z') || (c&gt;='a'&amp;&amp;c&lt;='z'))  // chữ cái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if(c &gt;= '0' &amp;&amp; c &lt;= '9')  // chữ số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Chuyển đổi hoa - thường thủ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hoa cách in thường tương ứng đúng </a:t>
            </a:r>
            <a:r>
              <a:rPr sz="2000" b="1">
                <a:solidFill>
                  <a:srgbClr val="222B38"/>
                </a:solidFill>
                <a:latin typeface="Calibri"/>
              </a:rPr>
              <a:t>32</a:t>
            </a:r>
            <a:r>
              <a:rPr sz="2000" b="0">
                <a:solidFill>
                  <a:srgbClr val="222B38"/>
                </a:solidFill>
                <a:latin typeface="Calibri"/>
              </a:rPr>
              <a:t> đơn vị mã ASCII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Hoa </a:t>
            </a:r>
            <a:r>
              <a:rPr sz="2000" b="1">
                <a:solidFill>
                  <a:srgbClr val="222B38"/>
                </a:solidFill>
                <a:latin typeface="Calibri"/>
              </a:rPr>
              <a:t>→</a:t>
            </a:r>
            <a:r>
              <a:rPr sz="2000" b="0">
                <a:solidFill>
                  <a:srgbClr val="222B38"/>
                </a:solidFill>
                <a:latin typeface="Calibri"/>
              </a:rPr>
              <a:t> thường: cộng 32; thường </a:t>
            </a:r>
            <a:r>
              <a:rPr sz="2000" b="1">
                <a:solidFill>
                  <a:srgbClr val="222B38"/>
                </a:solidFill>
                <a:latin typeface="Calibri"/>
              </a:rPr>
              <a:t>→</a:t>
            </a:r>
            <a:r>
              <a:rPr sz="2000" b="0">
                <a:solidFill>
                  <a:srgbClr val="222B38"/>
                </a:solidFill>
                <a:latin typeface="Calibri"/>
              </a:rPr>
              <a:t> hoa: trừ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c = 'A';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 += 32;      // 'A' -&gt;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 = 'z';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kitu -= 32;   // 'z' -&gt; 'Z'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Thư viện &lt;ctype.h&gt;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 &lt;ctype.h&gt;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; hàm kiểm tra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0</a:t>
            </a:r>
            <a:r>
              <a:rPr sz="1800" b="0">
                <a:solidFill>
                  <a:srgbClr val="222B38"/>
                </a:solidFill>
                <a:latin typeface="Calibri"/>
              </a:rPr>
              <a:t> (true) / </a:t>
            </a:r>
            <a:r>
              <a:rPr sz="1709" b="0">
                <a:solidFill>
                  <a:srgbClr val="3598DB"/>
                </a:solidFill>
                <a:latin typeface="Consolas"/>
              </a:rPr>
              <a:t>0</a:t>
            </a:r>
            <a:r>
              <a:rPr sz="1800" b="0">
                <a:solidFill>
                  <a:srgbClr val="222B38"/>
                </a:solidFill>
                <a:latin typeface="Calibri"/>
              </a:rPr>
              <a:t> (false)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tolower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toupper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ký tự đã đổi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islower(c)   // c là chữ in thường?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isupper(c)   // c là chữ in hoa?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isalpha(c)   // c là chữ cái?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isdigit(c)   // c là chữ số?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isalnum(c)   // c là chữ số hoặc chữ cái?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tolower(c)   // -&gt; mã ASCII chữ thường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toupper(c)   // -&gt; mã ASCII chữ hoa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hàm có sẵn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&lt;ctype.h&gt;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if(isupper(c)) printf("YES\n"); else printf("NO\n");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if(islower(d)) printf("YES\n"); else printf("NO\n");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 = tolower(c);   // 'A' -&gt;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 = toupper(d);   // 'z' -&gt; 'Z'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printf("%c %c\n", c, d);   // a 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Bảng Mã ASCII Và Thư Viện ctype.h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char</a:t>
            </a:r>
            <a:r>
              <a:rPr sz="1700" b="0">
                <a:solidFill>
                  <a:srgbClr val="222B38"/>
                </a:solidFill>
                <a:latin typeface="Calibri"/>
              </a:rPr>
              <a:t> lưu số nguyên là mã ASCII; </a:t>
            </a:r>
            <a:r>
              <a:rPr sz="1614" b="0">
                <a:solidFill>
                  <a:srgbClr val="3598DB"/>
                </a:solidFill>
                <a:latin typeface="Consolas"/>
              </a:rPr>
              <a:t>%d</a:t>
            </a:r>
            <a:r>
              <a:rPr sz="1700" b="0">
                <a:solidFill>
                  <a:srgbClr val="222B38"/>
                </a:solidFill>
                <a:latin typeface="Calibri"/>
              </a:rPr>
              <a:t> in mã, </a:t>
            </a:r>
            <a:r>
              <a:rPr sz="1614" b="0">
                <a:solidFill>
                  <a:srgbClr val="3598DB"/>
                </a:solidFill>
                <a:latin typeface="Consolas"/>
              </a:rPr>
              <a:t>%c</a:t>
            </a:r>
            <a:r>
              <a:rPr sz="1700" b="0">
                <a:solidFill>
                  <a:srgbClr val="222B38"/>
                </a:solidFill>
                <a:latin typeface="Calibri"/>
              </a:rPr>
              <a:t> in ký tự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3 mốc cần nhớ: </a:t>
            </a:r>
            <a:r>
              <a:rPr sz="1614" b="0">
                <a:solidFill>
                  <a:srgbClr val="3598DB"/>
                </a:solidFill>
                <a:latin typeface="Consolas"/>
              </a:rPr>
              <a:t>a-z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A-Z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0-9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Hoa/thường lệch nhau đúng </a:t>
            </a:r>
            <a:r>
              <a:rPr sz="1700" b="1">
                <a:solidFill>
                  <a:srgbClr val="222B38"/>
                </a:solidFill>
                <a:latin typeface="Calibri"/>
              </a:rPr>
              <a:t>32</a:t>
            </a:r>
            <a:r>
              <a:rPr sz="1700" b="0">
                <a:solidFill>
                  <a:srgbClr val="222B38"/>
                </a:solidFill>
                <a:latin typeface="Calibri"/>
              </a:rPr>
              <a:t> đơn vị mã ASCII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ctype.h</a:t>
            </a:r>
            <a:r>
              <a:rPr sz="1700" b="0">
                <a:solidFill>
                  <a:srgbClr val="222B38"/>
                </a:solidFill>
                <a:latin typeface="Calibri"/>
              </a:rPr>
              <a:t> có sẵn hàm kiểm tra/chuyển đổi, nên hiểu bản chất trước khi dùng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Đừng viết </a:t>
            </a:r>
            <a:r>
              <a:rPr sz="1614" b="0">
                <a:solidFill>
                  <a:srgbClr val="3598DB"/>
                </a:solidFill>
                <a:latin typeface="Consolas"/>
              </a:rPr>
              <a:t>isupper(c) == 1</a:t>
            </a:r>
            <a:r>
              <a:rPr sz="1700" b="0">
                <a:solidFill>
                  <a:srgbClr val="222B38"/>
                </a:solidFill>
                <a:latin typeface="Calibri"/>
              </a:rPr>
              <a:t>, chỉ viết </a:t>
            </a:r>
            <a:r>
              <a:rPr sz="1614" b="0">
                <a:solidFill>
                  <a:srgbClr val="3598DB"/>
                </a:solidFill>
                <a:latin typeface="Consolas"/>
              </a:rPr>
              <a:t>if(isupper(c))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