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Mảng 2 Chiều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Cấu trúc phù hợp cho bài toán </a:t>
            </a:r>
            <a:r>
              <a:rPr sz="2000" b="1">
                <a:solidFill>
                  <a:srgbClr val="222B38"/>
                </a:solidFill>
                <a:latin typeface="Calibri"/>
              </a:rPr>
              <a:t>ma trận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2000" b="1">
                <a:solidFill>
                  <a:srgbClr val="222B38"/>
                </a:solidFill>
                <a:latin typeface="Calibri"/>
              </a:rPr>
              <a:t>bảng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Bản chất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của các mảng 1 chiều</a:t>
            </a:r>
            <a:r>
              <a:rPr sz="2000" b="0">
                <a:solidFill>
                  <a:srgbClr val="222B38"/>
                </a:solidFill>
                <a:latin typeface="Calibri"/>
              </a:rPr>
              <a:t> (hàng và cột)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hàng và cột đều đánh số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Data_type array_name[rows][cols];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Data_type: kieu du lieu phan tu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rows: so hang, cols: so cot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truy cập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Luôn truy cập theo thứ tự: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số hàng trước, chỉ số cột sau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khởi tạo giá trị ngay khi khai báo bằng danh sách lồng nhau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a[3][4]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{1, 2, 3, 1},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{4, 1, 5, 2},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{3, 7, 9, 0}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a[0][2]); //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a[1][3]); //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Lưu ý chỉ số hàng/cột hợp lệ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truy cập chỉ số hàng/cột </a:t>
            </a:r>
            <a:r>
              <a:rPr sz="2000" b="1">
                <a:solidFill>
                  <a:srgbClr val="222B38"/>
                </a:solidFill>
                <a:latin typeface="Calibri"/>
              </a:rPr>
              <a:t>ngoài phạm vi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chỉ số từ 1 vẫn được, miễn mảng khai báo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đủ lớn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biết rõ quy ước chỉ số để khai báo kích thước mảng phù hợp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Nhập/xuất bằng 2 vòng lặp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ngoài</a:t>
            </a:r>
            <a:r>
              <a:rPr sz="2000" b="0">
                <a:solidFill>
                  <a:srgbClr val="222B38"/>
                </a:solidFill>
                <a:latin typeface="Calibri"/>
              </a:rPr>
              <a:t> duyệt qua hàng, 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trong</a:t>
            </a:r>
            <a:r>
              <a:rPr sz="2000" b="0">
                <a:solidFill>
                  <a:srgbClr val="222B38"/>
                </a:solidFill>
                <a:latin typeface="Calibri"/>
              </a:rPr>
              <a:t> duyệt qua cột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1: khai báo mảng kích thước cố định đủ lớn (vd 205x205)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2: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a[n][m]</a:t>
            </a:r>
            <a:r>
              <a:rPr sz="2000" b="0">
                <a:solidFill>
                  <a:srgbClr val="222B38"/>
                </a:solidFill>
                <a:latin typeface="Calibri"/>
              </a:rPr>
              <a:t> theo số nhập vào (</a:t>
            </a:r>
            <a:r>
              <a:rPr sz="2000" b="1">
                <a:solidFill>
                  <a:srgbClr val="222B38"/>
                </a:solidFill>
                <a:latin typeface="Calibri"/>
              </a:rPr>
              <a:t>VLA</a:t>
            </a:r>
            <a:r>
              <a:rPr sz="2000" b="0">
                <a:solidFill>
                  <a:srgbClr val="222B38"/>
                </a:solidFill>
                <a:latin typeface="Calibri"/>
              </a:rPr>
              <a:t>, từ C99)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int n,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scanf("%d %d", &amp;n, &amp;m);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int a[205][205];  // hoac int a[n][m]; (VLA)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    scanf("%d", &amp;a[i][j]);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for (int j = 0; j &lt; m; j++) printf("%d ", a[i][j]);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printf("\n");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Mảng 2 chiều làm tham số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381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khai báo tham số hàm, </a:t>
            </a:r>
            <a:r>
              <a:rPr sz="2000" b="1">
                <a:solidFill>
                  <a:srgbClr val="222B38"/>
                </a:solidFill>
                <a:latin typeface="Calibri"/>
              </a:rPr>
              <a:t>bắt buộc chỉ định số cột</a:t>
            </a:r>
            <a:r>
              <a:rPr sz="2000" b="0">
                <a:solidFill>
                  <a:srgbClr val="222B38"/>
                </a:solidFill>
                <a:latin typeface="Calibri"/>
              </a:rPr>
              <a:t> (vd </a:t>
            </a:r>
            <a:r>
              <a:rPr sz="1900" b="0">
                <a:solidFill>
                  <a:srgbClr val="3598DB"/>
                </a:solidFill>
                <a:latin typeface="Consolas"/>
              </a:rPr>
              <a:t>a[][205]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Đối số truyền vào khi gọi hàm phải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cột khớp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tham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8577"/>
            <a:ext cx="10765231" cy="3611879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4881"/>
            <a:ext cx="10362895" cy="33192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nhap(int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    scanf("%d", &amp;a[i][j]);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xuat(int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for (int i = 0;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for (int j = 0; j &lt; m; j++) printf("%d ", a[i][j]);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    printf("\n");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đếm số nguyên tố trong mảng 2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Viết hàm kiểm tra nguyên tố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nt()</a:t>
            </a:r>
            <a:r>
              <a:rPr sz="2000" b="0">
                <a:solidFill>
                  <a:srgbClr val="222B38"/>
                </a:solidFill>
                <a:latin typeface="Calibri"/>
              </a:rPr>
              <a:t> riêng, tái dùng cho từng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&lt;stdbool.h&gt;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sqrt</a:t>
            </a:r>
            <a:r>
              <a:rPr sz="20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&lt;math.h&gt;</a:t>
            </a:r>
            <a:r>
              <a:rPr sz="2000" b="0">
                <a:solidFill>
                  <a:srgbClr val="222B38"/>
                </a:solidFill>
                <a:latin typeface="Calibri"/>
              </a:rPr>
              <a:t> (biên dịch 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-lm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36088"/>
            <a:ext cx="10765231" cy="36189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2392"/>
            <a:ext cx="10362895" cy="3326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bool nt(int 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for (int i = 2; i &lt;= sqrt(n);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if (n % i == 0)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return n &gt;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int dem(int a[][205], int n, int m)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int ans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for (int i = 0; i &lt;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for (int j = 0; j &lt; m;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        if (nt(a[i][j])) ++ans;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return ans;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Mảng 2 Chiều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2 chiều = mảng các mảng 1 chiều, chỉ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hàng trước, cột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Nhập/xuất/xử lý đều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2 vòng lặp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mảng 2 chiều vào hàm phải khai báo rõ </a:t>
            </a:r>
            <a:r>
              <a:rPr sz="1800" b="1">
                <a:solidFill>
                  <a:srgbClr val="222B38"/>
                </a:solidFill>
                <a:latin typeface="Calibri"/>
              </a:rPr>
              <a:t>số cột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Khai báo kích thước mảng đủ lớn để tránh truy cập ngoài phạm 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